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charts/chart2.xml" ContentType="application/vnd.openxmlformats-officedocument.drawingml.chart+xml"/>
  <Override PartName="/ppt/theme/themeOverride1.xml" ContentType="application/vnd.openxmlformats-officedocument.themeOverr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13.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tags/tag7.xml" ContentType="application/vnd.openxmlformats-officedocument.presentationml.tags+xml"/>
  <Override PartName="/ppt/notesSlides/notesSlide14.xml" ContentType="application/vnd.openxmlformats-officedocument.presentationml.notesSlide+xml"/>
  <Override PartName="/ppt/charts/chart6.xml" ContentType="application/vnd.openxmlformats-officedocument.drawingml.chart+xml"/>
  <Override PartName="/ppt/theme/themeOverride4.xml" ContentType="application/vnd.openxmlformats-officedocument.themeOverride+xml"/>
  <Override PartName="/ppt/notesSlides/notesSlide15.xml" ContentType="application/vnd.openxmlformats-officedocument.presentationml.notesSl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5.xml" ContentType="application/vnd.openxmlformats-officedocument.themeOverride+xml"/>
  <Override PartName="/ppt/tags/tag8.xml" ContentType="application/vnd.openxmlformats-officedocument.presentationml.tags+xml"/>
  <Override PartName="/ppt/notesSlides/notesSlide16.xml" ContentType="application/vnd.openxmlformats-officedocument.presentationml.notesSlid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6.xml" ContentType="application/vnd.openxmlformats-officedocument.themeOverride+xml"/>
  <Override PartName="/ppt/tags/tag9.xml" ContentType="application/vnd.openxmlformats-officedocument.presentationml.tags+xml"/>
  <Override PartName="/ppt/notesSlides/notesSlide17.xml" ContentType="application/vnd.openxmlformats-officedocument.presentationml.notesSlide+xml"/>
  <Override PartName="/ppt/charts/chart9.xml" ContentType="application/vnd.openxmlformats-officedocument.drawingml.chart+xml"/>
  <Override PartName="/ppt/theme/themeOverride7.xml" ContentType="application/vnd.openxmlformats-officedocument.themeOverride+xml"/>
  <Override PartName="/ppt/tags/tag10.xml" ContentType="application/vnd.openxmlformats-officedocument.presentationml.tags+xml"/>
  <Override PartName="/ppt/notesSlides/notesSlide18.xml" ContentType="application/vnd.openxmlformats-officedocument.presentationml.notesSlide+xml"/>
  <Override PartName="/ppt/charts/chart10.xml" ContentType="application/vnd.openxmlformats-officedocument.drawingml.chart+xml"/>
  <Override PartName="/ppt/theme/themeOverride8.xml" ContentType="application/vnd.openxmlformats-officedocument.themeOverride+xml"/>
  <Override PartName="/ppt/tags/tag11.xml" ContentType="application/vnd.openxmlformats-officedocument.presentationml.tags+xml"/>
  <Override PartName="/ppt/notesSlides/notesSlide19.xml" ContentType="application/vnd.openxmlformats-officedocument.presentationml.notesSlide+xml"/>
  <Override PartName="/ppt/charts/chart11.xml" ContentType="application/vnd.openxmlformats-officedocument.drawingml.chart+xml"/>
  <Override PartName="/ppt/charts/style5.xml" ContentType="application/vnd.ms-office.chartstyle+xml"/>
  <Override PartName="/ppt/charts/colors5.xml" ContentType="application/vnd.ms-office.chartcolorstyle+xml"/>
  <Override PartName="/ppt/tags/tag12.xml" ContentType="application/vnd.openxmlformats-officedocument.presentationml.tags+xml"/>
  <Override PartName="/ppt/notesSlides/notesSlide20.xml" ContentType="application/vnd.openxmlformats-officedocument.presentationml.notesSlide+xml"/>
  <Override PartName="/ppt/charts/chart12.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9.xml" ContentType="application/vnd.openxmlformats-officedocument.themeOverride+xml"/>
  <Override PartName="/ppt/tags/tag13.xml" ContentType="application/vnd.openxmlformats-officedocument.presentationml.tags+xml"/>
  <Override PartName="/ppt/notesSlides/notesSlide21.xml" ContentType="application/vnd.openxmlformats-officedocument.presentationml.notesSlide+xml"/>
  <Override PartName="/ppt/charts/chart13.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10.xml" ContentType="application/vnd.openxmlformats-officedocument.themeOverride+xml"/>
  <Override PartName="/ppt/tags/tag14.xml" ContentType="application/vnd.openxmlformats-officedocument.presentationml.tags+xml"/>
  <Override PartName="/ppt/notesSlides/notesSlide22.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1.xml" ContentType="application/vnd.openxmlformats-officedocument.themeOverride+xml"/>
  <Override PartName="/ppt/notesSlides/notesSlide23.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2.xml" ContentType="application/vnd.openxmlformats-officedocument.themeOverride+xml"/>
  <Override PartName="/ppt/notesSlides/notesSlide24.xml" ContentType="application/vnd.openxmlformats-officedocument.presentationml.notesSlide+xml"/>
  <Override PartName="/ppt/charts/chart16.xml" ContentType="application/vnd.openxmlformats-officedocument.drawingml.chart+xml"/>
  <Override PartName="/ppt/theme/themeOverride13.xml" ContentType="application/vnd.openxmlformats-officedocument.themeOverride+xml"/>
  <Override PartName="/ppt/notesSlides/notesSlide25.xml" ContentType="application/vnd.openxmlformats-officedocument.presentationml.notesSlide+xml"/>
  <Override PartName="/ppt/charts/chart17.xml" ContentType="application/vnd.openxmlformats-officedocument.drawingml.chart+xml"/>
  <Override PartName="/ppt/theme/themeOverride14.xml" ContentType="application/vnd.openxmlformats-officedocument.themeOverride+xml"/>
  <Override PartName="/ppt/notesSlides/notesSlide26.xml" ContentType="application/vnd.openxmlformats-officedocument.presentationml.notesSlide+xml"/>
  <Override PartName="/ppt/charts/chart18.xml" ContentType="application/vnd.openxmlformats-officedocument.drawingml.chart+xml"/>
  <Override PartName="/ppt/theme/themeOverride15.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7"/>
  </p:notesMasterIdLst>
  <p:sldIdLst>
    <p:sldId id="256" r:id="rId5"/>
    <p:sldId id="267" r:id="rId6"/>
    <p:sldId id="268" r:id="rId7"/>
    <p:sldId id="305" r:id="rId8"/>
    <p:sldId id="321" r:id="rId9"/>
    <p:sldId id="322" r:id="rId10"/>
    <p:sldId id="325" r:id="rId11"/>
    <p:sldId id="323" r:id="rId12"/>
    <p:sldId id="279" r:id="rId13"/>
    <p:sldId id="327" r:id="rId14"/>
    <p:sldId id="309" r:id="rId15"/>
    <p:sldId id="308" r:id="rId16"/>
    <p:sldId id="318" r:id="rId17"/>
    <p:sldId id="328" r:id="rId18"/>
    <p:sldId id="310" r:id="rId19"/>
    <p:sldId id="292" r:id="rId20"/>
    <p:sldId id="311" r:id="rId21"/>
    <p:sldId id="295" r:id="rId22"/>
    <p:sldId id="266" r:id="rId23"/>
    <p:sldId id="312" r:id="rId24"/>
    <p:sldId id="270" r:id="rId25"/>
    <p:sldId id="272" r:id="rId26"/>
    <p:sldId id="316" r:id="rId27"/>
    <p:sldId id="317" r:id="rId28"/>
    <p:sldId id="313" r:id="rId29"/>
    <p:sldId id="282" r:id="rId30"/>
    <p:sldId id="283" r:id="rId31"/>
    <p:sldId id="287" r:id="rId32"/>
    <p:sldId id="289" r:id="rId33"/>
    <p:sldId id="290" r:id="rId34"/>
    <p:sldId id="329" r:id="rId35"/>
    <p:sldId id="277" r:id="rId36"/>
  </p:sldIdLst>
  <p:sldSz cx="9144000" cy="5143500" type="screen16x9"/>
  <p:notesSz cx="6858000" cy="9144000"/>
  <p:embeddedFontLst>
    <p:embeddedFont>
      <p:font typeface="Arial Black" panose="020B0A04020102020204" pitchFamily="34" charset="0"/>
      <p:bold r:id="rId38"/>
    </p:embeddedFont>
    <p:embeddedFont>
      <p:font typeface="Calibri" panose="020F0502020204030204" pitchFamily="34" charset="0"/>
      <p:regular r:id="rId39"/>
      <p:bold r:id="rId40"/>
      <p:italic r:id="rId41"/>
      <p:boldItalic r:id="rId42"/>
    </p:embeddedFont>
  </p:embeddedFontLst>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611D"/>
    <a:srgbClr val="C1870C"/>
    <a:srgbClr val="3F3151"/>
    <a:srgbClr val="9B4D0A"/>
    <a:srgbClr val="FCE8D8"/>
    <a:srgbClr val="E1EFC9"/>
    <a:srgbClr val="C88A5C"/>
    <a:srgbClr val="5952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C5837C-2B13-4750-861C-9471ECC577D8}">
  <a:tblStyle styleId="{ECC5837C-2B13-4750-861C-9471ECC577D8}" styleName="Table_0">
    <a:wholeTbl>
      <a:tcTxStyle b="off" i="off">
        <a:font>
          <a:latin typeface="Calibri"/>
          <a:ea typeface="Calibri"/>
          <a:cs typeface="Calibri"/>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12700" cap="flat" cmpd="sng">
              <a:solidFill>
                <a:schemeClr val="accent6"/>
              </a:solidFill>
              <a:prstDash val="solid"/>
              <a:round/>
              <a:headEnd type="none" w="sm" len="sm"/>
              <a:tailEnd type="none" w="sm" len="sm"/>
            </a:ln>
          </a:insideV>
        </a:tcBdr>
        <a:fill>
          <a:solidFill>
            <a:srgbClr val="FDEEE8"/>
          </a:solidFill>
        </a:fill>
      </a:tcStyle>
    </a:wholeTbl>
    <a:band1H>
      <a:tcTxStyle/>
      <a:tcStyle>
        <a:tcBdr/>
        <a:fill>
          <a:solidFill>
            <a:srgbClr val="FCDCCE"/>
          </a:solidFill>
        </a:fill>
      </a:tcStyle>
    </a:band1H>
    <a:band2H>
      <a:tcTxStyle/>
      <a:tcStyle>
        <a:tcBdr/>
      </a:tcStyle>
    </a:band2H>
    <a:band1V>
      <a:tcTxStyle/>
      <a:tcStyle>
        <a:tcBdr/>
        <a:fill>
          <a:solidFill>
            <a:srgbClr val="FCDCCE"/>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6"/>
              </a:solidFill>
              <a:prstDash val="solid"/>
              <a:round/>
              <a:headEnd type="none" w="sm" len="sm"/>
              <a:tailEnd type="none" w="sm" len="sm"/>
            </a:ln>
          </a:top>
        </a:tcBdr>
        <a:fill>
          <a:solidFill>
            <a:srgbClr val="FDEEE8"/>
          </a:solidFill>
        </a:fill>
      </a:tcStyle>
    </a:lastRow>
    <a:seCell>
      <a:tcTxStyle/>
      <a:tcStyle>
        <a:tcBdr/>
      </a:tcStyle>
    </a:seCell>
    <a:swCell>
      <a:tcTxStyle/>
      <a:tcStyle>
        <a:tcBdr/>
      </a:tcStyle>
    </a:swCell>
    <a:firstRow>
      <a:tcTxStyle b="on" i="off"/>
      <a:tcStyle>
        <a:tcBdr/>
        <a:fill>
          <a:solidFill>
            <a:srgbClr val="FDEEE8"/>
          </a:solidFill>
        </a:fill>
      </a:tcStyle>
    </a:firstRow>
    <a:neCell>
      <a:tcTxStyle/>
      <a:tcStyle>
        <a:tcBdr/>
      </a:tcStyle>
    </a:neCell>
    <a:nwCell>
      <a:tcTxStyle/>
      <a:tcStyle>
        <a:tcBdr/>
      </a:tcStyle>
    </a:nwCell>
  </a:tblStyle>
  <a:tblStyle styleId="{3C3AD599-BD06-4DC6-A637-B449D26691F4}"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22" autoAdjust="0"/>
  </p:normalViewPr>
  <p:slideViewPr>
    <p:cSldViewPr snapToGrid="0">
      <p:cViewPr varScale="1">
        <p:scale>
          <a:sx n="139" d="100"/>
          <a:sy n="139" d="100"/>
        </p:scale>
        <p:origin x="804"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4.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1" Type="http://schemas.openxmlformats.org/officeDocument/2006/relationships/oleObject" Target="file:///F:\GRAFICOS%20CAN%20PARA%20PUBLICACI&#211;N_19.06.2023.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4.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6.xlsx"/></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7.xlsx"/><Relationship Id="rId1" Type="http://schemas.openxmlformats.org/officeDocument/2006/relationships/themeOverride" Target="../theme/themeOverride7.xml"/></Relationships>
</file>

<file path=ppt/charts/_rels/chart10.xml.rels><?xml version="1.0" encoding="UTF-8" standalone="yes"?>
<Relationships xmlns="http://schemas.openxmlformats.org/package/2006/relationships"><Relationship Id="rId2" Type="http://schemas.openxmlformats.org/officeDocument/2006/relationships/package" Target="../embeddings/Microsoft_Excel_Worksheet8.xlsx"/><Relationship Id="rId1" Type="http://schemas.openxmlformats.org/officeDocument/2006/relationships/themeOverride" Target="../theme/themeOverride8.xml"/></Relationships>
</file>

<file path=ppt/charts/_rels/chart11.xml.rels><?xml version="1.0" encoding="UTF-8" standalone="yes"?>
<Relationships xmlns="http://schemas.openxmlformats.org/package/2006/relationships"><Relationship Id="rId3" Type="http://schemas.openxmlformats.org/officeDocument/2006/relationships/oleObject" Target="file:///G:\GRAFICOS%20CAN%20PARA%20PUBLICACI&#211;N_19.06.2023.xlsx" TargetMode="External"/><Relationship Id="rId2" Type="http://schemas.microsoft.com/office/2011/relationships/chartColorStyle" Target="colors5.xml"/><Relationship Id="rId1" Type="http://schemas.microsoft.com/office/2011/relationships/chartStyle" Target="style5.xm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9.xlsx"/></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10.xlsx"/></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11.xlsx"/></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12.xlsx"/></Relationships>
</file>

<file path=ppt/charts/_rels/chart16.xml.rels><?xml version="1.0" encoding="UTF-8" standalone="yes"?>
<Relationships xmlns="http://schemas.openxmlformats.org/package/2006/relationships"><Relationship Id="rId2" Type="http://schemas.openxmlformats.org/officeDocument/2006/relationships/package" Target="../embeddings/Microsoft_Excel_Worksheet13.xlsx"/><Relationship Id="rId1" Type="http://schemas.openxmlformats.org/officeDocument/2006/relationships/themeOverride" Target="../theme/themeOverride13.xml"/></Relationships>
</file>

<file path=ppt/charts/_rels/chart17.xml.rels><?xml version="1.0" encoding="UTF-8" standalone="yes"?>
<Relationships xmlns="http://schemas.openxmlformats.org/package/2006/relationships"><Relationship Id="rId2" Type="http://schemas.openxmlformats.org/officeDocument/2006/relationships/package" Target="../embeddings/Microsoft_Excel_Worksheet14.xlsx"/><Relationship Id="rId1" Type="http://schemas.openxmlformats.org/officeDocument/2006/relationships/themeOverride" Target="../theme/themeOverride14.xml"/></Relationships>
</file>

<file path=ppt/charts/_rels/chart18.xml.rels><?xml version="1.0" encoding="UTF-8" standalone="yes"?>
<Relationships xmlns="http://schemas.openxmlformats.org/package/2006/relationships"><Relationship Id="rId2" Type="http://schemas.openxmlformats.org/officeDocument/2006/relationships/package" Target="../embeddings/Microsoft_Excel_Worksheet15.xlsx"/><Relationship Id="rId1" Type="http://schemas.openxmlformats.org/officeDocument/2006/relationships/themeOverride" Target="../theme/themeOverrid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304929829805482E-2"/>
          <c:y val="5.128205128205128E-2"/>
          <c:w val="0.89625319567263684"/>
          <c:h val="0.89743589743589747"/>
        </c:manualLayout>
      </c:layout>
      <c:barChart>
        <c:barDir val="bar"/>
        <c:grouping val="clustered"/>
        <c:varyColors val="0"/>
        <c:ser>
          <c:idx val="0"/>
          <c:order val="0"/>
          <c:tx>
            <c:strRef>
              <c:f>Hoja1!$B$1</c:f>
              <c:strCache>
                <c:ptCount val="1"/>
                <c:pt idx="0">
                  <c:v>Columna1</c:v>
                </c:pt>
              </c:strCache>
            </c:strRef>
          </c:tx>
          <c:spPr>
            <a:solidFill>
              <a:srgbClr val="9B4D0A"/>
            </a:solidFill>
            <a:ln>
              <a:noFill/>
            </a:ln>
            <a:effectLst/>
          </c:spPr>
          <c:invertIfNegative val="0"/>
          <c:cat>
            <c:strRef>
              <c:f>Hoja1!$A$2:$A$10</c:f>
              <c:strCache>
                <c:ptCount val="4"/>
                <c:pt idx="0">
                  <c:v>Categoría 1</c:v>
                </c:pt>
                <c:pt idx="1">
                  <c:v>Categoría 2</c:v>
                </c:pt>
                <c:pt idx="2">
                  <c:v>Categoría 3</c:v>
                </c:pt>
                <c:pt idx="3">
                  <c:v>Categoría 4</c:v>
                </c:pt>
              </c:strCache>
            </c:strRef>
          </c:cat>
          <c:val>
            <c:numRef>
              <c:f>Hoja1!$B$2:$B$10</c:f>
              <c:numCache>
                <c:formatCode>General</c:formatCode>
                <c:ptCount val="9"/>
                <c:pt idx="0">
                  <c:v>12322</c:v>
                </c:pt>
                <c:pt idx="1">
                  <c:v>4923</c:v>
                </c:pt>
                <c:pt idx="2">
                  <c:v>864</c:v>
                </c:pt>
                <c:pt idx="3">
                  <c:v>52303</c:v>
                </c:pt>
                <c:pt idx="4">
                  <c:v>661</c:v>
                </c:pt>
                <c:pt idx="5">
                  <c:v>46611</c:v>
                </c:pt>
                <c:pt idx="6">
                  <c:v>524</c:v>
                </c:pt>
                <c:pt idx="7">
                  <c:v>45769</c:v>
                </c:pt>
                <c:pt idx="8">
                  <c:v>291497</c:v>
                </c:pt>
              </c:numCache>
            </c:numRef>
          </c:val>
          <c:extLst>
            <c:ext xmlns:c16="http://schemas.microsoft.com/office/drawing/2014/chart" uri="{C3380CC4-5D6E-409C-BE32-E72D297353CC}">
              <c16:uniqueId val="{00000000-93C4-4303-8D38-F27890295164}"/>
            </c:ext>
          </c:extLst>
        </c:ser>
        <c:dLbls>
          <c:showLegendKey val="0"/>
          <c:showVal val="0"/>
          <c:showCatName val="0"/>
          <c:showSerName val="0"/>
          <c:showPercent val="0"/>
          <c:showBubbleSize val="0"/>
        </c:dLbls>
        <c:gapWidth val="17"/>
        <c:overlap val="100"/>
        <c:axId val="166396672"/>
        <c:axId val="166929536"/>
      </c:barChart>
      <c:catAx>
        <c:axId val="166396672"/>
        <c:scaling>
          <c:orientation val="minMax"/>
        </c:scaling>
        <c:delete val="1"/>
        <c:axPos val="l"/>
        <c:numFmt formatCode="General" sourceLinked="1"/>
        <c:majorTickMark val="none"/>
        <c:minorTickMark val="none"/>
        <c:tickLblPos val="nextTo"/>
        <c:crossAx val="166929536"/>
        <c:crosses val="autoZero"/>
        <c:auto val="1"/>
        <c:lblAlgn val="ctr"/>
        <c:lblOffset val="100"/>
        <c:noMultiLvlLbl val="0"/>
      </c:catAx>
      <c:valAx>
        <c:axId val="166929536"/>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66396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PY"/>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673953599640045"/>
          <c:y val="3.4517070241869313E-2"/>
          <c:w val="0.79298765275371308"/>
          <c:h val="0.77211053496361737"/>
        </c:manualLayout>
      </c:layout>
      <c:barChart>
        <c:barDir val="col"/>
        <c:grouping val="clustered"/>
        <c:varyColors val="0"/>
        <c:ser>
          <c:idx val="0"/>
          <c:order val="0"/>
          <c:tx>
            <c:strRef>
              <c:f>'G1 -G2'!$C$2:$C$3</c:f>
              <c:strCache>
                <c:ptCount val="1"/>
                <c:pt idx="0">
                  <c:v>CAN 2008</c:v>
                </c:pt>
              </c:strCache>
            </c:strRef>
          </c:tx>
          <c:spPr>
            <a:solidFill>
              <a:srgbClr val="CC9900"/>
            </a:solidFill>
            <a:ln>
              <a:noFill/>
            </a:ln>
            <a:effectLst/>
          </c:spPr>
          <c:invertIfNegative val="0"/>
          <c:dLbls>
            <c:dLbl>
              <c:idx val="1"/>
              <c:layout>
                <c:manualLayout>
                  <c:x val="0"/>
                  <c:y val="1.93281269142645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2F-42D8-8318-40F52830BFFF}"/>
                </c:ext>
              </c:extLst>
            </c:dLbl>
            <c:spPr>
              <a:noFill/>
              <a:ln>
                <a:noFill/>
              </a:ln>
              <a:effectLst/>
            </c:spPr>
            <c:txPr>
              <a:bodyPr rot="-5400000" vert="horz" wrap="square" lIns="38100" tIns="19050" rIns="38100" bIns="19050" anchor="ctr">
                <a:spAutoFit/>
              </a:bodyPr>
              <a:lstStyle/>
              <a:p>
                <a:pPr>
                  <a:defRPr sz="700"/>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'G1 -G2'!$B$4:$B$15</c:f>
              <c:strCache>
                <c:ptCount val="12"/>
                <c:pt idx="0">
                  <c:v>Menos de 1 ha.</c:v>
                </c:pt>
                <c:pt idx="1">
                  <c:v>De  1 a menos de 5 ha.</c:v>
                </c:pt>
                <c:pt idx="2">
                  <c:v>De 5 a menos de  10 ha.</c:v>
                </c:pt>
                <c:pt idx="3">
                  <c:v>De 10 a menos de 20 ha.</c:v>
                </c:pt>
                <c:pt idx="4">
                  <c:v>De 20 a menos de  50 ha.</c:v>
                </c:pt>
                <c:pt idx="5">
                  <c:v>De 50 a menos de     100 ha.</c:v>
                </c:pt>
                <c:pt idx="6">
                  <c:v>De   100 a menos de   200 ha.</c:v>
                </c:pt>
                <c:pt idx="7">
                  <c:v>De 200 a menos de      500 ha.</c:v>
                </c:pt>
                <c:pt idx="8">
                  <c:v>De  500 a menos de   1.000 ha.</c:v>
                </c:pt>
                <c:pt idx="9">
                  <c:v>De   1.000 a menos de   5.000 ha.</c:v>
                </c:pt>
                <c:pt idx="10">
                  <c:v>De   5.000 a menos de 10.000 ha.</c:v>
                </c:pt>
                <c:pt idx="11">
                  <c:v>De 10.000 y más ha.</c:v>
                </c:pt>
              </c:strCache>
            </c:strRef>
          </c:cat>
          <c:val>
            <c:numRef>
              <c:f>'G1 -G2'!$C$4:$C$15</c:f>
              <c:numCache>
                <c:formatCode>#,##0</c:formatCode>
                <c:ptCount val="12"/>
                <c:pt idx="0">
                  <c:v>16360</c:v>
                </c:pt>
                <c:pt idx="1">
                  <c:v>101643</c:v>
                </c:pt>
                <c:pt idx="2">
                  <c:v>66218</c:v>
                </c:pt>
                <c:pt idx="3">
                  <c:v>57735</c:v>
                </c:pt>
                <c:pt idx="4">
                  <c:v>22865</c:v>
                </c:pt>
                <c:pt idx="5">
                  <c:v>6879</c:v>
                </c:pt>
                <c:pt idx="6">
                  <c:v>5234</c:v>
                </c:pt>
                <c:pt idx="7">
                  <c:v>5251</c:v>
                </c:pt>
                <c:pt idx="8">
                  <c:v>2737</c:v>
                </c:pt>
                <c:pt idx="9">
                  <c:v>3443</c:v>
                </c:pt>
                <c:pt idx="10">
                  <c:v>684</c:v>
                </c:pt>
                <c:pt idx="11">
                  <c:v>600</c:v>
                </c:pt>
              </c:numCache>
            </c:numRef>
          </c:val>
          <c:extLst>
            <c:ext xmlns:c16="http://schemas.microsoft.com/office/drawing/2014/chart" uri="{C3380CC4-5D6E-409C-BE32-E72D297353CC}">
              <c16:uniqueId val="{00000000-E2C9-468F-B66D-2F2D2D9EBF0C}"/>
            </c:ext>
          </c:extLst>
        </c:ser>
        <c:ser>
          <c:idx val="1"/>
          <c:order val="1"/>
          <c:tx>
            <c:strRef>
              <c:f>'G1 -G2'!$D$2:$D$3</c:f>
              <c:strCache>
                <c:ptCount val="1"/>
                <c:pt idx="0">
                  <c:v>CAN 2022</c:v>
                </c:pt>
              </c:strCache>
            </c:strRef>
          </c:tx>
          <c:spPr>
            <a:solidFill>
              <a:schemeClr val="accent3">
                <a:lumMod val="50000"/>
              </a:schemeClr>
            </a:solidFill>
            <a:ln>
              <a:noFill/>
            </a:ln>
            <a:effectLst/>
          </c:spPr>
          <c:invertIfNegative val="0"/>
          <c:dLbls>
            <c:spPr>
              <a:noFill/>
              <a:ln>
                <a:noFill/>
              </a:ln>
              <a:effectLst/>
            </c:spPr>
            <c:txPr>
              <a:bodyPr rot="-5400000" vert="horz" wrap="square" lIns="38100" tIns="19050" rIns="38100" bIns="19050" anchor="ctr">
                <a:spAutoFit/>
              </a:bodyPr>
              <a:lstStyle/>
              <a:p>
                <a:pPr>
                  <a:defRPr sz="700"/>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'G1 -G2'!$B$4:$B$15</c:f>
              <c:strCache>
                <c:ptCount val="12"/>
                <c:pt idx="0">
                  <c:v>Menos de 1 ha.</c:v>
                </c:pt>
                <c:pt idx="1">
                  <c:v>De  1 a menos de 5 ha.</c:v>
                </c:pt>
                <c:pt idx="2">
                  <c:v>De 5 a menos de  10 ha.</c:v>
                </c:pt>
                <c:pt idx="3">
                  <c:v>De 10 a menos de 20 ha.</c:v>
                </c:pt>
                <c:pt idx="4">
                  <c:v>De 20 a menos de  50 ha.</c:v>
                </c:pt>
                <c:pt idx="5">
                  <c:v>De 50 a menos de     100 ha.</c:v>
                </c:pt>
                <c:pt idx="6">
                  <c:v>De   100 a menos de   200 ha.</c:v>
                </c:pt>
                <c:pt idx="7">
                  <c:v>De 200 a menos de      500 ha.</c:v>
                </c:pt>
                <c:pt idx="8">
                  <c:v>De  500 a menos de   1.000 ha.</c:v>
                </c:pt>
                <c:pt idx="9">
                  <c:v>De   1.000 a menos de   5.000 ha.</c:v>
                </c:pt>
                <c:pt idx="10">
                  <c:v>De   5.000 a menos de 10.000 ha.</c:v>
                </c:pt>
                <c:pt idx="11">
                  <c:v>De 10.000 y más ha.</c:v>
                </c:pt>
              </c:strCache>
            </c:strRef>
          </c:cat>
          <c:val>
            <c:numRef>
              <c:f>'G1 -G2'!$D$4:$D$15</c:f>
              <c:numCache>
                <c:formatCode>#,##0</c:formatCode>
                <c:ptCount val="12"/>
                <c:pt idx="0">
                  <c:v>25300</c:v>
                </c:pt>
                <c:pt idx="1">
                  <c:v>96509</c:v>
                </c:pt>
                <c:pt idx="2">
                  <c:v>65363</c:v>
                </c:pt>
                <c:pt idx="3">
                  <c:v>52040</c:v>
                </c:pt>
                <c:pt idx="4">
                  <c:v>24963</c:v>
                </c:pt>
                <c:pt idx="5">
                  <c:v>8651</c:v>
                </c:pt>
                <c:pt idx="6">
                  <c:v>5743</c:v>
                </c:pt>
                <c:pt idx="7">
                  <c:v>5626</c:v>
                </c:pt>
                <c:pt idx="8">
                  <c:v>2778</c:v>
                </c:pt>
                <c:pt idx="9">
                  <c:v>3262</c:v>
                </c:pt>
                <c:pt idx="10">
                  <c:v>645</c:v>
                </c:pt>
                <c:pt idx="11">
                  <c:v>617</c:v>
                </c:pt>
              </c:numCache>
            </c:numRef>
          </c:val>
          <c:extLst>
            <c:ext xmlns:c16="http://schemas.microsoft.com/office/drawing/2014/chart" uri="{C3380CC4-5D6E-409C-BE32-E72D297353CC}">
              <c16:uniqueId val="{00000001-E2C9-468F-B66D-2F2D2D9EBF0C}"/>
            </c:ext>
          </c:extLst>
        </c:ser>
        <c:dLbls>
          <c:showLegendKey val="0"/>
          <c:showVal val="0"/>
          <c:showCatName val="0"/>
          <c:showSerName val="0"/>
          <c:showPercent val="0"/>
          <c:showBubbleSize val="0"/>
        </c:dLbls>
        <c:gapWidth val="100"/>
        <c:overlap val="-10"/>
        <c:axId val="263700480"/>
        <c:axId val="263702400"/>
      </c:barChart>
      <c:catAx>
        <c:axId val="263700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s-PY"/>
          </a:p>
        </c:txPr>
        <c:crossAx val="263702400"/>
        <c:crosses val="autoZero"/>
        <c:auto val="1"/>
        <c:lblAlgn val="ctr"/>
        <c:lblOffset val="100"/>
        <c:noMultiLvlLbl val="0"/>
      </c:catAx>
      <c:valAx>
        <c:axId val="2637024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s-PY">
                    <a:solidFill>
                      <a:schemeClr val="tx1"/>
                    </a:solidFill>
                  </a:rPr>
                  <a:t>Cantidad</a:t>
                </a:r>
                <a:r>
                  <a:rPr lang="es-PY" baseline="0">
                    <a:solidFill>
                      <a:schemeClr val="tx1"/>
                    </a:solidFill>
                  </a:rPr>
                  <a:t> de Fincas</a:t>
                </a:r>
                <a:endParaRPr lang="es-PY">
                  <a:solidFill>
                    <a:schemeClr val="tx1"/>
                  </a:solidFill>
                </a:endParaRPr>
              </a:p>
            </c:rich>
          </c:tx>
          <c:layout>
            <c:manualLayout>
              <c:xMode val="edge"/>
              <c:yMode val="edge"/>
              <c:x val="3.7936971639134791E-3"/>
              <c:y val="0.28295346088440831"/>
            </c:manualLayout>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PY"/>
          </a:p>
        </c:txPr>
        <c:crossAx val="2637004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'G1 -G2'!$G$2:$G$3</c:f>
              <c:strCache>
                <c:ptCount val="1"/>
                <c:pt idx="0">
                  <c:v>CAN 2008</c:v>
                </c:pt>
              </c:strCache>
            </c:strRef>
          </c:tx>
          <c:spPr>
            <a:solidFill>
              <a:srgbClr val="CC9900"/>
            </a:solidFill>
            <a:ln>
              <a:noFill/>
            </a:ln>
            <a:effectLst/>
          </c:spPr>
          <c:invertIfNegative val="0"/>
          <c:dLbls>
            <c:dLbl>
              <c:idx val="10"/>
              <c:layout>
                <c:manualLayout>
                  <c:x val="1.4791062843847451E-3"/>
                  <c:y val="0.1556486643333741"/>
                </c:manualLayout>
              </c:layout>
              <c:spPr>
                <a:noFill/>
                <a:ln>
                  <a:noFill/>
                </a:ln>
                <a:effectLst/>
              </c:spPr>
              <c:txPr>
                <a:bodyPr rot="-5400000" vert="horz" wrap="square" lIns="38100" tIns="19050" rIns="38100" bIns="19050" anchor="ctr">
                  <a:spAutoFit/>
                </a:bodyPr>
                <a:lstStyle/>
                <a:p>
                  <a:pPr>
                    <a:defRPr sz="900">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934-41C9-A072-CA27D201D115}"/>
                </c:ext>
              </c:extLst>
            </c:dLbl>
            <c:dLbl>
              <c:idx val="11"/>
              <c:layout>
                <c:manualLayout>
                  <c:x val="-1.4791062843848538E-3"/>
                  <c:y val="0.10953054156792993"/>
                </c:manualLayout>
              </c:layout>
              <c:spPr>
                <a:noFill/>
                <a:ln>
                  <a:noFill/>
                </a:ln>
                <a:effectLst/>
              </c:spPr>
              <c:txPr>
                <a:bodyPr rot="-5400000" vert="horz" wrap="square" lIns="38100" tIns="19050" rIns="38100" bIns="19050" anchor="ctr">
                  <a:spAutoFit/>
                </a:bodyPr>
                <a:lstStyle/>
                <a:p>
                  <a:pPr>
                    <a:defRPr sz="900">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934-41C9-A072-CA27D201D115}"/>
                </c:ext>
              </c:extLst>
            </c:dLbl>
            <c:spPr>
              <a:noFill/>
              <a:ln>
                <a:noFill/>
              </a:ln>
              <a:effectLst/>
            </c:spPr>
            <c:txPr>
              <a:bodyPr rot="-5400000" vert="horz" wrap="square" lIns="38100" tIns="19050" rIns="38100" bIns="19050" anchor="ctr">
                <a:spAutoFit/>
              </a:bodyPr>
              <a:lstStyle/>
              <a:p>
                <a:pPr>
                  <a:defRPr sz="900"/>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'G1 -G2'!$B$4:$B$15</c:f>
              <c:strCache>
                <c:ptCount val="12"/>
                <c:pt idx="0">
                  <c:v>Menos de 1 ha.</c:v>
                </c:pt>
                <c:pt idx="1">
                  <c:v>De  1 a menos de 5 ha.</c:v>
                </c:pt>
                <c:pt idx="2">
                  <c:v>De 5 a menos de  10 ha.</c:v>
                </c:pt>
                <c:pt idx="3">
                  <c:v>De 10 a menos de 20 ha.</c:v>
                </c:pt>
                <c:pt idx="4">
                  <c:v>De 20 a menos de  50 ha.</c:v>
                </c:pt>
                <c:pt idx="5">
                  <c:v>De 50 a menos de     100 ha.</c:v>
                </c:pt>
                <c:pt idx="6">
                  <c:v>De   100 a menos de   200 ha.</c:v>
                </c:pt>
                <c:pt idx="7">
                  <c:v>De 200 a menos de      500 ha.</c:v>
                </c:pt>
                <c:pt idx="8">
                  <c:v>De  500 a menos de   1.000 ha.</c:v>
                </c:pt>
                <c:pt idx="9">
                  <c:v>De   1.000 a menos de   5.000 ha.</c:v>
                </c:pt>
                <c:pt idx="10">
                  <c:v>De   5.000 a menos de 10.000 ha.</c:v>
                </c:pt>
                <c:pt idx="11">
                  <c:v>De 10.000 y más ha.</c:v>
                </c:pt>
              </c:strCache>
            </c:strRef>
          </c:cat>
          <c:val>
            <c:numRef>
              <c:f>'G1 -G2'!$G$4:$G$15</c:f>
              <c:numCache>
                <c:formatCode>#,##0</c:formatCode>
                <c:ptCount val="12"/>
                <c:pt idx="0">
                  <c:v>6894.3900000000422</c:v>
                </c:pt>
                <c:pt idx="1">
                  <c:v>231118.44999999975</c:v>
                </c:pt>
                <c:pt idx="2">
                  <c:v>416702.17999999679</c:v>
                </c:pt>
                <c:pt idx="3">
                  <c:v>685380.78999999329</c:v>
                </c:pt>
                <c:pt idx="4">
                  <c:v>619985.77999999817</c:v>
                </c:pt>
                <c:pt idx="5">
                  <c:v>459555.47999999893</c:v>
                </c:pt>
                <c:pt idx="6">
                  <c:v>699256.75999999815</c:v>
                </c:pt>
                <c:pt idx="7">
                  <c:v>1600537.4000000057</c:v>
                </c:pt>
                <c:pt idx="8">
                  <c:v>1810118.899999998</c:v>
                </c:pt>
                <c:pt idx="9">
                  <c:v>7200531.0699999891</c:v>
                </c:pt>
                <c:pt idx="10">
                  <c:v>4702034.0300000012</c:v>
                </c:pt>
                <c:pt idx="11">
                  <c:v>12654779.26</c:v>
                </c:pt>
              </c:numCache>
            </c:numRef>
          </c:val>
          <c:extLst>
            <c:ext xmlns:c16="http://schemas.microsoft.com/office/drawing/2014/chart" uri="{C3380CC4-5D6E-409C-BE32-E72D297353CC}">
              <c16:uniqueId val="{00000000-E71E-4307-ABF5-C76B6FD65FCC}"/>
            </c:ext>
          </c:extLst>
        </c:ser>
        <c:ser>
          <c:idx val="1"/>
          <c:order val="1"/>
          <c:tx>
            <c:strRef>
              <c:f>'G1 -G2'!$H$2:$H$3</c:f>
              <c:strCache>
                <c:ptCount val="1"/>
                <c:pt idx="0">
                  <c:v>CAN 2022</c:v>
                </c:pt>
              </c:strCache>
            </c:strRef>
          </c:tx>
          <c:spPr>
            <a:solidFill>
              <a:schemeClr val="accent3">
                <a:lumMod val="50000"/>
              </a:schemeClr>
            </a:solidFill>
            <a:ln>
              <a:noFill/>
            </a:ln>
            <a:effectLst/>
          </c:spPr>
          <c:invertIfNegative val="0"/>
          <c:dLbls>
            <c:dLbl>
              <c:idx val="10"/>
              <c:layout>
                <c:manualLayout>
                  <c:x val="2.9582125687697075E-3"/>
                  <c:y val="0.14411913364201306"/>
                </c:manualLayout>
              </c:layout>
              <c:spPr>
                <a:noFill/>
                <a:ln>
                  <a:noFill/>
                </a:ln>
                <a:effectLst/>
              </c:spPr>
              <c:txPr>
                <a:bodyPr rot="-5400000" vert="horz" wrap="square" lIns="38100" tIns="19050" rIns="38100" bIns="19050" anchor="ctr">
                  <a:spAutoFit/>
                </a:bodyPr>
                <a:lstStyle/>
                <a:p>
                  <a:pPr>
                    <a:defRPr sz="900">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934-41C9-A072-CA27D201D115}"/>
                </c:ext>
              </c:extLst>
            </c:dLbl>
            <c:dLbl>
              <c:idx val="11"/>
              <c:layout>
                <c:manualLayout>
                  <c:x val="-2.958212568769816E-3"/>
                  <c:y val="0.14411913364201306"/>
                </c:manualLayout>
              </c:layout>
              <c:spPr>
                <a:noFill/>
                <a:ln>
                  <a:noFill/>
                </a:ln>
                <a:effectLst/>
              </c:spPr>
              <c:txPr>
                <a:bodyPr rot="-5400000" vert="horz" wrap="square" lIns="38100" tIns="19050" rIns="38100" bIns="19050" anchor="ctr">
                  <a:spAutoFit/>
                </a:bodyPr>
                <a:lstStyle/>
                <a:p>
                  <a:pPr>
                    <a:defRPr sz="900">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934-41C9-A072-CA27D201D115}"/>
                </c:ext>
              </c:extLst>
            </c:dLbl>
            <c:spPr>
              <a:noFill/>
              <a:ln>
                <a:noFill/>
              </a:ln>
              <a:effectLst/>
            </c:spPr>
            <c:txPr>
              <a:bodyPr rot="-5400000" vert="horz" wrap="square" lIns="38100" tIns="19050" rIns="38100" bIns="19050" anchor="ctr">
                <a:spAutoFit/>
              </a:bodyPr>
              <a:lstStyle/>
              <a:p>
                <a:pPr>
                  <a:defRPr sz="900"/>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'G1 -G2'!$B$4:$B$15</c:f>
              <c:strCache>
                <c:ptCount val="12"/>
                <c:pt idx="0">
                  <c:v>Menos de 1 ha.</c:v>
                </c:pt>
                <c:pt idx="1">
                  <c:v>De  1 a menos de 5 ha.</c:v>
                </c:pt>
                <c:pt idx="2">
                  <c:v>De 5 a menos de  10 ha.</c:v>
                </c:pt>
                <c:pt idx="3">
                  <c:v>De 10 a menos de 20 ha.</c:v>
                </c:pt>
                <c:pt idx="4">
                  <c:v>De 20 a menos de  50 ha.</c:v>
                </c:pt>
                <c:pt idx="5">
                  <c:v>De 50 a menos de     100 ha.</c:v>
                </c:pt>
                <c:pt idx="6">
                  <c:v>De   100 a menos de   200 ha.</c:v>
                </c:pt>
                <c:pt idx="7">
                  <c:v>De 200 a menos de      500 ha.</c:v>
                </c:pt>
                <c:pt idx="8">
                  <c:v>De  500 a menos de   1.000 ha.</c:v>
                </c:pt>
                <c:pt idx="9">
                  <c:v>De   1.000 a menos de   5.000 ha.</c:v>
                </c:pt>
                <c:pt idx="10">
                  <c:v>De   5.000 a menos de 10.000 ha.</c:v>
                </c:pt>
                <c:pt idx="11">
                  <c:v>De 10.000 y más ha.</c:v>
                </c:pt>
              </c:strCache>
            </c:strRef>
          </c:cat>
          <c:val>
            <c:numRef>
              <c:f>'G1 -G2'!$H$4:$H$15</c:f>
              <c:numCache>
                <c:formatCode>#,##0</c:formatCode>
                <c:ptCount val="12"/>
                <c:pt idx="0">
                  <c:v>9339.8164000000088</c:v>
                </c:pt>
                <c:pt idx="1">
                  <c:v>220390.66400000002</c:v>
                </c:pt>
                <c:pt idx="2">
                  <c:v>409005.91749999562</c:v>
                </c:pt>
                <c:pt idx="3">
                  <c:v>629740.60999999882</c:v>
                </c:pt>
                <c:pt idx="4">
                  <c:v>703476.27100000111</c:v>
                </c:pt>
                <c:pt idx="5">
                  <c:v>582333.22200000228</c:v>
                </c:pt>
                <c:pt idx="6">
                  <c:v>768532.85499999602</c:v>
                </c:pt>
                <c:pt idx="7">
                  <c:v>1731226.2679999974</c:v>
                </c:pt>
                <c:pt idx="8">
                  <c:v>1883788.4099999981</c:v>
                </c:pt>
                <c:pt idx="9">
                  <c:v>7004289.3360000113</c:v>
                </c:pt>
                <c:pt idx="10">
                  <c:v>4398556.1700000018</c:v>
                </c:pt>
                <c:pt idx="11">
                  <c:v>12060980.913000017</c:v>
                </c:pt>
              </c:numCache>
            </c:numRef>
          </c:val>
          <c:extLst>
            <c:ext xmlns:c16="http://schemas.microsoft.com/office/drawing/2014/chart" uri="{C3380CC4-5D6E-409C-BE32-E72D297353CC}">
              <c16:uniqueId val="{00000001-E71E-4307-ABF5-C76B6FD65FCC}"/>
            </c:ext>
          </c:extLst>
        </c:ser>
        <c:dLbls>
          <c:showLegendKey val="0"/>
          <c:showVal val="0"/>
          <c:showCatName val="0"/>
          <c:showSerName val="0"/>
          <c:showPercent val="0"/>
          <c:showBubbleSize val="0"/>
        </c:dLbls>
        <c:gapWidth val="100"/>
        <c:overlap val="-10"/>
        <c:axId val="143419264"/>
        <c:axId val="143668352"/>
      </c:barChart>
      <c:lineChart>
        <c:grouping val="standard"/>
        <c:varyColors val="0"/>
        <c:ser>
          <c:idx val="3"/>
          <c:order val="2"/>
          <c:tx>
            <c:strRef>
              <c:f>'G1 -G2'!$J$2:$J$3</c:f>
              <c:strCache>
                <c:ptCount val="1"/>
                <c:pt idx="0">
                  <c:v>Var(%) 2022 Vs.2008</c:v>
                </c:pt>
              </c:strCache>
            </c:strRef>
          </c:tx>
          <c:spPr>
            <a:ln w="28575" cap="rnd">
              <a:solidFill>
                <a:schemeClr val="accent6">
                  <a:lumMod val="50000"/>
                </a:schemeClr>
              </a:solidFill>
              <a:prstDash val="dash"/>
              <a:round/>
            </a:ln>
            <a:effectLst/>
          </c:spPr>
          <c:marker>
            <c:symbol val="circle"/>
            <c:size val="6"/>
            <c:spPr>
              <a:solidFill>
                <a:srgbClr val="FFC000"/>
              </a:solidFill>
              <a:ln w="9525">
                <a:solidFill>
                  <a:schemeClr val="accent6">
                    <a:lumMod val="50000"/>
                  </a:schemeClr>
                </a:solidFill>
                <a:prstDash val="dash"/>
              </a:ln>
              <a:effectLst/>
            </c:spPr>
          </c:marker>
          <c:dLbls>
            <c:dLbl>
              <c:idx val="1"/>
              <c:layout>
                <c:manualLayout>
                  <c:x val="-1.9205801152371336E-2"/>
                  <c:y val="2.21219229002463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B7-4644-80B9-D50426EE1463}"/>
                </c:ext>
              </c:extLst>
            </c:dLbl>
            <c:dLbl>
              <c:idx val="2"/>
              <c:layout>
                <c:manualLayout>
                  <c:x val="-1.9205801152371336E-2"/>
                  <c:y val="3.4763021700386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B7-4644-80B9-D50426EE1463}"/>
                </c:ext>
              </c:extLst>
            </c:dLbl>
            <c:dLbl>
              <c:idx val="3"/>
              <c:layout>
                <c:manualLayout>
                  <c:x val="-4.4321079582395392E-3"/>
                  <c:y val="2.21219229002463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B7-4644-80B9-D50426EE1463}"/>
                </c:ext>
              </c:extLst>
            </c:dLbl>
            <c:dLbl>
              <c:idx val="4"/>
              <c:layout>
                <c:manualLayout>
                  <c:x val="-2.5115278430024052E-2"/>
                  <c:y val="-2.84424723003166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B7-4644-80B9-D50426EE1463}"/>
                </c:ext>
              </c:extLst>
            </c:dLbl>
            <c:dLbl>
              <c:idx val="5"/>
              <c:layout>
                <c:manualLayout>
                  <c:x val="2.9547386388263592E-3"/>
                  <c:y val="-1.89616482002110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7B7-4644-80B9-D50426EE1463}"/>
                </c:ext>
              </c:extLst>
            </c:dLbl>
            <c:dLbl>
              <c:idx val="6"/>
              <c:layout>
                <c:manualLayout>
                  <c:x val="-4.4321079582396467E-3"/>
                  <c:y val="-3.16027470003518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B7-4644-80B9-D50426EE1463}"/>
                </c:ext>
              </c:extLst>
            </c:dLbl>
            <c:dLbl>
              <c:idx val="7"/>
              <c:layout>
                <c:manualLayout>
                  <c:x val="-1.9205801152371443E-2"/>
                  <c:y val="-3.47630217003870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7B7-4644-80B9-D50426EE1463}"/>
                </c:ext>
              </c:extLst>
            </c:dLbl>
            <c:dLbl>
              <c:idx val="8"/>
              <c:layout>
                <c:manualLayout>
                  <c:x val="-8.8642159164790783E-3"/>
                  <c:y val="-4.10835711004574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B7-4644-80B9-D50426EE1463}"/>
                </c:ext>
              </c:extLst>
            </c:dLbl>
            <c:dLbl>
              <c:idx val="9"/>
              <c:layout>
                <c:manualLayout>
                  <c:x val="-5.7617403457114004E-2"/>
                  <c:y val="3.79232964004221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7B7-4644-80B9-D50426EE1463}"/>
                </c:ext>
              </c:extLst>
            </c:dLbl>
            <c:dLbl>
              <c:idx val="10"/>
              <c:layout>
                <c:manualLayout>
                  <c:x val="-2.6592647749437343E-2"/>
                  <c:y val="2.84424723003166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7B7-4644-80B9-D50426EE1463}"/>
                </c:ext>
              </c:extLst>
            </c:dLbl>
            <c:dLbl>
              <c:idx val="11"/>
              <c:layout>
                <c:manualLayout>
                  <c:x val="-3.2502125027090059E-2"/>
                  <c:y val="4.42438458004926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7B7-4644-80B9-D50426EE1463}"/>
                </c:ext>
              </c:extLst>
            </c:dLbl>
            <c:spPr>
              <a:noFill/>
              <a:ln>
                <a:noFill/>
              </a:ln>
              <a:effectLst/>
            </c:spPr>
            <c:txPr>
              <a:bodyPr wrap="square" lIns="38100" tIns="19050" rIns="38100" bIns="19050" anchor="ctr">
                <a:spAutoFit/>
              </a:bodyPr>
              <a:lstStyle/>
              <a:p>
                <a:pPr>
                  <a:defRPr b="1"/>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'G1 -G2'!$B$4:$B$15</c:f>
              <c:strCache>
                <c:ptCount val="12"/>
                <c:pt idx="0">
                  <c:v>Menos de 1 ha.</c:v>
                </c:pt>
                <c:pt idx="1">
                  <c:v>De  1 a menos de 5 ha.</c:v>
                </c:pt>
                <c:pt idx="2">
                  <c:v>De 5 a menos de  10 ha.</c:v>
                </c:pt>
                <c:pt idx="3">
                  <c:v>De 10 a menos de 20 ha.</c:v>
                </c:pt>
                <c:pt idx="4">
                  <c:v>De 20 a menos de  50 ha.</c:v>
                </c:pt>
                <c:pt idx="5">
                  <c:v>De 50 a menos de     100 ha.</c:v>
                </c:pt>
                <c:pt idx="6">
                  <c:v>De   100 a menos de   200 ha.</c:v>
                </c:pt>
                <c:pt idx="7">
                  <c:v>De 200 a menos de      500 ha.</c:v>
                </c:pt>
                <c:pt idx="8">
                  <c:v>De  500 a menos de   1.000 ha.</c:v>
                </c:pt>
                <c:pt idx="9">
                  <c:v>De   1.000 a menos de   5.000 ha.</c:v>
                </c:pt>
                <c:pt idx="10">
                  <c:v>De   5.000 a menos de 10.000 ha.</c:v>
                </c:pt>
                <c:pt idx="11">
                  <c:v>De 10.000 y más ha.</c:v>
                </c:pt>
              </c:strCache>
            </c:strRef>
          </c:cat>
          <c:val>
            <c:numRef>
              <c:f>'G1 -G2'!$J$4:$J$15</c:f>
              <c:numCache>
                <c:formatCode>0.0</c:formatCode>
                <c:ptCount val="12"/>
                <c:pt idx="0">
                  <c:v>35.469800809062903</c:v>
                </c:pt>
                <c:pt idx="1">
                  <c:v>-4.6416830850153863</c:v>
                </c:pt>
                <c:pt idx="2">
                  <c:v>-1.846945581134525</c:v>
                </c:pt>
                <c:pt idx="3">
                  <c:v>-8.1181411577051943</c:v>
                </c:pt>
                <c:pt idx="4">
                  <c:v>13.466517086892413</c:v>
                </c:pt>
                <c:pt idx="5">
                  <c:v>26.716631036584232</c:v>
                </c:pt>
                <c:pt idx="6">
                  <c:v>9.9071040800518055</c:v>
                </c:pt>
                <c:pt idx="7">
                  <c:v>8.1653117259235035</c:v>
                </c:pt>
                <c:pt idx="8">
                  <c:v>4.069871321712629</c:v>
                </c:pt>
                <c:pt idx="9">
                  <c:v>-2.725378615718939</c:v>
                </c:pt>
                <c:pt idx="10">
                  <c:v>-6.4541825529918455</c:v>
                </c:pt>
                <c:pt idx="11">
                  <c:v>-4.6922853002809504</c:v>
                </c:pt>
              </c:numCache>
            </c:numRef>
          </c:val>
          <c:smooth val="0"/>
          <c:extLst>
            <c:ext xmlns:c16="http://schemas.microsoft.com/office/drawing/2014/chart" uri="{C3380CC4-5D6E-409C-BE32-E72D297353CC}">
              <c16:uniqueId val="{00000000-67E8-4486-B23C-2BDA703DD135}"/>
            </c:ext>
          </c:extLst>
        </c:ser>
        <c:dLbls>
          <c:showLegendKey val="0"/>
          <c:showVal val="0"/>
          <c:showCatName val="0"/>
          <c:showSerName val="0"/>
          <c:showPercent val="0"/>
          <c:showBubbleSize val="0"/>
        </c:dLbls>
        <c:marker val="1"/>
        <c:smooth val="0"/>
        <c:axId val="146514304"/>
        <c:axId val="143670656"/>
      </c:lineChart>
      <c:catAx>
        <c:axId val="143419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3668352"/>
        <c:crosses val="autoZero"/>
        <c:auto val="1"/>
        <c:lblAlgn val="ctr"/>
        <c:lblOffset val="100"/>
        <c:noMultiLvlLbl val="0"/>
      </c:catAx>
      <c:valAx>
        <c:axId val="143668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s-PY">
                    <a:solidFill>
                      <a:schemeClr val="tx1"/>
                    </a:solidFill>
                  </a:rPr>
                  <a:t>Superficie (ha).</a:t>
                </a:r>
              </a:p>
            </c:rich>
          </c:tx>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3419264"/>
        <c:crosses val="autoZero"/>
        <c:crossBetween val="between"/>
      </c:valAx>
      <c:valAx>
        <c:axId val="143670656"/>
        <c:scaling>
          <c:orientation val="minMax"/>
          <c:max val="100"/>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s-PY">
                    <a:solidFill>
                      <a:schemeClr val="tx1"/>
                    </a:solidFill>
                  </a:rPr>
                  <a:t>Var(%)</a:t>
                </a:r>
              </a:p>
            </c:rich>
          </c:tx>
          <c:overlay val="0"/>
          <c:spPr>
            <a:noFill/>
            <a:ln>
              <a:noFill/>
            </a:ln>
            <a:effectLst/>
          </c:sp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6514304"/>
        <c:crosses val="max"/>
        <c:crossBetween val="between"/>
        <c:majorUnit val="100"/>
      </c:valAx>
      <c:catAx>
        <c:axId val="146514304"/>
        <c:scaling>
          <c:orientation val="minMax"/>
        </c:scaling>
        <c:delete val="1"/>
        <c:axPos val="b"/>
        <c:numFmt formatCode="General" sourceLinked="1"/>
        <c:majorTickMark val="out"/>
        <c:minorTickMark val="none"/>
        <c:tickLblPos val="nextTo"/>
        <c:crossAx val="143670656"/>
        <c:crossesAt val="0"/>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2380679871573456"/>
          <c:y val="0.13525377229080932"/>
          <c:w val="0.77843532535326931"/>
          <c:h val="0.65159674957568336"/>
        </c:manualLayout>
      </c:layout>
      <c:barChart>
        <c:barDir val="col"/>
        <c:grouping val="clustered"/>
        <c:varyColors val="0"/>
        <c:ser>
          <c:idx val="0"/>
          <c:order val="0"/>
          <c:tx>
            <c:strRef>
              <c:f>'G3 -G4'!$D$32</c:f>
              <c:strCache>
                <c:ptCount val="1"/>
                <c:pt idx="0">
                  <c:v>CAN 2008</c:v>
                </c:pt>
              </c:strCache>
            </c:strRef>
          </c:tx>
          <c:spPr>
            <a:solidFill>
              <a:srgbClr val="CC9900"/>
            </a:solidFill>
            <a:ln>
              <a:noFill/>
            </a:ln>
            <a:effectLst/>
          </c:spPr>
          <c:invertIfNegative val="0"/>
          <c:dLbls>
            <c:dLbl>
              <c:idx val="0"/>
              <c:layout>
                <c:manualLayout>
                  <c:x val="-3.266278828220549E-17"/>
                  <c:y val="0.1565114286905455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DA3-478E-9737-22E2568DBDDA}"/>
                </c:ext>
              </c:extLst>
            </c:dLbl>
            <c:dLbl>
              <c:idx val="1"/>
              <c:layout>
                <c:manualLayout>
                  <c:x val="-5.3448816445401844E-3"/>
                  <c:y val="3.3300303976711815E-3"/>
                </c:manualLayout>
              </c:layout>
              <c:spPr>
                <a:noFill/>
                <a:ln>
                  <a:noFill/>
                </a:ln>
                <a:effectLst/>
              </c:spPr>
              <c:txPr>
                <a:bodyPr rot="-5400000" spcFirstLastPara="1" vertOverflow="ellipsis"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s-PY"/>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A3-478E-9737-22E2568DBDDA}"/>
                </c:ext>
              </c:extLst>
            </c:dLbl>
            <c:dLbl>
              <c:idx val="2"/>
              <c:layout>
                <c:manualLayout>
                  <c:x val="1.7816272148467064E-3"/>
                  <c:y val="0.1265411551115047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A3-478E-9737-22E2568DBDDA}"/>
                </c:ext>
              </c:extLst>
            </c:dLbl>
            <c:spPr>
              <a:noFill/>
              <a:ln>
                <a:noFill/>
              </a:ln>
              <a:effectLst/>
            </c:spPr>
            <c:txPr>
              <a:bodyPr rot="-5400000" spcFirstLastPara="1" vertOverflow="ellipsis"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s-PY"/>
              </a:p>
            </c:txPr>
            <c:dLblPos val="outEnd"/>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'G3 -G4'!$E$31:$G$31</c:f>
              <c:strCache>
                <c:ptCount val="3"/>
                <c:pt idx="0">
                  <c:v>Total de Productores con manejo individual de la finca y con residencia en la finca</c:v>
                </c:pt>
                <c:pt idx="1">
                  <c:v>Hombres</c:v>
                </c:pt>
                <c:pt idx="2">
                  <c:v>Mujeres</c:v>
                </c:pt>
              </c:strCache>
            </c:strRef>
          </c:cat>
          <c:val>
            <c:numRef>
              <c:f>'G3 -G4'!$E$32:$G$32</c:f>
              <c:numCache>
                <c:formatCode>#,##0</c:formatCode>
                <c:ptCount val="3"/>
                <c:pt idx="0">
                  <c:v>246728</c:v>
                </c:pt>
                <c:pt idx="1">
                  <c:v>193292</c:v>
                </c:pt>
                <c:pt idx="2">
                  <c:v>53436</c:v>
                </c:pt>
              </c:numCache>
            </c:numRef>
          </c:val>
          <c:extLst>
            <c:ext xmlns:c16="http://schemas.microsoft.com/office/drawing/2014/chart" uri="{C3380CC4-5D6E-409C-BE32-E72D297353CC}">
              <c16:uniqueId val="{00000000-365E-42BA-9273-9BD6811D4D02}"/>
            </c:ext>
          </c:extLst>
        </c:ser>
        <c:ser>
          <c:idx val="1"/>
          <c:order val="1"/>
          <c:tx>
            <c:strRef>
              <c:f>'G3 -G4'!$D$33</c:f>
              <c:strCache>
                <c:ptCount val="1"/>
                <c:pt idx="0">
                  <c:v>CAN2022</c:v>
                </c:pt>
              </c:strCache>
            </c:strRef>
          </c:tx>
          <c:spPr>
            <a:solidFill>
              <a:schemeClr val="accent3">
                <a:lumMod val="50000"/>
              </a:schemeClr>
            </a:solidFill>
            <a:ln>
              <a:noFill/>
            </a:ln>
            <a:effectLst/>
          </c:spPr>
          <c:invertIfNegative val="0"/>
          <c:dLbls>
            <c:dLbl>
              <c:idx val="0"/>
              <c:layout>
                <c:manualLayout>
                  <c:x val="-1.7816272148467064E-3"/>
                  <c:y val="0.153181398292874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274-4DC5-8E09-ABFAA99695C1}"/>
                </c:ext>
              </c:extLst>
            </c:dLbl>
            <c:dLbl>
              <c:idx val="1"/>
              <c:layout>
                <c:manualLayout>
                  <c:x val="-3.5632544296934784E-3"/>
                  <c:y val="3.3300303976711815E-3"/>
                </c:manualLayout>
              </c:layout>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PY"/>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274-4DC5-8E09-ABFAA99695C1}"/>
                </c:ext>
              </c:extLst>
            </c:dLbl>
            <c:dLbl>
              <c:idx val="2"/>
              <c:layout>
                <c:manualLayout>
                  <c:x val="0"/>
                  <c:y val="0.1298711855091760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274-4DC5-8E09-ABFAA99695C1}"/>
                </c:ext>
              </c:extLst>
            </c:dLbl>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s-PY"/>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'G3 -G4'!$E$31:$G$31</c:f>
              <c:strCache>
                <c:ptCount val="3"/>
                <c:pt idx="0">
                  <c:v>Total de Productores con manejo individual de la finca y con residencia en la finca</c:v>
                </c:pt>
                <c:pt idx="1">
                  <c:v>Hombres</c:v>
                </c:pt>
                <c:pt idx="2">
                  <c:v>Mujeres</c:v>
                </c:pt>
              </c:strCache>
            </c:strRef>
          </c:cat>
          <c:val>
            <c:numRef>
              <c:f>'G3 -G4'!$E$33:$G$33</c:f>
              <c:numCache>
                <c:formatCode>#,##0</c:formatCode>
                <c:ptCount val="3"/>
                <c:pt idx="0">
                  <c:v>245002</c:v>
                </c:pt>
                <c:pt idx="1">
                  <c:v>151174</c:v>
                </c:pt>
                <c:pt idx="2">
                  <c:v>93828</c:v>
                </c:pt>
              </c:numCache>
            </c:numRef>
          </c:val>
          <c:extLst>
            <c:ext xmlns:c16="http://schemas.microsoft.com/office/drawing/2014/chart" uri="{C3380CC4-5D6E-409C-BE32-E72D297353CC}">
              <c16:uniqueId val="{00000001-365E-42BA-9273-9BD6811D4D02}"/>
            </c:ext>
          </c:extLst>
        </c:ser>
        <c:dLbls>
          <c:showLegendKey val="0"/>
          <c:showVal val="0"/>
          <c:showCatName val="0"/>
          <c:showSerName val="0"/>
          <c:showPercent val="0"/>
          <c:showBubbleSize val="0"/>
        </c:dLbls>
        <c:gapWidth val="500"/>
        <c:overlap val="-10"/>
        <c:axId val="168822272"/>
        <c:axId val="168824192"/>
      </c:barChart>
      <c:lineChart>
        <c:grouping val="standard"/>
        <c:varyColors val="0"/>
        <c:ser>
          <c:idx val="3"/>
          <c:order val="2"/>
          <c:tx>
            <c:strRef>
              <c:f>'G3 -G4'!$D$35</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5.6100749436438675E-2"/>
                  <c:y val="4.94039497744663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41D-4A0E-B5C3-C395644C68FA}"/>
                </c:ext>
              </c:extLst>
            </c:dLbl>
            <c:dLbl>
              <c:idx val="1"/>
              <c:layout>
                <c:manualLayout>
                  <c:x val="-6.311334311599355E-2"/>
                  <c:y val="4.2816756471204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41D-4A0E-B5C3-C395644C68FA}"/>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'G3 -G4'!$E$31:$G$31</c:f>
              <c:strCache>
                <c:ptCount val="3"/>
                <c:pt idx="0">
                  <c:v>Total de Productores con manejo individual de la finca y con residencia en la finca</c:v>
                </c:pt>
                <c:pt idx="1">
                  <c:v>Hombres</c:v>
                </c:pt>
                <c:pt idx="2">
                  <c:v>Mujeres</c:v>
                </c:pt>
              </c:strCache>
            </c:strRef>
          </c:cat>
          <c:val>
            <c:numRef>
              <c:f>'G3 -G4'!$E$35:$G$35</c:f>
              <c:numCache>
                <c:formatCode>0.0</c:formatCode>
                <c:ptCount val="3"/>
                <c:pt idx="0">
                  <c:v>-0.69955578612885438</c:v>
                </c:pt>
                <c:pt idx="1">
                  <c:v>-21.789830929371107</c:v>
                </c:pt>
                <c:pt idx="2">
                  <c:v>75.589490231304737</c:v>
                </c:pt>
              </c:numCache>
            </c:numRef>
          </c:val>
          <c:smooth val="0"/>
          <c:extLst>
            <c:ext xmlns:c16="http://schemas.microsoft.com/office/drawing/2014/chart" uri="{C3380CC4-5D6E-409C-BE32-E72D297353CC}">
              <c16:uniqueId val="{00000005-365E-42BA-9273-9BD6811D4D02}"/>
            </c:ext>
          </c:extLst>
        </c:ser>
        <c:dLbls>
          <c:showLegendKey val="0"/>
          <c:showVal val="0"/>
          <c:showCatName val="0"/>
          <c:showSerName val="0"/>
          <c:showPercent val="0"/>
          <c:showBubbleSize val="0"/>
        </c:dLbls>
        <c:marker val="1"/>
        <c:smooth val="0"/>
        <c:axId val="168840576"/>
        <c:axId val="168838656"/>
      </c:lineChart>
      <c:catAx>
        <c:axId val="168822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s-PY"/>
          </a:p>
        </c:txPr>
        <c:crossAx val="168824192"/>
        <c:crosses val="autoZero"/>
        <c:auto val="1"/>
        <c:lblAlgn val="ctr"/>
        <c:lblOffset val="100"/>
        <c:noMultiLvlLbl val="0"/>
      </c:catAx>
      <c:valAx>
        <c:axId val="168824192"/>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s-PY" b="1">
                    <a:solidFill>
                      <a:schemeClr val="tx1"/>
                    </a:solidFill>
                  </a:rPr>
                  <a:t>Cantidad de Productores</a:t>
                </a:r>
              </a:p>
            </c:rich>
          </c:tx>
          <c:layout>
            <c:manualLayout>
              <c:xMode val="edge"/>
              <c:yMode val="edge"/>
              <c:x val="8.8907901315873721E-3"/>
              <c:y val="0.33865069668098907"/>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50000"/>
                  </a:schemeClr>
                </a:solidFill>
                <a:latin typeface="+mn-lt"/>
                <a:ea typeface="+mn-ea"/>
                <a:cs typeface="+mn-cs"/>
              </a:defRPr>
            </a:pPr>
            <a:endParaRPr lang="es-PY"/>
          </a:p>
        </c:txPr>
        <c:crossAx val="168822272"/>
        <c:crosses val="autoZero"/>
        <c:crossBetween val="between"/>
        <c:majorUnit val="40000"/>
      </c:valAx>
      <c:valAx>
        <c:axId val="168838656"/>
        <c:scaling>
          <c:orientation val="minMax"/>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b="1">
                    <a:solidFill>
                      <a:sysClr val="windowText" lastClr="000000"/>
                    </a:solidFill>
                  </a:rPr>
                  <a:t>Var(%)</a:t>
                </a:r>
              </a:p>
            </c:rich>
          </c:tx>
          <c:overlay val="0"/>
          <c:spPr>
            <a:noFill/>
            <a:ln>
              <a:noFill/>
            </a:ln>
            <a:effectLst/>
          </c:spPr>
          <c:txPr>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68840576"/>
        <c:crosses val="max"/>
        <c:crossBetween val="between"/>
        <c:majorUnit val="100"/>
      </c:valAx>
      <c:catAx>
        <c:axId val="168840576"/>
        <c:scaling>
          <c:orientation val="minMax"/>
        </c:scaling>
        <c:delete val="1"/>
        <c:axPos val="b"/>
        <c:numFmt formatCode="General" sourceLinked="1"/>
        <c:majorTickMark val="out"/>
        <c:minorTickMark val="none"/>
        <c:tickLblPos val="nextTo"/>
        <c:crossAx val="168838656"/>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2096609588589791"/>
          <c:y val="2.7717533532362552E-2"/>
          <c:w val="0.79150638164409126"/>
          <c:h val="0.65475922975679124"/>
        </c:manualLayout>
      </c:layout>
      <c:barChart>
        <c:barDir val="col"/>
        <c:grouping val="clustered"/>
        <c:varyColors val="0"/>
        <c:ser>
          <c:idx val="0"/>
          <c:order val="0"/>
          <c:tx>
            <c:strRef>
              <c:f>'G5-G6'!$D$62</c:f>
              <c:strCache>
                <c:ptCount val="1"/>
                <c:pt idx="0">
                  <c:v>CAN 2008</c:v>
                </c:pt>
              </c:strCache>
            </c:strRef>
          </c:tx>
          <c:spPr>
            <a:solidFill>
              <a:srgbClr val="CC9900"/>
            </a:solidFill>
            <a:ln>
              <a:noFill/>
            </a:ln>
            <a:effectLst/>
          </c:spPr>
          <c:invertIfNegative val="0"/>
          <c:dLbls>
            <c:dLbl>
              <c:idx val="0"/>
              <c:layout>
                <c:manualLayout>
                  <c:x val="-3.3641974164023434E-3"/>
                  <c:y val="7.6465580253335885E-2"/>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108-4D81-B0CB-3A8868423542}"/>
                </c:ext>
              </c:extLst>
            </c:dLbl>
            <c:dLbl>
              <c:idx val="4"/>
              <c:tx>
                <c:rich>
                  <a:bodyPr/>
                  <a:lstStyle/>
                  <a:p>
                    <a:r>
                      <a:rPr lang="en-US"/>
                      <a:t>-</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C69-4984-8FEB-6688546CD14D}"/>
                </c:ext>
              </c:extLst>
            </c:dLbl>
            <c:dLbl>
              <c:idx val="5"/>
              <c:tx>
                <c:rich>
                  <a:bodyPr/>
                  <a:lstStyle/>
                  <a:p>
                    <a:r>
                      <a:rPr lang="en-US"/>
                      <a:t>-</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C69-4984-8FEB-6688546CD14D}"/>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'G5-G6'!$E$60:$N$61</c:f>
              <c:multiLvlStrCache>
                <c:ptCount val="10"/>
                <c:lvl>
                  <c:pt idx="0">
                    <c:v>Hombres</c:v>
                  </c:pt>
                  <c:pt idx="1">
                    <c:v>Mujeres</c:v>
                  </c:pt>
                  <c:pt idx="2">
                    <c:v>Hombres</c:v>
                  </c:pt>
                  <c:pt idx="3">
                    <c:v>Mujeres</c:v>
                  </c:pt>
                  <c:pt idx="4">
                    <c:v>Hombres</c:v>
                  </c:pt>
                  <c:pt idx="5">
                    <c:v>Mujeres</c:v>
                  </c:pt>
                  <c:pt idx="6">
                    <c:v>Hombres</c:v>
                  </c:pt>
                  <c:pt idx="7">
                    <c:v>Mujeres</c:v>
                  </c:pt>
                  <c:pt idx="8">
                    <c:v>Hombres</c:v>
                  </c:pt>
                  <c:pt idx="9">
                    <c:v>Mujeres</c:v>
                  </c:pt>
                </c:lvl>
                <c:lvl>
                  <c:pt idx="0">
                    <c:v>Trabajos agrícolas o ganaderos en la finca</c:v>
                  </c:pt>
                  <c:pt idx="2">
                    <c:v>Trabajos agrícolas o ganaderos fuera de la finca (Changa agropecuaria)</c:v>
                  </c:pt>
                  <c:pt idx="4">
                    <c:v>Trabajos domesticos de la casa incluyendo cuidado de niños y adultos</c:v>
                  </c:pt>
                  <c:pt idx="6">
                    <c:v>Otras actividades No agropecuarias</c:v>
                  </c:pt>
                  <c:pt idx="8">
                    <c:v>No realizó ningún trabajo</c:v>
                  </c:pt>
                </c:lvl>
              </c:multiLvlStrCache>
            </c:multiLvlStrRef>
          </c:cat>
          <c:val>
            <c:numRef>
              <c:f>'G5-G6'!$E$62:$N$62</c:f>
              <c:numCache>
                <c:formatCode>#,##0</c:formatCode>
                <c:ptCount val="10"/>
                <c:pt idx="0">
                  <c:v>168714</c:v>
                </c:pt>
                <c:pt idx="1">
                  <c:v>42021</c:v>
                </c:pt>
                <c:pt idx="2">
                  <c:v>11694</c:v>
                </c:pt>
                <c:pt idx="3">
                  <c:v>1539</c:v>
                </c:pt>
                <c:pt idx="4">
                  <c:v>0</c:v>
                </c:pt>
                <c:pt idx="5">
                  <c:v>0</c:v>
                </c:pt>
                <c:pt idx="6">
                  <c:v>9002</c:v>
                </c:pt>
                <c:pt idx="7">
                  <c:v>4334</c:v>
                </c:pt>
                <c:pt idx="8">
                  <c:v>3882</c:v>
                </c:pt>
                <c:pt idx="9">
                  <c:v>5542</c:v>
                </c:pt>
              </c:numCache>
            </c:numRef>
          </c:val>
          <c:extLst>
            <c:ext xmlns:c16="http://schemas.microsoft.com/office/drawing/2014/chart" uri="{C3380CC4-5D6E-409C-BE32-E72D297353CC}">
              <c16:uniqueId val="{00000000-E4F1-45A9-BB14-9431C4D308EB}"/>
            </c:ext>
          </c:extLst>
        </c:ser>
        <c:ser>
          <c:idx val="1"/>
          <c:order val="1"/>
          <c:tx>
            <c:strRef>
              <c:f>'G5-G6'!$D$63</c:f>
              <c:strCache>
                <c:ptCount val="1"/>
                <c:pt idx="0">
                  <c:v>CAN 2022</c:v>
                </c:pt>
              </c:strCache>
            </c:strRef>
          </c:tx>
          <c:spPr>
            <a:solidFill>
              <a:schemeClr val="accent3">
                <a:lumMod val="50000"/>
              </a:schemeClr>
            </a:solidFill>
            <a:ln>
              <a:noFill/>
            </a:ln>
            <a:effectLst/>
          </c:spPr>
          <c:invertIfNegative val="0"/>
          <c:dLbls>
            <c:dLbl>
              <c:idx val="0"/>
              <c:layout>
                <c:manualLayout>
                  <c:x val="1.6820987082011717E-3"/>
                  <c:y val="0.11622768198507055"/>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108-4D81-B0CB-3A8868423542}"/>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'G5-G6'!$E$60:$N$61</c:f>
              <c:multiLvlStrCache>
                <c:ptCount val="10"/>
                <c:lvl>
                  <c:pt idx="0">
                    <c:v>Hombres</c:v>
                  </c:pt>
                  <c:pt idx="1">
                    <c:v>Mujeres</c:v>
                  </c:pt>
                  <c:pt idx="2">
                    <c:v>Hombres</c:v>
                  </c:pt>
                  <c:pt idx="3">
                    <c:v>Mujeres</c:v>
                  </c:pt>
                  <c:pt idx="4">
                    <c:v>Hombres</c:v>
                  </c:pt>
                  <c:pt idx="5">
                    <c:v>Mujeres</c:v>
                  </c:pt>
                  <c:pt idx="6">
                    <c:v>Hombres</c:v>
                  </c:pt>
                  <c:pt idx="7">
                    <c:v>Mujeres</c:v>
                  </c:pt>
                  <c:pt idx="8">
                    <c:v>Hombres</c:v>
                  </c:pt>
                  <c:pt idx="9">
                    <c:v>Mujeres</c:v>
                  </c:pt>
                </c:lvl>
                <c:lvl>
                  <c:pt idx="0">
                    <c:v>Trabajos agrícolas o ganaderos en la finca</c:v>
                  </c:pt>
                  <c:pt idx="2">
                    <c:v>Trabajos agrícolas o ganaderos fuera de la finca (Changa agropecuaria)</c:v>
                  </c:pt>
                  <c:pt idx="4">
                    <c:v>Trabajos domesticos de la casa incluyendo cuidado de niños y adultos</c:v>
                  </c:pt>
                  <c:pt idx="6">
                    <c:v>Otras actividades No agropecuarias</c:v>
                  </c:pt>
                  <c:pt idx="8">
                    <c:v>No realizó ningún trabajo</c:v>
                  </c:pt>
                </c:lvl>
              </c:multiLvlStrCache>
            </c:multiLvlStrRef>
          </c:cat>
          <c:val>
            <c:numRef>
              <c:f>'G5-G6'!$E$63:$N$63</c:f>
              <c:numCache>
                <c:formatCode>#,##0</c:formatCode>
                <c:ptCount val="10"/>
                <c:pt idx="0">
                  <c:v>118608</c:v>
                </c:pt>
                <c:pt idx="1">
                  <c:v>51079</c:v>
                </c:pt>
                <c:pt idx="2">
                  <c:v>19558</c:v>
                </c:pt>
                <c:pt idx="3">
                  <c:v>5088</c:v>
                </c:pt>
                <c:pt idx="4">
                  <c:v>969</c:v>
                </c:pt>
                <c:pt idx="5">
                  <c:v>29823</c:v>
                </c:pt>
                <c:pt idx="6">
                  <c:v>7297</c:v>
                </c:pt>
                <c:pt idx="7">
                  <c:v>4332</c:v>
                </c:pt>
                <c:pt idx="8">
                  <c:v>3055</c:v>
                </c:pt>
                <c:pt idx="9">
                  <c:v>2269</c:v>
                </c:pt>
              </c:numCache>
            </c:numRef>
          </c:val>
          <c:extLst>
            <c:ext xmlns:c16="http://schemas.microsoft.com/office/drawing/2014/chart" uri="{C3380CC4-5D6E-409C-BE32-E72D297353CC}">
              <c16:uniqueId val="{00000001-E4F1-45A9-BB14-9431C4D308EB}"/>
            </c:ext>
          </c:extLst>
        </c:ser>
        <c:dLbls>
          <c:showLegendKey val="0"/>
          <c:showVal val="0"/>
          <c:showCatName val="0"/>
          <c:showSerName val="0"/>
          <c:showPercent val="0"/>
          <c:showBubbleSize val="0"/>
        </c:dLbls>
        <c:gapWidth val="200"/>
        <c:overlap val="-10"/>
        <c:axId val="175886336"/>
        <c:axId val="175888256"/>
      </c:barChart>
      <c:lineChart>
        <c:grouping val="standard"/>
        <c:varyColors val="0"/>
        <c:ser>
          <c:idx val="3"/>
          <c:order val="2"/>
          <c:tx>
            <c:strRef>
              <c:f>'G5-G6'!$D$65</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4.9778006245352252E-2"/>
                  <c:y val="3.85167999211466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69-4984-8FEB-6688546CD14D}"/>
                </c:ext>
              </c:extLst>
            </c:dLbl>
            <c:dLbl>
              <c:idx val="1"/>
              <c:layout>
                <c:manualLayout>
                  <c:x val="-3.0168488633546812E-2"/>
                  <c:y val="-3.5307066594384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C69-4984-8FEB-6688546CD14D}"/>
                </c:ext>
              </c:extLst>
            </c:dLbl>
            <c:dLbl>
              <c:idx val="2"/>
              <c:layout>
                <c:manualLayout>
                  <c:x val="-4.0727459655288199E-2"/>
                  <c:y val="-3.8516799921146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C69-4984-8FEB-6688546CD14D}"/>
                </c:ext>
              </c:extLst>
            </c:dLbl>
            <c:dLbl>
              <c:idx val="4"/>
              <c:layout>
                <c:manualLayout>
                  <c:x val="-6.0336383399207695E-3"/>
                  <c:y val="-2.8887473573406281E-2"/>
                </c:manualLayout>
              </c:layout>
              <c:tx>
                <c:rich>
                  <a:bodyPr/>
                  <a:lstStyle/>
                  <a:p>
                    <a:r>
                      <a:rPr lang="en-US"/>
                      <a:t>-</a:t>
                    </a:r>
                    <a:endParaRPr lang="en-US" dirty="0"/>
                  </a:p>
                </c:rich>
              </c:tx>
              <c:showLegendKey val="0"/>
              <c:showVal val="1"/>
              <c:showCatName val="0"/>
              <c:showSerName val="0"/>
              <c:showPercent val="0"/>
              <c:showBubbleSize val="0"/>
              <c:extLst>
                <c:ext xmlns:c15="http://schemas.microsoft.com/office/drawing/2012/chart" uri="{CE6537A1-D6FC-4f65-9D91-7224C49458BB}">
                  <c15:layout>
                    <c:manualLayout>
                      <c:w val="1.3206196512546467E-2"/>
                      <c:h val="4.4888246942223528E-2"/>
                    </c:manualLayout>
                  </c15:layout>
                </c:ext>
                <c:ext xmlns:c16="http://schemas.microsoft.com/office/drawing/2014/chart" uri="{C3380CC4-5D6E-409C-BE32-E72D297353CC}">
                  <c16:uniqueId val="{00000003-8C69-4984-8FEB-6688546CD14D}"/>
                </c:ext>
              </c:extLst>
            </c:dLbl>
            <c:dLbl>
              <c:idx val="5"/>
              <c:layout>
                <c:manualLayout>
                  <c:x val="-1.9609517611805429E-2"/>
                  <c:y val="-3.2097333267622256E-2"/>
                </c:manualLayout>
              </c:layout>
              <c:tx>
                <c:rich>
                  <a:bodyPr/>
                  <a:lstStyle/>
                  <a:p>
                    <a:r>
                      <a:rPr lang="en-US"/>
                      <a:t>-</a:t>
                    </a:r>
                    <a:endParaRPr lang="en-US" dirty="0"/>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C69-4984-8FEB-6688546CD14D}"/>
                </c:ext>
              </c:extLst>
            </c:dLbl>
            <c:dLbl>
              <c:idx val="6"/>
              <c:layout>
                <c:manualLayout>
                  <c:x val="-5.1286430677029579E-2"/>
                  <c:y val="1.28389333070488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C69-4984-8FEB-6688546CD14D}"/>
                </c:ext>
              </c:extLst>
            </c:dLbl>
            <c:dLbl>
              <c:idx val="7"/>
              <c:layout>
                <c:manualLayout>
                  <c:x val="-1.960951761180554E-2"/>
                  <c:y val="-2.2468133287335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C69-4984-8FEB-6688546CD14D}"/>
                </c:ext>
              </c:extLst>
            </c:dLbl>
            <c:dLbl>
              <c:idx val="8"/>
              <c:layout>
                <c:manualLayout>
                  <c:x val="-4.072745965528831E-2"/>
                  <c:y val="2.88875999408600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C69-4984-8FEB-6688546CD14D}"/>
                </c:ext>
              </c:extLst>
            </c:dLbl>
            <c:dLbl>
              <c:idx val="9"/>
              <c:layout>
                <c:manualLayout>
                  <c:x val="-3.9219035223610969E-2"/>
                  <c:y val="2.56778666140977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C69-4984-8FEB-6688546CD14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'G5-G6'!$E$60:$N$61</c:f>
              <c:multiLvlStrCache>
                <c:ptCount val="10"/>
                <c:lvl>
                  <c:pt idx="0">
                    <c:v>Hombres</c:v>
                  </c:pt>
                  <c:pt idx="1">
                    <c:v>Mujeres</c:v>
                  </c:pt>
                  <c:pt idx="2">
                    <c:v>Hombres</c:v>
                  </c:pt>
                  <c:pt idx="3">
                    <c:v>Mujeres</c:v>
                  </c:pt>
                  <c:pt idx="4">
                    <c:v>Hombres</c:v>
                  </c:pt>
                  <c:pt idx="5">
                    <c:v>Mujeres</c:v>
                  </c:pt>
                  <c:pt idx="6">
                    <c:v>Hombres</c:v>
                  </c:pt>
                  <c:pt idx="7">
                    <c:v>Mujeres</c:v>
                  </c:pt>
                  <c:pt idx="8">
                    <c:v>Hombres</c:v>
                  </c:pt>
                  <c:pt idx="9">
                    <c:v>Mujeres</c:v>
                  </c:pt>
                </c:lvl>
                <c:lvl>
                  <c:pt idx="0">
                    <c:v>Trabajos agrícolas o ganaderos en la finca</c:v>
                  </c:pt>
                  <c:pt idx="2">
                    <c:v>Trabajos agrícolas o ganaderos fuera de la finca (Changa agropecuaria)</c:v>
                  </c:pt>
                  <c:pt idx="4">
                    <c:v>Trabajos domesticos de la casa incluyendo cuidado de niños y adultos</c:v>
                  </c:pt>
                  <c:pt idx="6">
                    <c:v>Otras actividades No agropecuarias</c:v>
                  </c:pt>
                  <c:pt idx="8">
                    <c:v>No realizó ningún trabajo</c:v>
                  </c:pt>
                </c:lvl>
              </c:multiLvlStrCache>
            </c:multiLvlStrRef>
          </c:cat>
          <c:val>
            <c:numRef>
              <c:f>'G5-G6'!$E$65:$N$65</c:f>
              <c:numCache>
                <c:formatCode>0.0</c:formatCode>
                <c:ptCount val="10"/>
                <c:pt idx="0">
                  <c:v>-29.698780184217078</c:v>
                </c:pt>
                <c:pt idx="1">
                  <c:v>21.555888722305514</c:v>
                </c:pt>
                <c:pt idx="2">
                  <c:v>67.248161450316402</c:v>
                </c:pt>
                <c:pt idx="3">
                  <c:v>230.60428849902533</c:v>
                </c:pt>
                <c:pt idx="4">
                  <c:v>0</c:v>
                </c:pt>
                <c:pt idx="5">
                  <c:v>0</c:v>
                </c:pt>
                <c:pt idx="6">
                  <c:v>-18.940235503221505</c:v>
                </c:pt>
                <c:pt idx="7">
                  <c:v>-4.6146746654360866E-2</c:v>
                </c:pt>
                <c:pt idx="8">
                  <c:v>-21.303451828954149</c:v>
                </c:pt>
                <c:pt idx="9">
                  <c:v>-59.058101768314685</c:v>
                </c:pt>
              </c:numCache>
            </c:numRef>
          </c:val>
          <c:smooth val="0"/>
          <c:extLst>
            <c:ext xmlns:c16="http://schemas.microsoft.com/office/drawing/2014/chart" uri="{C3380CC4-5D6E-409C-BE32-E72D297353CC}">
              <c16:uniqueId val="{00000007-E4F1-45A9-BB14-9431C4D308EB}"/>
            </c:ext>
          </c:extLst>
        </c:ser>
        <c:dLbls>
          <c:showLegendKey val="0"/>
          <c:showVal val="0"/>
          <c:showCatName val="0"/>
          <c:showSerName val="0"/>
          <c:showPercent val="0"/>
          <c:showBubbleSize val="0"/>
        </c:dLbls>
        <c:marker val="1"/>
        <c:smooth val="0"/>
        <c:axId val="176105344"/>
        <c:axId val="176103424"/>
      </c:lineChart>
      <c:catAx>
        <c:axId val="17588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75888256"/>
        <c:crosses val="autoZero"/>
        <c:auto val="1"/>
        <c:lblAlgn val="ctr"/>
        <c:lblOffset val="100"/>
        <c:noMultiLvlLbl val="0"/>
      </c:catAx>
      <c:valAx>
        <c:axId val="1758882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s-PY">
                    <a:solidFill>
                      <a:schemeClr val="tx1"/>
                    </a:solidFill>
                  </a:rPr>
                  <a:t>Cantidad de Productores/as</a:t>
                </a:r>
              </a:p>
            </c:rich>
          </c:tx>
          <c:layout>
            <c:manualLayout>
              <c:xMode val="edge"/>
              <c:yMode val="edge"/>
              <c:x val="1.4053320733295637E-2"/>
              <c:y val="0.2542818827526506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75886336"/>
        <c:crosses val="autoZero"/>
        <c:crossBetween val="between"/>
      </c:valAx>
      <c:valAx>
        <c:axId val="176103424"/>
        <c:scaling>
          <c:orientation val="minMax"/>
          <c:max val="255"/>
          <c:min val="-25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s-PY" b="1">
                    <a:solidFill>
                      <a:schemeClr val="tx1"/>
                    </a:solidFill>
                  </a:rPr>
                  <a:t>Var (%)</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76105344"/>
        <c:crosses val="max"/>
        <c:crossBetween val="between"/>
        <c:majorUnit val="250"/>
      </c:valAx>
      <c:catAx>
        <c:axId val="176105344"/>
        <c:scaling>
          <c:orientation val="minMax"/>
        </c:scaling>
        <c:delete val="1"/>
        <c:axPos val="b"/>
        <c:numFmt formatCode="General" sourceLinked="1"/>
        <c:majorTickMark val="out"/>
        <c:minorTickMark val="none"/>
        <c:tickLblPos val="nextTo"/>
        <c:crossAx val="176103424"/>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PY"/>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406073342009332"/>
          <c:y val="0.10499646142958245"/>
          <c:w val="0.75407356771465095"/>
          <c:h val="0.72692732678623684"/>
        </c:manualLayout>
      </c:layout>
      <c:barChart>
        <c:barDir val="col"/>
        <c:grouping val="clustered"/>
        <c:varyColors val="0"/>
        <c:ser>
          <c:idx val="1"/>
          <c:order val="1"/>
          <c:tx>
            <c:strRef>
              <c:f>Hoja2!$G$5</c:f>
              <c:strCache>
                <c:ptCount val="1"/>
                <c:pt idx="0">
                  <c:v>Superficie</c:v>
                </c:pt>
              </c:strCache>
            </c:strRef>
          </c:tx>
          <c:spPr>
            <a:solidFill>
              <a:srgbClr val="F79646">
                <a:lumMod val="50000"/>
              </a:srgbClr>
            </a:solidFill>
            <a:ln>
              <a:noFill/>
            </a:ln>
            <a:effectLst/>
          </c:spPr>
          <c:invertIfNegative val="0"/>
          <c:dLbls>
            <c:dLbl>
              <c:idx val="2"/>
              <c:layout>
                <c:manualLayout>
                  <c:x val="-6.50406615096193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E32-45C8-BF64-2CBA94D6645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Hoja2!$H$3:$J$3</c:f>
              <c:strCache>
                <c:ptCount val="3"/>
                <c:pt idx="0">
                  <c:v>Total </c:v>
                </c:pt>
                <c:pt idx="1">
                  <c:v>Comunitario</c:v>
                </c:pt>
                <c:pt idx="2">
                  <c:v>Individual</c:v>
                </c:pt>
              </c:strCache>
            </c:strRef>
          </c:cat>
          <c:val>
            <c:numRef>
              <c:f>Hoja2!$H$5:$J$5</c:f>
              <c:numCache>
                <c:formatCode>#,##0</c:formatCode>
                <c:ptCount val="3"/>
                <c:pt idx="0">
                  <c:v>659911</c:v>
                </c:pt>
                <c:pt idx="1">
                  <c:v>629437</c:v>
                </c:pt>
                <c:pt idx="2">
                  <c:v>30476</c:v>
                </c:pt>
              </c:numCache>
            </c:numRef>
          </c:val>
          <c:extLst>
            <c:ext xmlns:c16="http://schemas.microsoft.com/office/drawing/2014/chart" uri="{C3380CC4-5D6E-409C-BE32-E72D297353CC}">
              <c16:uniqueId val="{00000001-DE32-45C8-BF64-2CBA94D66454}"/>
            </c:ext>
          </c:extLst>
        </c:ser>
        <c:dLbls>
          <c:showLegendKey val="0"/>
          <c:showVal val="0"/>
          <c:showCatName val="0"/>
          <c:showSerName val="0"/>
          <c:showPercent val="0"/>
          <c:showBubbleSize val="0"/>
        </c:dLbls>
        <c:gapWidth val="200"/>
        <c:axId val="149518208"/>
        <c:axId val="149586304"/>
      </c:barChart>
      <c:barChart>
        <c:barDir val="col"/>
        <c:grouping val="clustered"/>
        <c:varyColors val="0"/>
        <c:ser>
          <c:idx val="0"/>
          <c:order val="0"/>
          <c:tx>
            <c:strRef>
              <c:f>Hoja2!$G$4</c:f>
              <c:strCache>
                <c:ptCount val="1"/>
                <c:pt idx="0">
                  <c:v>Cantidad de Fincas  </c:v>
                </c:pt>
              </c:strCache>
            </c:strRef>
          </c:tx>
          <c:spPr>
            <a:solidFill>
              <a:srgbClr val="CC9900"/>
            </a:solidFill>
            <a:ln>
              <a:noFill/>
            </a:ln>
            <a:effectLst/>
          </c:spPr>
          <c:invertIfNegative val="0"/>
          <c:dLbls>
            <c:dLbl>
              <c:idx val="0"/>
              <c:layout>
                <c:manualLayout>
                  <c:x val="0"/>
                  <c:y val="1.32505124140086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E32-45C8-BF64-2CBA94D66454}"/>
                </c:ext>
              </c:extLst>
            </c:dLbl>
            <c:dLbl>
              <c:idx val="1"/>
              <c:layout>
                <c:manualLayout>
                  <c:x val="0"/>
                  <c:y val="9.937884310506335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E32-45C8-BF64-2CBA94D66454}"/>
                </c:ext>
              </c:extLst>
            </c:dLbl>
            <c:dLbl>
              <c:idx val="2"/>
              <c:layout>
                <c:manualLayout>
                  <c:x val="0"/>
                  <c:y val="9.9378843105064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E32-45C8-BF64-2CBA94D66454}"/>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FC000"/>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Hoja2!$H$3:$J$3</c:f>
              <c:strCache>
                <c:ptCount val="3"/>
                <c:pt idx="0">
                  <c:v>Total </c:v>
                </c:pt>
                <c:pt idx="1">
                  <c:v>Comunitario</c:v>
                </c:pt>
                <c:pt idx="2">
                  <c:v>Individual</c:v>
                </c:pt>
              </c:strCache>
            </c:strRef>
          </c:cat>
          <c:val>
            <c:numRef>
              <c:f>Hoja2!$H$4:$J$4</c:f>
              <c:numCache>
                <c:formatCode>#,##0</c:formatCode>
                <c:ptCount val="3"/>
                <c:pt idx="0">
                  <c:v>5210</c:v>
                </c:pt>
                <c:pt idx="1">
                  <c:v>252</c:v>
                </c:pt>
                <c:pt idx="2">
                  <c:v>4958</c:v>
                </c:pt>
              </c:numCache>
            </c:numRef>
          </c:val>
          <c:extLst>
            <c:ext xmlns:c16="http://schemas.microsoft.com/office/drawing/2014/chart" uri="{C3380CC4-5D6E-409C-BE32-E72D297353CC}">
              <c16:uniqueId val="{00000000-DE32-45C8-BF64-2CBA94D66454}"/>
            </c:ext>
          </c:extLst>
        </c:ser>
        <c:dLbls>
          <c:showLegendKey val="0"/>
          <c:showVal val="0"/>
          <c:showCatName val="0"/>
          <c:showSerName val="0"/>
          <c:showPercent val="0"/>
          <c:showBubbleSize val="0"/>
        </c:dLbls>
        <c:gapWidth val="500"/>
        <c:axId val="149610880"/>
        <c:axId val="149588224"/>
      </c:barChart>
      <c:catAx>
        <c:axId val="14951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s-PY"/>
          </a:p>
        </c:txPr>
        <c:crossAx val="149586304"/>
        <c:crosses val="autoZero"/>
        <c:auto val="1"/>
        <c:lblAlgn val="ctr"/>
        <c:lblOffset val="100"/>
        <c:noMultiLvlLbl val="0"/>
      </c:catAx>
      <c:valAx>
        <c:axId val="149586304"/>
        <c:scaling>
          <c:orientation val="minMax"/>
        </c:scaling>
        <c:delete val="0"/>
        <c:axPos val="l"/>
        <c:majorGridlines>
          <c:spPr>
            <a:ln w="9525" cap="flat" cmpd="sng" algn="ctr">
              <a:solidFill>
                <a:schemeClr val="tx1">
                  <a:lumMod val="15000"/>
                  <a:lumOff val="85000"/>
                </a:schemeClr>
              </a:solidFill>
              <a:round/>
            </a:ln>
            <a:effectLst/>
          </c:spPr>
        </c:majorGridlines>
        <c:title>
          <c:tx>
            <c:rich>
              <a:bodyPr/>
              <a:lstStyle/>
              <a:p>
                <a:pPr>
                  <a:defRPr/>
                </a:pPr>
                <a:r>
                  <a:rPr lang="en-US"/>
                  <a:t>Superficie</a:t>
                </a:r>
                <a:r>
                  <a:rPr lang="en-US" baseline="0"/>
                  <a:t> (ha)</a:t>
                </a:r>
                <a:endParaRPr lang="en-US"/>
              </a:p>
            </c:rich>
          </c:tx>
          <c:layout>
            <c:manualLayout>
              <c:xMode val="edge"/>
              <c:yMode val="edge"/>
              <c:x val="1.0131042064930533E-2"/>
              <c:y val="0.35630396913645068"/>
            </c:manualLayout>
          </c:layout>
          <c:overlay val="0"/>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9518208"/>
        <c:crosses val="autoZero"/>
        <c:crossBetween val="between"/>
        <c:majorUnit val="100000"/>
      </c:valAx>
      <c:valAx>
        <c:axId val="149588224"/>
        <c:scaling>
          <c:orientation val="minMax"/>
        </c:scaling>
        <c:delete val="0"/>
        <c:axPos val="r"/>
        <c:title>
          <c:tx>
            <c:rich>
              <a:bodyPr/>
              <a:lstStyle/>
              <a:p>
                <a:pPr>
                  <a:defRPr/>
                </a:pPr>
                <a:r>
                  <a:rPr lang="es-PY"/>
                  <a:t>Cantidad de Fincas</a:t>
                </a:r>
              </a:p>
            </c:rich>
          </c:tx>
          <c:layout>
            <c:manualLayout>
              <c:xMode val="edge"/>
              <c:yMode val="edge"/>
              <c:x val="0.95059478893763327"/>
              <c:y val="0.32329637535512684"/>
            </c:manualLayout>
          </c:layout>
          <c:overlay val="0"/>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9610880"/>
        <c:crosses val="max"/>
        <c:crossBetween val="between"/>
        <c:majorUnit val="1000"/>
      </c:valAx>
      <c:catAx>
        <c:axId val="149610880"/>
        <c:scaling>
          <c:orientation val="minMax"/>
        </c:scaling>
        <c:delete val="1"/>
        <c:axPos val="b"/>
        <c:numFmt formatCode="General" sourceLinked="1"/>
        <c:majorTickMark val="out"/>
        <c:minorTickMark val="none"/>
        <c:tickLblPos val="nextTo"/>
        <c:crossAx val="149588224"/>
        <c:crosses val="autoZero"/>
        <c:auto val="1"/>
        <c:lblAlgn val="ctr"/>
        <c:lblOffset val="100"/>
        <c:noMultiLvlLbl val="0"/>
      </c:catAx>
      <c:spPr>
        <a:noFill/>
        <a:ln>
          <a:noFill/>
        </a:ln>
        <a:effectLst/>
      </c:spPr>
    </c:plotArea>
    <c:legend>
      <c:legendPos val="b"/>
      <c:layout>
        <c:manualLayout>
          <c:xMode val="edge"/>
          <c:yMode val="edge"/>
          <c:x val="0.28336188715953553"/>
          <c:y val="0.92089584343358355"/>
          <c:w val="0.46041732283464565"/>
          <c:h val="7.3495917177019532E-2"/>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387515002835702"/>
          <c:y val="0.16386089170931298"/>
          <c:w val="0.7797987311887522"/>
          <c:h val="0.55961193652121732"/>
        </c:manualLayout>
      </c:layout>
      <c:barChart>
        <c:barDir val="col"/>
        <c:grouping val="clustered"/>
        <c:varyColors val="0"/>
        <c:ser>
          <c:idx val="0"/>
          <c:order val="0"/>
          <c:tx>
            <c:strRef>
              <c:f>'g9-g10'!$A$4</c:f>
              <c:strCache>
                <c:ptCount val="1"/>
                <c:pt idx="0">
                  <c:v> CAN 2008</c:v>
                </c:pt>
              </c:strCache>
            </c:strRef>
          </c:tx>
          <c:spPr>
            <a:solidFill>
              <a:srgbClr val="CC9900"/>
            </a:solidFill>
            <a:ln>
              <a:noFill/>
            </a:ln>
            <a:effectLst/>
          </c:spPr>
          <c:invertIfNegative val="0"/>
          <c:dLbls>
            <c:dLbl>
              <c:idx val="0"/>
              <c:layout>
                <c:manualLayout>
                  <c:x val="-1.6051411026459929E-3"/>
                  <c:y val="6.2652947808860861E-3"/>
                </c:manualLayout>
              </c:layout>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7D3-44A4-9A18-4C564CCC7ED1}"/>
                </c:ext>
              </c:extLst>
            </c:dLbl>
            <c:dLbl>
              <c:idx val="1"/>
              <c:layout>
                <c:manualLayout>
                  <c:x val="1.6051411026459341E-3"/>
                  <c:y val="0.115907953446393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7D3-44A4-9A18-4C564CCC7ED1}"/>
                </c:ext>
              </c:extLst>
            </c:dLbl>
            <c:dLbl>
              <c:idx val="2"/>
              <c:layout>
                <c:manualLayout>
                  <c:x val="-4.815423307938038E-3"/>
                  <c:y val="1.2530589561772115E-2"/>
                </c:manualLayout>
              </c:layout>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7D3-44A4-9A18-4C564CCC7ED1}"/>
                </c:ext>
              </c:extLst>
            </c:dLbl>
            <c:dLbl>
              <c:idx val="3"/>
              <c:layout>
                <c:manualLayout>
                  <c:x val="-1.2841128821167943E-2"/>
                  <c:y val="6.2652947808861147E-3"/>
                </c:manualLayout>
              </c:layout>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7D3-44A4-9A18-4C564CCC7ED1}"/>
                </c:ext>
              </c:extLst>
            </c:dLbl>
            <c:dLbl>
              <c:idx val="4"/>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PY"/>
                </a:p>
              </c:txPr>
              <c:showLegendKey val="0"/>
              <c:showVal val="1"/>
              <c:showCatName val="0"/>
              <c:showSerName val="0"/>
              <c:showPercent val="0"/>
              <c:showBubbleSize val="0"/>
              <c:extLst>
                <c:ext xmlns:c16="http://schemas.microsoft.com/office/drawing/2014/chart" uri="{C3380CC4-5D6E-409C-BE32-E72D297353CC}">
                  <c16:uniqueId val="{00000004-87D3-44A4-9A18-4C564CCC7ED1}"/>
                </c:ext>
              </c:extLst>
            </c:dLbl>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'g9-g10'!$B$2:$F$3</c:f>
              <c:multiLvlStrCache>
                <c:ptCount val="5"/>
                <c:lvl>
                  <c:pt idx="0">
                    <c:v>Título definitivo</c:v>
                  </c:pt>
                  <c:pt idx="1">
                    <c:v>Documento provisorio</c:v>
                  </c:pt>
                  <c:pt idx="2">
                    <c:v>Alquiladas  o en aparcería o mediería </c:v>
                  </c:pt>
                  <c:pt idx="3">
                    <c:v>Ocupante o por particion de hecho</c:v>
                  </c:pt>
                  <c:pt idx="4">
                    <c:v>Otra forma</c:v>
                  </c:pt>
                </c:lvl>
                <c:lvl>
                  <c:pt idx="0">
                    <c:v>Forma de tenencia: </c:v>
                  </c:pt>
                </c:lvl>
              </c:multiLvlStrCache>
            </c:multiLvlStrRef>
          </c:cat>
          <c:val>
            <c:numRef>
              <c:f>'g9-g10'!$B$4:$F$4</c:f>
              <c:numCache>
                <c:formatCode>#,##0_ </c:formatCode>
                <c:ptCount val="5"/>
                <c:pt idx="0">
                  <c:v>134912</c:v>
                </c:pt>
                <c:pt idx="1">
                  <c:v>64619</c:v>
                </c:pt>
                <c:pt idx="2">
                  <c:v>22456</c:v>
                </c:pt>
                <c:pt idx="3">
                  <c:v>77878</c:v>
                </c:pt>
                <c:pt idx="4">
                  <c:v>13854</c:v>
                </c:pt>
              </c:numCache>
            </c:numRef>
          </c:val>
          <c:extLst>
            <c:ext xmlns:c16="http://schemas.microsoft.com/office/drawing/2014/chart" uri="{C3380CC4-5D6E-409C-BE32-E72D297353CC}">
              <c16:uniqueId val="{00000000-994F-4204-ABB1-04F9D0DB9AAA}"/>
            </c:ext>
          </c:extLst>
        </c:ser>
        <c:ser>
          <c:idx val="1"/>
          <c:order val="1"/>
          <c:tx>
            <c:strRef>
              <c:f>'g9-g10'!$A$5</c:f>
              <c:strCache>
                <c:ptCount val="1"/>
                <c:pt idx="0">
                  <c:v>CAN 2022</c:v>
                </c:pt>
              </c:strCache>
            </c:strRef>
          </c:tx>
          <c:spPr>
            <a:solidFill>
              <a:schemeClr val="accent3">
                <a:lumMod val="50000"/>
              </a:schemeClr>
            </a:solidFill>
            <a:ln>
              <a:noFill/>
            </a:ln>
            <a:effectLst/>
          </c:spPr>
          <c:invertIfNegative val="0"/>
          <c:dLbls>
            <c:dLbl>
              <c:idx val="0"/>
              <c:layout>
                <c:manualLayout>
                  <c:x val="1.6051411026459636E-3"/>
                  <c:y val="-1.4357801343651027E-17"/>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7D3-44A4-9A18-4C564CCC7ED1}"/>
                </c:ext>
              </c:extLst>
            </c:dLbl>
            <c:dLbl>
              <c:idx val="1"/>
              <c:layout>
                <c:manualLayout>
                  <c:x val="3.2102822052919857E-3"/>
                  <c:y val="0.12843854300816535"/>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7D3-44A4-9A18-4C564CCC7ED1}"/>
                </c:ext>
              </c:extLst>
            </c:dLbl>
            <c:dLbl>
              <c:idx val="2"/>
              <c:layout>
                <c:manualLayout>
                  <c:x val="1.6051411026459341E-3"/>
                  <c:y val="1.5663236952215286E-2"/>
                </c:manualLayout>
              </c:layout>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7D3-44A4-9A18-4C564CCC7ED1}"/>
                </c:ext>
              </c:extLst>
            </c:dLbl>
            <c:dLbl>
              <c:idx val="3"/>
              <c:layout>
                <c:manualLayout>
                  <c:x val="3.8523386463503714E-2"/>
                  <c:y val="4.07244160757597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7D3-44A4-9A18-4C564CCC7ED1}"/>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'g9-g10'!$B$2:$F$3</c:f>
              <c:multiLvlStrCache>
                <c:ptCount val="5"/>
                <c:lvl>
                  <c:pt idx="0">
                    <c:v>Título definitivo</c:v>
                  </c:pt>
                  <c:pt idx="1">
                    <c:v>Documento provisorio</c:v>
                  </c:pt>
                  <c:pt idx="2">
                    <c:v>Alquiladas  o en aparcería o mediería </c:v>
                  </c:pt>
                  <c:pt idx="3">
                    <c:v>Ocupante o por particion de hecho</c:v>
                  </c:pt>
                  <c:pt idx="4">
                    <c:v>Otra forma</c:v>
                  </c:pt>
                </c:lvl>
                <c:lvl>
                  <c:pt idx="0">
                    <c:v>Forma de tenencia: </c:v>
                  </c:pt>
                </c:lvl>
              </c:multiLvlStrCache>
            </c:multiLvlStrRef>
          </c:cat>
          <c:val>
            <c:numRef>
              <c:f>'g9-g10'!$B$5:$F$5</c:f>
              <c:numCache>
                <c:formatCode>#,##0</c:formatCode>
                <c:ptCount val="5"/>
                <c:pt idx="0">
                  <c:v>160273</c:v>
                </c:pt>
                <c:pt idx="1">
                  <c:v>84965</c:v>
                </c:pt>
                <c:pt idx="2">
                  <c:v>8224</c:v>
                </c:pt>
                <c:pt idx="3">
                  <c:v>35535</c:v>
                </c:pt>
                <c:pt idx="4">
                  <c:v>20593</c:v>
                </c:pt>
              </c:numCache>
            </c:numRef>
          </c:val>
          <c:extLst>
            <c:ext xmlns:c16="http://schemas.microsoft.com/office/drawing/2014/chart" uri="{C3380CC4-5D6E-409C-BE32-E72D297353CC}">
              <c16:uniqueId val="{00000001-994F-4204-ABB1-04F9D0DB9AAA}"/>
            </c:ext>
          </c:extLst>
        </c:ser>
        <c:dLbls>
          <c:showLegendKey val="0"/>
          <c:showVal val="0"/>
          <c:showCatName val="0"/>
          <c:showSerName val="0"/>
          <c:showPercent val="0"/>
          <c:showBubbleSize val="0"/>
        </c:dLbls>
        <c:gapWidth val="300"/>
        <c:overlap val="-10"/>
        <c:axId val="211238272"/>
        <c:axId val="211265024"/>
      </c:barChart>
      <c:lineChart>
        <c:grouping val="standard"/>
        <c:varyColors val="0"/>
        <c:ser>
          <c:idx val="3"/>
          <c:order val="2"/>
          <c:tx>
            <c:strRef>
              <c:f>'g9-g10'!$A$7</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5.1364515284671772E-2"/>
                  <c:y val="1.25305895617721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59A-405F-8FA3-F23EEE4878F7}"/>
                </c:ext>
              </c:extLst>
            </c:dLbl>
            <c:dLbl>
              <c:idx val="1"/>
              <c:layout>
                <c:manualLayout>
                  <c:x val="-4.8154233079379792E-2"/>
                  <c:y val="-2.81938265139875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59A-405F-8FA3-F23EEE4878F7}"/>
                </c:ext>
              </c:extLst>
            </c:dLbl>
            <c:dLbl>
              <c:idx val="2"/>
              <c:layout>
                <c:manualLayout>
                  <c:x val="-1.4446269923813995E-2"/>
                  <c:y val="-4.07244160757597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59A-405F-8FA3-F23EEE4878F7}"/>
                </c:ext>
              </c:extLst>
            </c:dLbl>
            <c:dLbl>
              <c:idx val="3"/>
              <c:layout>
                <c:manualLayout>
                  <c:x val="-4.4943950874087923E-2"/>
                  <c:y val="-4.07244160757597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59A-405F-8FA3-F23EEE4878F7}"/>
                </c:ext>
              </c:extLst>
            </c:dLbl>
            <c:dLbl>
              <c:idx val="4"/>
              <c:layout>
                <c:manualLayout>
                  <c:x val="-5.7785079695255745E-2"/>
                  <c:y val="-9.397942171329172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9A-405F-8FA3-F23EEE4878F7}"/>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'g9-g10'!$B$2:$F$3</c:f>
              <c:multiLvlStrCache>
                <c:ptCount val="5"/>
                <c:lvl>
                  <c:pt idx="0">
                    <c:v>Título definitivo</c:v>
                  </c:pt>
                  <c:pt idx="1">
                    <c:v>Documento provisorio</c:v>
                  </c:pt>
                  <c:pt idx="2">
                    <c:v>Alquiladas  o en aparcería o mediería </c:v>
                  </c:pt>
                  <c:pt idx="3">
                    <c:v>Ocupante o por particion de hecho</c:v>
                  </c:pt>
                  <c:pt idx="4">
                    <c:v>Otra forma</c:v>
                  </c:pt>
                </c:lvl>
                <c:lvl>
                  <c:pt idx="0">
                    <c:v>Forma de tenencia: </c:v>
                  </c:pt>
                </c:lvl>
              </c:multiLvlStrCache>
            </c:multiLvlStrRef>
          </c:cat>
          <c:val>
            <c:numRef>
              <c:f>'g9-g10'!$B$7:$F$7</c:f>
              <c:numCache>
                <c:formatCode>#,##0.0_ </c:formatCode>
                <c:ptCount val="5"/>
                <c:pt idx="0">
                  <c:v>18.798179554079695</c:v>
                </c:pt>
                <c:pt idx="1">
                  <c:v>31.486095420851456</c:v>
                </c:pt>
                <c:pt idx="2">
                  <c:v>-63.377271107944424</c:v>
                </c:pt>
                <c:pt idx="3">
                  <c:v>-54.370939161252217</c:v>
                </c:pt>
                <c:pt idx="4">
                  <c:v>48.642991193879027</c:v>
                </c:pt>
              </c:numCache>
            </c:numRef>
          </c:val>
          <c:smooth val="0"/>
          <c:extLst>
            <c:ext xmlns:c16="http://schemas.microsoft.com/office/drawing/2014/chart" uri="{C3380CC4-5D6E-409C-BE32-E72D297353CC}">
              <c16:uniqueId val="{00000008-994F-4204-ABB1-04F9D0DB9AAA}"/>
            </c:ext>
          </c:extLst>
        </c:ser>
        <c:dLbls>
          <c:showLegendKey val="0"/>
          <c:showVal val="0"/>
          <c:showCatName val="0"/>
          <c:showSerName val="0"/>
          <c:showPercent val="0"/>
          <c:showBubbleSize val="0"/>
        </c:dLbls>
        <c:marker val="1"/>
        <c:smooth val="0"/>
        <c:axId val="211273984"/>
        <c:axId val="211266944"/>
      </c:lineChart>
      <c:catAx>
        <c:axId val="211238272"/>
        <c:scaling>
          <c:orientation val="minMax"/>
        </c:scaling>
        <c:delete val="0"/>
        <c:axPos val="b"/>
        <c:numFmt formatCode="General" sourceLinked="1"/>
        <c:majorTickMark val="none"/>
        <c:minorTickMark val="none"/>
        <c:tickLblPos val="nextTo"/>
        <c:spPr>
          <a:noFill/>
          <a:ln w="19050" cap="flat" cmpd="sng" algn="ctr">
            <a:solidFill>
              <a:schemeClr val="bg1">
                <a:lumMod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s-PY"/>
          </a:p>
        </c:txPr>
        <c:crossAx val="211265024"/>
        <c:crosses val="autoZero"/>
        <c:auto val="1"/>
        <c:lblAlgn val="ctr"/>
        <c:lblOffset val="100"/>
        <c:noMultiLvlLbl val="0"/>
      </c:catAx>
      <c:valAx>
        <c:axId val="211265024"/>
        <c:scaling>
          <c:orientation val="minMax"/>
          <c:max val="180000"/>
          <c:min val="0"/>
        </c:scaling>
        <c:delete val="0"/>
        <c:axPos val="l"/>
        <c:majorGridlines>
          <c:spPr>
            <a:ln w="9525" cap="flat" cmpd="sng" algn="ctr">
              <a:solidFill>
                <a:schemeClr val="bg1">
                  <a:lumMod val="85000"/>
                </a:schemeClr>
              </a:solidFill>
              <a:round/>
              <a:tailEnd type="none"/>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s-PY">
                    <a:solidFill>
                      <a:schemeClr val="tx1"/>
                    </a:solidFill>
                  </a:rPr>
                  <a:t>Cantidad de fincas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s-PY"/>
            </a:p>
          </c:txPr>
        </c:title>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s-PY"/>
          </a:p>
        </c:txPr>
        <c:crossAx val="211238272"/>
        <c:crosses val="autoZero"/>
        <c:crossBetween val="between"/>
        <c:majorUnit val="30000"/>
      </c:valAx>
      <c:valAx>
        <c:axId val="211266944"/>
        <c:scaling>
          <c:orientation val="minMax"/>
          <c:max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r>
                  <a:rPr lang="es-PY" dirty="0">
                    <a:solidFill>
                      <a:srgbClr val="002060"/>
                    </a:solidFill>
                  </a:rPr>
                  <a:t>Var (%)</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endParaRPr lang="es-PY"/>
            </a:p>
          </c:txPr>
        </c:title>
        <c:numFmt formatCode="#,##0.0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1273984"/>
        <c:crosses val="max"/>
        <c:crossBetween val="between"/>
        <c:majorUnit val="100"/>
        <c:minorUnit val="4"/>
      </c:valAx>
      <c:catAx>
        <c:axId val="211273984"/>
        <c:scaling>
          <c:orientation val="minMax"/>
        </c:scaling>
        <c:delete val="1"/>
        <c:axPos val="b"/>
        <c:numFmt formatCode="General" sourceLinked="1"/>
        <c:majorTickMark val="out"/>
        <c:minorTickMark val="none"/>
        <c:tickLblPos val="nextTo"/>
        <c:crossAx val="211266944"/>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60573535026522"/>
          <c:y val="8.4806201550387594E-2"/>
          <c:w val="0.78024505363458896"/>
          <c:h val="0.6826006632891819"/>
        </c:manualLayout>
      </c:layout>
      <c:barChart>
        <c:barDir val="col"/>
        <c:grouping val="clustered"/>
        <c:varyColors val="0"/>
        <c:ser>
          <c:idx val="0"/>
          <c:order val="0"/>
          <c:tx>
            <c:strRef>
              <c:f>'g11-G12'!$A$3</c:f>
              <c:strCache>
                <c:ptCount val="1"/>
                <c:pt idx="0">
                  <c:v>CAN 2008</c:v>
                </c:pt>
              </c:strCache>
            </c:strRef>
          </c:tx>
          <c:spPr>
            <a:solidFill>
              <a:srgbClr val="CC9900"/>
            </a:solidFill>
            <a:ln>
              <a:noFill/>
            </a:ln>
            <a:effectLst/>
          </c:spPr>
          <c:invertIfNegative val="0"/>
          <c:dLbls>
            <c:dLbl>
              <c:idx val="0"/>
              <c:layout>
                <c:manualLayout>
                  <c:x val="-3.1134544009474708E-3"/>
                  <c:y val="-6.3478399369953376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D1-4223-9C93-34E3ABB5C3A0}"/>
                </c:ext>
              </c:extLst>
            </c:dLbl>
            <c:dLbl>
              <c:idx val="4"/>
              <c:layout>
                <c:manualLayout>
                  <c:x val="-3.1134544009475849E-3"/>
                  <c:y val="-3.80874796067037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BD1-4223-9C93-34E3ABB5C3A0}"/>
                </c:ext>
              </c:extLst>
            </c:dLbl>
            <c:dLbl>
              <c:idx val="7"/>
              <c:layout>
                <c:manualLayout>
                  <c:x val="1.3365261727109716E-3"/>
                  <c:y val="3.462498146063984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BD1-4223-9C93-34E3ABB5C3A0}"/>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'g11-G12'!$B$2:$I$2</c:f>
              <c:strCache>
                <c:ptCount val="8"/>
                <c:pt idx="0">
                  <c:v>Cultivos temporales
</c:v>
                </c:pt>
                <c:pt idx="1">
                  <c:v>Cultivos permanentes</c:v>
                </c:pt>
                <c:pt idx="2">
                  <c:v>Pastura natural
(campo o ñú)</c:v>
                </c:pt>
                <c:pt idx="3">
                  <c:v>Pastura cultivada
para corte o pastoreo</c:v>
                </c:pt>
                <c:pt idx="4">
                  <c:v>Montes naturales </c:v>
                </c:pt>
                <c:pt idx="5">
                  <c:v>Árboles forestales plantados</c:v>
                </c:pt>
                <c:pt idx="6">
                  <c:v>Barbecho y/o en descanso (cocueré)</c:v>
                </c:pt>
                <c:pt idx="7">
                  <c:v>Otros Usos:   Vivienda, estanque para peces, pedregales, esterales, etc..</c:v>
                </c:pt>
              </c:strCache>
            </c:strRef>
          </c:cat>
          <c:val>
            <c:numRef>
              <c:f>'g11-G12'!$B$3:$I$3</c:f>
              <c:numCache>
                <c:formatCode>#,##0</c:formatCode>
                <c:ptCount val="8"/>
                <c:pt idx="0">
                  <c:v>3305172.89</c:v>
                </c:pt>
                <c:pt idx="1">
                  <c:v>60029.79</c:v>
                </c:pt>
                <c:pt idx="2">
                  <c:v>13387053.58</c:v>
                </c:pt>
                <c:pt idx="3">
                  <c:v>4450535.4800000004</c:v>
                </c:pt>
                <c:pt idx="4">
                  <c:v>7325245.6299999999</c:v>
                </c:pt>
                <c:pt idx="5">
                  <c:v>152207.93</c:v>
                </c:pt>
                <c:pt idx="6">
                  <c:v>472143</c:v>
                </c:pt>
                <c:pt idx="7">
                  <c:v>1934506</c:v>
                </c:pt>
              </c:numCache>
            </c:numRef>
          </c:val>
          <c:extLst>
            <c:ext xmlns:c16="http://schemas.microsoft.com/office/drawing/2014/chart" uri="{C3380CC4-5D6E-409C-BE32-E72D297353CC}">
              <c16:uniqueId val="{00000000-9D18-463C-BFAE-077499C15C43}"/>
            </c:ext>
          </c:extLst>
        </c:ser>
        <c:ser>
          <c:idx val="1"/>
          <c:order val="1"/>
          <c:tx>
            <c:strRef>
              <c:f>'g11-G12'!$A$4</c:f>
              <c:strCache>
                <c:ptCount val="1"/>
                <c:pt idx="0">
                  <c:v>CAN2022</c:v>
                </c:pt>
              </c:strCache>
            </c:strRef>
          </c:tx>
          <c:spPr>
            <a:solidFill>
              <a:schemeClr val="accent3">
                <a:lumMod val="50000"/>
              </a:schemeClr>
            </a:solidFill>
            <a:ln>
              <a:noFill/>
            </a:ln>
            <a:effectLst/>
          </c:spPr>
          <c:invertIfNegative val="0"/>
          <c:dLbls>
            <c:dLbl>
              <c:idx val="0"/>
              <c:layout>
                <c:manualLayout>
                  <c:x val="-2.8539668982660345E-17"/>
                  <c:y val="2.07749888763839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BD1-4223-9C93-34E3ABB5C3A0}"/>
                </c:ext>
              </c:extLst>
            </c:dLbl>
            <c:dLbl>
              <c:idx val="3"/>
              <c:layout>
                <c:manualLayout>
                  <c:x val="1.5347090771637222E-3"/>
                  <c:y val="6.92499629212796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BD1-4223-9C93-34E3ABB5C3A0}"/>
                </c:ext>
              </c:extLst>
            </c:dLbl>
            <c:dLbl>
              <c:idx val="4"/>
              <c:layout>
                <c:manualLayout>
                  <c:x val="-6.2269088018949417E-3"/>
                  <c:y val="-2.07749888763839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BD1-4223-9C93-34E3ABB5C3A0}"/>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'g11-G12'!$B$2:$I$2</c:f>
              <c:strCache>
                <c:ptCount val="8"/>
                <c:pt idx="0">
                  <c:v>Cultivos temporales
</c:v>
                </c:pt>
                <c:pt idx="1">
                  <c:v>Cultivos permanentes</c:v>
                </c:pt>
                <c:pt idx="2">
                  <c:v>Pastura natural
(campo o ñú)</c:v>
                </c:pt>
                <c:pt idx="3">
                  <c:v>Pastura cultivada
para corte o pastoreo</c:v>
                </c:pt>
                <c:pt idx="4">
                  <c:v>Montes naturales </c:v>
                </c:pt>
                <c:pt idx="5">
                  <c:v>Árboles forestales plantados</c:v>
                </c:pt>
                <c:pt idx="6">
                  <c:v>Barbecho y/o en descanso (cocueré)</c:v>
                </c:pt>
                <c:pt idx="7">
                  <c:v>Otros Usos:   Vivienda, estanque para peces, pedregales, esterales, etc..</c:v>
                </c:pt>
              </c:strCache>
            </c:strRef>
          </c:cat>
          <c:val>
            <c:numRef>
              <c:f>'g11-G12'!$B$4:$I$4</c:f>
              <c:numCache>
                <c:formatCode>#,##0</c:formatCode>
                <c:ptCount val="8"/>
                <c:pt idx="0">
                  <c:v>4185598.2712500333</c:v>
                </c:pt>
                <c:pt idx="1">
                  <c:v>82250.520000000659</c:v>
                </c:pt>
                <c:pt idx="2">
                  <c:v>10066624.638174975</c:v>
                </c:pt>
                <c:pt idx="3">
                  <c:v>6717521.2448500283</c:v>
                </c:pt>
                <c:pt idx="4">
                  <c:v>7206850.6104000201</c:v>
                </c:pt>
                <c:pt idx="5">
                  <c:v>277512.39499999862</c:v>
                </c:pt>
                <c:pt idx="6">
                  <c:v>375641.52569999744</c:v>
                </c:pt>
                <c:pt idx="7">
                  <c:v>1489661.2475250047</c:v>
                </c:pt>
              </c:numCache>
            </c:numRef>
          </c:val>
          <c:extLst>
            <c:ext xmlns:c16="http://schemas.microsoft.com/office/drawing/2014/chart" uri="{C3380CC4-5D6E-409C-BE32-E72D297353CC}">
              <c16:uniqueId val="{00000001-9D18-463C-BFAE-077499C15C43}"/>
            </c:ext>
          </c:extLst>
        </c:ser>
        <c:dLbls>
          <c:showLegendKey val="0"/>
          <c:showVal val="0"/>
          <c:showCatName val="0"/>
          <c:showSerName val="0"/>
          <c:showPercent val="0"/>
          <c:showBubbleSize val="0"/>
        </c:dLbls>
        <c:gapWidth val="200"/>
        <c:overlap val="-10"/>
        <c:axId val="176576768"/>
        <c:axId val="176595328"/>
      </c:barChart>
      <c:lineChart>
        <c:grouping val="standard"/>
        <c:varyColors val="0"/>
        <c:ser>
          <c:idx val="3"/>
          <c:order val="2"/>
          <c:tx>
            <c:strRef>
              <c:f>'g11-G12'!$A$6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4.8314244213762951E-2"/>
                  <c:y val="-5.8423609178894897E-17"/>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C79-42ED-8CA0-A001EDF99FD7}"/>
                </c:ext>
              </c:extLst>
            </c:dLbl>
            <c:dLbl>
              <c:idx val="1"/>
              <c:layout>
                <c:manualLayout>
                  <c:x val="-3.7745503292002304E-2"/>
                  <c:y val="-2.23074539265761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C79-42ED-8CA0-A001EDF99FD7}"/>
                </c:ext>
              </c:extLst>
            </c:dLbl>
            <c:dLbl>
              <c:idx val="2"/>
              <c:layout>
                <c:manualLayout>
                  <c:x val="-4.8314244213762951E-2"/>
                  <c:y val="2.549423305894412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C79-42ED-8CA0-A001EDF99FD7}"/>
                </c:ext>
              </c:extLst>
            </c:dLbl>
            <c:dLbl>
              <c:idx val="3"/>
              <c:layout>
                <c:manualLayout>
                  <c:x val="-4.5294603950402822E-2"/>
                  <c:y val="-2.868101219131213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C79-42ED-8CA0-A001EDF99FD7}"/>
                </c:ext>
              </c:extLst>
            </c:dLbl>
            <c:dLbl>
              <c:idx val="4"/>
              <c:layout>
                <c:manualLayout>
                  <c:x val="-4.8314244213762951E-2"/>
                  <c:y val="2.549423305894412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C79-42ED-8CA0-A001EDF99FD7}"/>
                </c:ext>
              </c:extLst>
            </c:dLbl>
            <c:dLbl>
              <c:idx val="5"/>
              <c:layout>
                <c:manualLayout>
                  <c:x val="-5.5863344872163413E-2"/>
                  <c:y val="-6.3735582647360452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C79-42ED-8CA0-A001EDF99FD7}"/>
                </c:ext>
              </c:extLst>
            </c:dLbl>
            <c:dLbl>
              <c:idx val="6"/>
              <c:layout>
                <c:manualLayout>
                  <c:x val="-5.5863344872163524E-2"/>
                  <c:y val="1.274711652947200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C79-42ED-8CA0-A001EDF99FD7}"/>
                </c:ext>
              </c:extLst>
            </c:dLbl>
            <c:dLbl>
              <c:idx val="7"/>
              <c:layout>
                <c:manualLayout>
                  <c:x val="-3.6235683160322212E-2"/>
                  <c:y val="-2.868101219131213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C79-42ED-8CA0-A001EDF99FD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'g11-G12'!$B$2:$I$2</c:f>
              <c:strCache>
                <c:ptCount val="8"/>
                <c:pt idx="0">
                  <c:v>Cultivos temporales
</c:v>
                </c:pt>
                <c:pt idx="1">
                  <c:v>Cultivos permanentes</c:v>
                </c:pt>
                <c:pt idx="2">
                  <c:v>Pastura natural
(campo o ñú)</c:v>
                </c:pt>
                <c:pt idx="3">
                  <c:v>Pastura cultivada
para corte o pastoreo</c:v>
                </c:pt>
                <c:pt idx="4">
                  <c:v>Montes naturales </c:v>
                </c:pt>
                <c:pt idx="5">
                  <c:v>Árboles forestales plantados</c:v>
                </c:pt>
                <c:pt idx="6">
                  <c:v>Barbecho y/o en descanso (cocueré)</c:v>
                </c:pt>
                <c:pt idx="7">
                  <c:v>Otros Usos:   Vivienda, estanque para peces, pedregales, esterales, etc..</c:v>
                </c:pt>
              </c:strCache>
            </c:strRef>
          </c:cat>
          <c:val>
            <c:numRef>
              <c:f>'g11-G12'!$B$6:$I$6</c:f>
              <c:numCache>
                <c:formatCode>0.0</c:formatCode>
                <c:ptCount val="8"/>
                <c:pt idx="0">
                  <c:v>26.637801124226002</c:v>
                </c:pt>
                <c:pt idx="1">
                  <c:v>37.016171470865828</c:v>
                </c:pt>
                <c:pt idx="2">
                  <c:v>-24.803284172894337</c:v>
                </c:pt>
                <c:pt idx="3">
                  <c:v>50.937370908231202</c:v>
                </c:pt>
                <c:pt idx="4">
                  <c:v>-1.6162600625308983</c:v>
                </c:pt>
                <c:pt idx="5">
                  <c:v>82.324531317125604</c:v>
                </c:pt>
                <c:pt idx="6">
                  <c:v>-20.439035271094269</c:v>
                </c:pt>
                <c:pt idx="7">
                  <c:v>-22.995263518179598</c:v>
                </c:pt>
              </c:numCache>
            </c:numRef>
          </c:val>
          <c:smooth val="0"/>
          <c:extLst>
            <c:ext xmlns:c16="http://schemas.microsoft.com/office/drawing/2014/chart" uri="{C3380CC4-5D6E-409C-BE32-E72D297353CC}">
              <c16:uniqueId val="{00000005-9D18-463C-BFAE-077499C15C43}"/>
            </c:ext>
          </c:extLst>
        </c:ser>
        <c:dLbls>
          <c:showLegendKey val="0"/>
          <c:showVal val="0"/>
          <c:showCatName val="0"/>
          <c:showSerName val="0"/>
          <c:showPercent val="0"/>
          <c:showBubbleSize val="0"/>
        </c:dLbls>
        <c:marker val="1"/>
        <c:smooth val="0"/>
        <c:axId val="189338368"/>
        <c:axId val="176597248"/>
      </c:lineChart>
      <c:catAx>
        <c:axId val="176576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s-PY"/>
          </a:p>
        </c:txPr>
        <c:crossAx val="176595328"/>
        <c:crosses val="autoZero"/>
        <c:auto val="1"/>
        <c:lblAlgn val="ctr"/>
        <c:lblOffset val="100"/>
        <c:noMultiLvlLbl val="0"/>
      </c:catAx>
      <c:valAx>
        <c:axId val="176595328"/>
        <c:scaling>
          <c:orientation val="minMax"/>
          <c:max val="150000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r>
                  <a:rPr lang="es-PY" sz="900" dirty="0">
                    <a:solidFill>
                      <a:sysClr val="windowText" lastClr="000000"/>
                    </a:solidFill>
                  </a:rPr>
                  <a:t>Superficie</a:t>
                </a:r>
                <a:r>
                  <a:rPr lang="es-PY" sz="900" baseline="0" dirty="0">
                    <a:solidFill>
                      <a:sysClr val="windowText" lastClr="000000"/>
                    </a:solidFill>
                  </a:rPr>
                  <a:t> (ha)</a:t>
                </a:r>
                <a:endParaRPr lang="es-PY" sz="900" dirty="0">
                  <a:solidFill>
                    <a:sysClr val="windowText" lastClr="000000"/>
                  </a:solidFill>
                </a:endParaRPr>
              </a:p>
            </c:rich>
          </c:tx>
          <c:layout>
            <c:manualLayout>
              <c:xMode val="edge"/>
              <c:yMode val="edge"/>
              <c:x val="2.1048540090557375E-2"/>
              <c:y val="0.31859726838886415"/>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PY"/>
          </a:p>
        </c:txPr>
        <c:crossAx val="176576768"/>
        <c:crosses val="autoZero"/>
        <c:crossBetween val="between"/>
      </c:valAx>
      <c:valAx>
        <c:axId val="176597248"/>
        <c:scaling>
          <c:orientation val="minMax"/>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r>
                  <a:rPr lang="es-PY" sz="900" b="0">
                    <a:solidFill>
                      <a:sysClr val="windowText" lastClr="000000"/>
                    </a:solidFill>
                  </a:rPr>
                  <a:t>Var (%)</a:t>
                </a:r>
              </a:p>
            </c:rich>
          </c:tx>
          <c:overlay val="0"/>
          <c:spPr>
            <a:noFill/>
            <a:ln>
              <a:noFill/>
            </a:ln>
            <a:effectLst/>
          </c:spPr>
          <c:txPr>
            <a:bodyPr rot="-54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89338368"/>
        <c:crosses val="max"/>
        <c:crossBetween val="between"/>
        <c:majorUnit val="100"/>
      </c:valAx>
      <c:catAx>
        <c:axId val="189338368"/>
        <c:scaling>
          <c:orientation val="minMax"/>
        </c:scaling>
        <c:delete val="1"/>
        <c:axPos val="b"/>
        <c:numFmt formatCode="General" sourceLinked="1"/>
        <c:majorTickMark val="out"/>
        <c:minorTickMark val="none"/>
        <c:tickLblPos val="nextTo"/>
        <c:crossAx val="176597248"/>
        <c:crosses val="autoZero"/>
        <c:auto val="1"/>
        <c:lblAlgn val="ctr"/>
        <c:lblOffset val="100"/>
        <c:noMultiLvlLbl val="0"/>
      </c:catAx>
      <c:spPr>
        <a:noFill/>
        <a:ln>
          <a:noFill/>
        </a:ln>
        <a:effectLst/>
      </c:spPr>
    </c:plotArea>
    <c:legend>
      <c:legendPos val="b"/>
      <c:legendEntry>
        <c:idx val="2"/>
        <c:delete val="1"/>
      </c:legendEntry>
      <c:layout>
        <c:manualLayout>
          <c:xMode val="edge"/>
          <c:yMode val="edge"/>
          <c:x val="0.30324262198976421"/>
          <c:y val="0.93844455952855388"/>
          <c:w val="0.4049046576489948"/>
          <c:h val="5.160700904062985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PY"/>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128604122834934"/>
          <c:y val="2.0076501096573281E-2"/>
          <c:w val="0.77450918924177137"/>
          <c:h val="0.80147562498920699"/>
        </c:manualLayout>
      </c:layout>
      <c:barChart>
        <c:barDir val="col"/>
        <c:grouping val="clustered"/>
        <c:varyColors val="0"/>
        <c:ser>
          <c:idx val="0"/>
          <c:order val="0"/>
          <c:tx>
            <c:strRef>
              <c:f>'para ppt(no vol1)'!$G$3</c:f>
              <c:strCache>
                <c:ptCount val="1"/>
                <c:pt idx="0">
                  <c:v>CAN 2008</c:v>
                </c:pt>
              </c:strCache>
            </c:strRef>
          </c:tx>
          <c:spPr>
            <a:solidFill>
              <a:srgbClr val="CC9900"/>
            </a:solidFill>
            <a:ln>
              <a:noFill/>
            </a:ln>
            <a:effectLst/>
          </c:spPr>
          <c:invertIfNegative val="0"/>
          <c:dLbls>
            <c:dLbl>
              <c:idx val="0"/>
              <c:layout>
                <c:manualLayout>
                  <c:x val="-3.230543542766673E-3"/>
                  <c:y val="-1.675300936360395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41F-4E1E-AFBC-F755BBF7188A}"/>
                </c:ext>
              </c:extLst>
            </c:dLbl>
            <c:spPr>
              <a:noFill/>
              <a:ln>
                <a:noFill/>
              </a:ln>
              <a:effectLst/>
            </c:spPr>
            <c:txPr>
              <a:bodyPr rot="-5400000" vert="horz" wrap="square" lIns="38100" tIns="19050" rIns="38100" bIns="19050" anchor="ctr">
                <a:spAutoFit/>
              </a:bodyPr>
              <a:lstStyle/>
              <a:p>
                <a:pPr>
                  <a:defRPr sz="900"/>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'para ppt(no vol1)'!$H$2:$K$2</c:f>
              <c:strCache>
                <c:ptCount val="4"/>
                <c:pt idx="0">
                  <c:v>Soja zafra normal</c:v>
                </c:pt>
                <c:pt idx="1">
                  <c:v>Soja zafriña</c:v>
                </c:pt>
                <c:pt idx="2">
                  <c:v>Maíz zafra normal (Tupi pyta, híbrido)</c:v>
                </c:pt>
                <c:pt idx="3">
                  <c:v>Maíz zafriña (Tupi pyta, híbrido)</c:v>
                </c:pt>
              </c:strCache>
            </c:strRef>
          </c:cat>
          <c:val>
            <c:numRef>
              <c:f>'para ppt(no vol1)'!$H$3:$K$3</c:f>
              <c:numCache>
                <c:formatCode>#,##0</c:formatCode>
                <c:ptCount val="4"/>
                <c:pt idx="0">
                  <c:v>2238778</c:v>
                </c:pt>
                <c:pt idx="1">
                  <c:v>224732</c:v>
                </c:pt>
                <c:pt idx="2">
                  <c:v>296434.24999999633</c:v>
                </c:pt>
                <c:pt idx="3">
                  <c:v>472469.07000000024</c:v>
                </c:pt>
              </c:numCache>
            </c:numRef>
          </c:val>
          <c:extLst>
            <c:ext xmlns:c16="http://schemas.microsoft.com/office/drawing/2014/chart" uri="{C3380CC4-5D6E-409C-BE32-E72D297353CC}">
              <c16:uniqueId val="{00000000-941F-4E1E-AFBC-F755BBF7188A}"/>
            </c:ext>
          </c:extLst>
        </c:ser>
        <c:ser>
          <c:idx val="1"/>
          <c:order val="1"/>
          <c:tx>
            <c:strRef>
              <c:f>'para ppt(no vol1)'!$G$4</c:f>
              <c:strCache>
                <c:ptCount val="1"/>
                <c:pt idx="0">
                  <c:v>CAN 2022</c:v>
                </c:pt>
              </c:strCache>
            </c:strRef>
          </c:tx>
          <c:spPr>
            <a:solidFill>
              <a:schemeClr val="accent3">
                <a:lumMod val="50000"/>
              </a:schemeClr>
            </a:solidFill>
            <a:ln>
              <a:noFill/>
            </a:ln>
            <a:effectLst/>
          </c:spPr>
          <c:invertIfNegative val="0"/>
          <c:dLbls>
            <c:dLbl>
              <c:idx val="0"/>
              <c:layout>
                <c:manualLayout>
                  <c:x val="0"/>
                  <c:y val="0.1242783051179176"/>
                </c:manualLayout>
              </c:layout>
              <c:spPr>
                <a:noFill/>
                <a:ln>
                  <a:noFill/>
                </a:ln>
                <a:effectLst/>
              </c:spPr>
              <c:txPr>
                <a:bodyPr rot="-5400000" vert="horz" wrap="square" lIns="38100" tIns="19050" rIns="38100" bIns="19050" anchor="ctr">
                  <a:spAutoFit/>
                </a:bodyPr>
                <a:lstStyle/>
                <a:p>
                  <a:pPr>
                    <a:defRPr sz="900">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41F-4E1E-AFBC-F755BBF7188A}"/>
                </c:ext>
              </c:extLst>
            </c:dLbl>
            <c:dLbl>
              <c:idx val="3"/>
              <c:layout>
                <c:manualLayout>
                  <c:x val="-1.1845189486838059E-16"/>
                  <c:y val="0.14620977072696181"/>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41F-4E1E-AFBC-F755BBF7188A}"/>
                </c:ext>
              </c:extLst>
            </c:dLbl>
            <c:spPr>
              <a:noFill/>
              <a:ln>
                <a:noFill/>
              </a:ln>
              <a:effectLst/>
            </c:spPr>
            <c:txPr>
              <a:bodyPr rot="-5400000" vert="horz" wrap="square" lIns="38100" tIns="19050" rIns="38100" bIns="19050" anchor="ctr">
                <a:spAutoFit/>
              </a:bodyPr>
              <a:lstStyle/>
              <a:p>
                <a:pPr>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'para ppt(no vol1)'!$H$2:$K$2</c:f>
              <c:strCache>
                <c:ptCount val="4"/>
                <c:pt idx="0">
                  <c:v>Soja zafra normal</c:v>
                </c:pt>
                <c:pt idx="1">
                  <c:v>Soja zafriña</c:v>
                </c:pt>
                <c:pt idx="2">
                  <c:v>Maíz zafra normal (Tupi pyta, híbrido)</c:v>
                </c:pt>
                <c:pt idx="3">
                  <c:v>Maíz zafriña (Tupi pyta, híbrido)</c:v>
                </c:pt>
              </c:strCache>
            </c:strRef>
          </c:cat>
          <c:val>
            <c:numRef>
              <c:f>'para ppt(no vol1)'!$H$4:$K$4</c:f>
              <c:numCache>
                <c:formatCode>#,##0</c:formatCode>
                <c:ptCount val="4"/>
                <c:pt idx="0">
                  <c:v>3062086</c:v>
                </c:pt>
                <c:pt idx="1">
                  <c:v>477722</c:v>
                </c:pt>
                <c:pt idx="2">
                  <c:v>229120</c:v>
                </c:pt>
                <c:pt idx="3">
                  <c:v>963090</c:v>
                </c:pt>
              </c:numCache>
            </c:numRef>
          </c:val>
          <c:extLst>
            <c:ext xmlns:c16="http://schemas.microsoft.com/office/drawing/2014/chart" uri="{C3380CC4-5D6E-409C-BE32-E72D297353CC}">
              <c16:uniqueId val="{00000001-941F-4E1E-AFBC-F755BBF7188A}"/>
            </c:ext>
          </c:extLst>
        </c:ser>
        <c:dLbls>
          <c:showLegendKey val="0"/>
          <c:showVal val="0"/>
          <c:showCatName val="0"/>
          <c:showSerName val="0"/>
          <c:showPercent val="0"/>
          <c:showBubbleSize val="0"/>
        </c:dLbls>
        <c:gapWidth val="500"/>
        <c:overlap val="-10"/>
        <c:axId val="203121792"/>
        <c:axId val="203123712"/>
      </c:barChart>
      <c:lineChart>
        <c:grouping val="standard"/>
        <c:varyColors val="0"/>
        <c:ser>
          <c:idx val="3"/>
          <c:order val="2"/>
          <c:tx>
            <c:strRef>
              <c:f>'para ppt(no vol1)'!$G$6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7.7102645052041008E-2"/>
                  <c:y val="2.29716272456727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41F-4E1E-AFBC-F755BBF7188A}"/>
                </c:ext>
              </c:extLst>
            </c:dLbl>
            <c:dLbl>
              <c:idx val="1"/>
              <c:layout>
                <c:manualLayout>
                  <c:x val="-8.3994132111933503E-2"/>
                  <c:y val="7.310488536348098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41F-4E1E-AFBC-F755BBF7188A}"/>
                </c:ext>
              </c:extLst>
            </c:dLbl>
            <c:dLbl>
              <c:idx val="2"/>
              <c:layout>
                <c:manualLayout>
                  <c:x val="-6.945668616948358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41F-4E1E-AFBC-F755BBF7188A}"/>
                </c:ext>
              </c:extLst>
            </c:dLbl>
            <c:dLbl>
              <c:idx val="3"/>
              <c:layout>
                <c:manualLayout>
                  <c:x val="-7.4302501483633598E-2"/>
                  <c:y val="-3.655244268174055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41F-4E1E-AFBC-F755BBF7188A}"/>
                </c:ext>
              </c:extLst>
            </c:dLbl>
            <c:spPr>
              <a:noFill/>
              <a:ln>
                <a:noFill/>
              </a:ln>
              <a:effectLst/>
            </c:spPr>
            <c:txPr>
              <a:bodyPr wrap="square" lIns="38100" tIns="19050" rIns="38100" bIns="19050" anchor="ctr">
                <a:spAutoFit/>
              </a:bodyPr>
              <a:lstStyle/>
              <a:p>
                <a:pPr>
                  <a:defRPr sz="900" b="1"/>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'para ppt(no vol1)'!$H$2:$K$2</c:f>
              <c:strCache>
                <c:ptCount val="4"/>
                <c:pt idx="0">
                  <c:v>Soja zafra normal</c:v>
                </c:pt>
                <c:pt idx="1">
                  <c:v>Soja zafriña</c:v>
                </c:pt>
                <c:pt idx="2">
                  <c:v>Maíz zafra normal (Tupi pyta, híbrido)</c:v>
                </c:pt>
                <c:pt idx="3">
                  <c:v>Maíz zafriña (Tupi pyta, híbrido)</c:v>
                </c:pt>
              </c:strCache>
            </c:strRef>
          </c:cat>
          <c:val>
            <c:numRef>
              <c:f>'para ppt(no vol1)'!$H$6:$K$6</c:f>
              <c:numCache>
                <c:formatCode>0.0</c:formatCode>
                <c:ptCount val="4"/>
                <c:pt idx="0">
                  <c:v>36.774883440877097</c:v>
                </c:pt>
                <c:pt idx="1">
                  <c:v>112.574088247335</c:v>
                </c:pt>
                <c:pt idx="2">
                  <c:v>-22.707986678326499</c:v>
                </c:pt>
                <c:pt idx="3">
                  <c:v>103.84191498503799</c:v>
                </c:pt>
              </c:numCache>
            </c:numRef>
          </c:val>
          <c:smooth val="0"/>
          <c:extLst>
            <c:ext xmlns:c16="http://schemas.microsoft.com/office/drawing/2014/chart" uri="{C3380CC4-5D6E-409C-BE32-E72D297353CC}">
              <c16:uniqueId val="{00000003-941F-4E1E-AFBC-F755BBF7188A}"/>
            </c:ext>
          </c:extLst>
        </c:ser>
        <c:dLbls>
          <c:showLegendKey val="0"/>
          <c:showVal val="0"/>
          <c:showCatName val="0"/>
          <c:showSerName val="0"/>
          <c:showPercent val="0"/>
          <c:showBubbleSize val="0"/>
        </c:dLbls>
        <c:marker val="1"/>
        <c:smooth val="0"/>
        <c:axId val="203144192"/>
        <c:axId val="203142272"/>
      </c:lineChart>
      <c:catAx>
        <c:axId val="203121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s-PY"/>
          </a:p>
        </c:txPr>
        <c:crossAx val="203123712"/>
        <c:crosses val="autoZero"/>
        <c:auto val="1"/>
        <c:lblAlgn val="ctr"/>
        <c:lblOffset val="100"/>
        <c:noMultiLvlLbl val="0"/>
      </c:catAx>
      <c:valAx>
        <c:axId val="203123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s-PY">
                    <a:solidFill>
                      <a:schemeClr val="tx1"/>
                    </a:solidFill>
                  </a:rPr>
                  <a:t>Superficie</a:t>
                </a:r>
                <a:r>
                  <a:rPr lang="es-PY" baseline="0">
                    <a:solidFill>
                      <a:schemeClr val="tx1"/>
                    </a:solidFill>
                  </a:rPr>
                  <a:t> (ha)</a:t>
                </a:r>
                <a:endParaRPr lang="es-PY">
                  <a:solidFill>
                    <a:schemeClr val="tx1"/>
                  </a:solidFill>
                </a:endParaRPr>
              </a:p>
            </c:rich>
          </c:tx>
          <c:layout>
            <c:manualLayout>
              <c:xMode val="edge"/>
              <c:yMode val="edge"/>
              <c:x val="2.5917923627384612E-2"/>
              <c:y val="0.38181329870764047"/>
            </c:manualLayout>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3121792"/>
        <c:crosses val="autoZero"/>
        <c:crossBetween val="between"/>
      </c:valAx>
      <c:valAx>
        <c:axId val="203142272"/>
        <c:scaling>
          <c:orientation val="minMax"/>
          <c:max val="120"/>
          <c:min val="-12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sz="1000" b="1">
                    <a:solidFill>
                      <a:sysClr val="windowText" lastClr="000000"/>
                    </a:solidFill>
                  </a:rPr>
                  <a:t>Var (%)</a:t>
                </a:r>
              </a:p>
            </c:rich>
          </c:tx>
          <c:overlay val="0"/>
          <c:spPr>
            <a:noFill/>
            <a:ln>
              <a:noFill/>
            </a:ln>
            <a:effectLst/>
          </c:sp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3144192"/>
        <c:crosses val="max"/>
        <c:crossBetween val="between"/>
        <c:majorUnit val="120"/>
      </c:valAx>
      <c:catAx>
        <c:axId val="203144192"/>
        <c:scaling>
          <c:orientation val="minMax"/>
        </c:scaling>
        <c:delete val="1"/>
        <c:axPos val="b"/>
        <c:numFmt formatCode="General" sourceLinked="1"/>
        <c:majorTickMark val="out"/>
        <c:minorTickMark val="none"/>
        <c:tickLblPos val="nextTo"/>
        <c:crossAx val="203142272"/>
        <c:crosses val="autoZero"/>
        <c:auto val="1"/>
        <c:lblAlgn val="ctr"/>
        <c:lblOffset val="100"/>
        <c:noMultiLvlLbl val="0"/>
      </c:catAx>
      <c:spPr>
        <a:noFill/>
        <a:ln>
          <a:noFill/>
        </a:ln>
        <a:effectLst/>
      </c:spPr>
    </c:plotArea>
    <c:legend>
      <c:legendPos val="b"/>
      <c:legendEntry>
        <c:idx val="2"/>
        <c:delete val="1"/>
      </c:legendEntry>
      <c:layout>
        <c:manualLayout>
          <c:xMode val="edge"/>
          <c:yMode val="edge"/>
          <c:x val="0.39106162020152996"/>
          <c:y val="0.91484863834955643"/>
          <c:w val="0.21787663241018643"/>
          <c:h val="7.0530384577747338E-2"/>
        </c:manualLayout>
      </c:layout>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36551593591165"/>
          <c:y val="8.4499184884123377E-2"/>
          <c:w val="0.79365140175562021"/>
          <c:h val="0.72531363026096296"/>
        </c:manualLayout>
      </c:layout>
      <c:barChart>
        <c:barDir val="col"/>
        <c:grouping val="clustered"/>
        <c:varyColors val="0"/>
        <c:ser>
          <c:idx val="0"/>
          <c:order val="0"/>
          <c:tx>
            <c:strRef>
              <c:f>'para ppt trigo'!$I$3</c:f>
              <c:strCache>
                <c:ptCount val="1"/>
                <c:pt idx="0">
                  <c:v>CAN 2008</c:v>
                </c:pt>
              </c:strCache>
            </c:strRef>
          </c:tx>
          <c:spPr>
            <a:solidFill>
              <a:srgbClr val="CC9900"/>
            </a:solidFill>
            <a:ln>
              <a:noFill/>
            </a:ln>
            <a:effectLst/>
          </c:spPr>
          <c:invertIfNegative val="0"/>
          <c:dLbls>
            <c:dLbl>
              <c:idx val="0"/>
              <c:layout>
                <c:manualLayout>
                  <c:x val="-1.5831041156468776E-3"/>
                  <c:y val="6.41130651573003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D00-4370-8308-48D7DE8BB13D}"/>
                </c:ext>
              </c:extLst>
            </c:dLbl>
            <c:dLbl>
              <c:idx val="3"/>
              <c:layout>
                <c:manualLayout>
                  <c:x val="1.5831041156468776E-3"/>
                  <c:y val="0.14542610073172191"/>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D00-4370-8308-48D7DE8BB13D}"/>
                </c:ext>
              </c:extLst>
            </c:dLbl>
            <c:spPr>
              <a:noFill/>
              <a:ln>
                <a:noFill/>
              </a:ln>
              <a:effectLst/>
            </c:spPr>
            <c:txPr>
              <a:bodyPr rot="-5400000" vert="horz" wrap="square" lIns="38100" tIns="19050" rIns="38100" bIns="19050" anchor="ctr">
                <a:spAutoFit/>
              </a:bodyPr>
              <a:lstStyle/>
              <a:p>
                <a:pPr>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'para ppt trigo'!$J$2:$M$2</c:f>
              <c:strCache>
                <c:ptCount val="4"/>
                <c:pt idx="0">
                  <c:v>Trigo</c:v>
                </c:pt>
                <c:pt idx="1">
                  <c:v>Arroz con riego</c:v>
                </c:pt>
                <c:pt idx="2">
                  <c:v>Caña de azúcar para uso industrial</c:v>
                </c:pt>
                <c:pt idx="3">
                  <c:v>Mandioca</c:v>
                </c:pt>
              </c:strCache>
            </c:strRef>
          </c:cat>
          <c:val>
            <c:numRef>
              <c:f>'para ppt trigo'!$J$3:$M$3</c:f>
              <c:numCache>
                <c:formatCode>#,##0</c:formatCode>
                <c:ptCount val="4"/>
                <c:pt idx="0">
                  <c:v>381028</c:v>
                </c:pt>
                <c:pt idx="1">
                  <c:v>33870</c:v>
                </c:pt>
                <c:pt idx="2">
                  <c:v>81885.220000000176</c:v>
                </c:pt>
                <c:pt idx="3">
                  <c:v>170694</c:v>
                </c:pt>
              </c:numCache>
            </c:numRef>
          </c:val>
          <c:extLst>
            <c:ext xmlns:c16="http://schemas.microsoft.com/office/drawing/2014/chart" uri="{C3380CC4-5D6E-409C-BE32-E72D297353CC}">
              <c16:uniqueId val="{00000001-2D00-4370-8308-48D7DE8BB13D}"/>
            </c:ext>
          </c:extLst>
        </c:ser>
        <c:ser>
          <c:idx val="1"/>
          <c:order val="1"/>
          <c:tx>
            <c:strRef>
              <c:f>'para ppt trigo'!$I$4</c:f>
              <c:strCache>
                <c:ptCount val="1"/>
                <c:pt idx="0">
                  <c:v>CAN 2022</c:v>
                </c:pt>
              </c:strCache>
            </c:strRef>
          </c:tx>
          <c:spPr>
            <a:solidFill>
              <a:schemeClr val="accent3">
                <a:lumMod val="50000"/>
              </a:schemeClr>
            </a:solidFill>
            <a:ln>
              <a:noFill/>
            </a:ln>
            <a:effectLst/>
          </c:spPr>
          <c:invertIfNegative val="0"/>
          <c:dLbls>
            <c:dLbl>
              <c:idx val="0"/>
              <c:layout>
                <c:manualLayout>
                  <c:x val="0"/>
                  <c:y val="0.123854623371882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00-4370-8308-48D7DE8BB13D}"/>
                </c:ext>
              </c:extLst>
            </c:dLbl>
            <c:dLbl>
              <c:idx val="1"/>
              <c:layout>
                <c:manualLayout>
                  <c:x val="-5.804648034915788E-17"/>
                  <c:y val="0.1602826628932509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D00-4370-8308-48D7DE8BB13D}"/>
                </c:ext>
              </c:extLst>
            </c:dLbl>
            <c:dLbl>
              <c:idx val="2"/>
              <c:spPr>
                <a:noFill/>
                <a:ln>
                  <a:noFill/>
                </a:ln>
                <a:effectLst/>
              </c:spPr>
              <c:txPr>
                <a:bodyPr rot="-5400000" vert="horz" wrap="square" lIns="38100" tIns="19050" rIns="38100" bIns="19050" anchor="ctr">
                  <a:spAutoFit/>
                </a:bodyPr>
                <a:lstStyle/>
                <a:p>
                  <a:pPr>
                    <a:defRPr sz="1100">
                      <a:solidFill>
                        <a:sysClr val="windowText" lastClr="000000"/>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D00-4370-8308-48D7DE8BB13D}"/>
                </c:ext>
              </c:extLst>
            </c:dLbl>
            <c:dLbl>
              <c:idx val="3"/>
              <c:layout>
                <c:manualLayout>
                  <c:x val="1.7187275233495392E-3"/>
                  <c:y val="0.1530088589616057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D00-4370-8308-48D7DE8BB13D}"/>
                </c:ext>
              </c:extLst>
            </c:dLbl>
            <c:spPr>
              <a:noFill/>
              <a:ln>
                <a:noFill/>
              </a:ln>
              <a:effectLst/>
            </c:spPr>
            <c:txPr>
              <a:bodyPr rot="-5400000" vert="horz" wrap="square" lIns="38100" tIns="19050" rIns="38100" bIns="19050" anchor="ctr">
                <a:spAutoFit/>
              </a:bodyPr>
              <a:lstStyle/>
              <a:p>
                <a:pPr>
                  <a:defRPr sz="1100">
                    <a:solidFill>
                      <a:schemeClr val="bg1"/>
                    </a:solidFill>
                  </a:defRPr>
                </a:pPr>
                <a:endParaRPr lang="es-PY"/>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'para ppt trigo'!$J$2:$M$2</c:f>
              <c:strCache>
                <c:ptCount val="4"/>
                <c:pt idx="0">
                  <c:v>Trigo</c:v>
                </c:pt>
                <c:pt idx="1">
                  <c:v>Arroz con riego</c:v>
                </c:pt>
                <c:pt idx="2">
                  <c:v>Caña de azúcar para uso industrial</c:v>
                </c:pt>
                <c:pt idx="3">
                  <c:v>Mandioca</c:v>
                </c:pt>
              </c:strCache>
            </c:strRef>
          </c:cat>
          <c:val>
            <c:numRef>
              <c:f>'para ppt trigo'!$J$4:$M$4</c:f>
              <c:numCache>
                <c:formatCode>#,##0</c:formatCode>
                <c:ptCount val="4"/>
                <c:pt idx="0">
                  <c:v>433144</c:v>
                </c:pt>
                <c:pt idx="1">
                  <c:v>205744</c:v>
                </c:pt>
                <c:pt idx="2">
                  <c:v>90333</c:v>
                </c:pt>
                <c:pt idx="3">
                  <c:v>155439</c:v>
                </c:pt>
              </c:numCache>
            </c:numRef>
          </c:val>
          <c:extLst>
            <c:ext xmlns:c16="http://schemas.microsoft.com/office/drawing/2014/chart" uri="{C3380CC4-5D6E-409C-BE32-E72D297353CC}">
              <c16:uniqueId val="{00000006-2D00-4370-8308-48D7DE8BB13D}"/>
            </c:ext>
          </c:extLst>
        </c:ser>
        <c:dLbls>
          <c:showLegendKey val="0"/>
          <c:showVal val="0"/>
          <c:showCatName val="0"/>
          <c:showSerName val="0"/>
          <c:showPercent val="0"/>
          <c:showBubbleSize val="0"/>
        </c:dLbls>
        <c:gapWidth val="500"/>
        <c:overlap val="-10"/>
        <c:axId val="203943296"/>
        <c:axId val="204219904"/>
      </c:barChart>
      <c:lineChart>
        <c:grouping val="standard"/>
        <c:varyColors val="0"/>
        <c:ser>
          <c:idx val="3"/>
          <c:order val="2"/>
          <c:tx>
            <c:strRef>
              <c:f>'para ppt trigo'!$I$6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7.8431382046442746E-2"/>
                  <c:y val="-1.7693517624554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D00-4370-8308-48D7DE8BB13D}"/>
                </c:ext>
              </c:extLst>
            </c:dLbl>
            <c:dLbl>
              <c:idx val="2"/>
              <c:layout>
                <c:manualLayout>
                  <c:x val="-1.0765091653433314E-2"/>
                  <c:y val="-4.29699713739185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D00-4370-8308-48D7DE8BB13D}"/>
                </c:ext>
              </c:extLst>
            </c:dLbl>
            <c:dLbl>
              <c:idx val="3"/>
              <c:layout>
                <c:manualLayout>
                  <c:x val="-2.076118764269207E-2"/>
                  <c:y val="-5.181673018619596E-2"/>
                </c:manualLayout>
              </c:layout>
              <c:spPr>
                <a:noFill/>
                <a:ln>
                  <a:noFill/>
                </a:ln>
                <a:effectLst/>
              </c:spPr>
              <c:txPr>
                <a:bodyPr wrap="square" lIns="38100" tIns="19050" rIns="38100" bIns="19050" anchor="ctr">
                  <a:noAutofit/>
                </a:bodyPr>
                <a:lstStyle/>
                <a:p>
                  <a:pPr>
                    <a:defRPr b="1"/>
                  </a:pPr>
                  <a:endParaRPr lang="es-PY"/>
                </a:p>
              </c:txPr>
              <c:showLegendKey val="0"/>
              <c:showVal val="1"/>
              <c:showCatName val="0"/>
              <c:showSerName val="0"/>
              <c:showPercent val="0"/>
              <c:showBubbleSize val="0"/>
              <c:extLst>
                <c:ext xmlns:c15="http://schemas.microsoft.com/office/drawing/2012/chart" uri="{CE6537A1-D6FC-4f65-9D91-7224C49458BB}">
                  <c15:layout>
                    <c:manualLayout>
                      <c:w val="5.3356347299051816E-2"/>
                      <c:h val="4.3488238189377956E-2"/>
                    </c:manualLayout>
                  </c15:layout>
                </c:ext>
                <c:ext xmlns:c16="http://schemas.microsoft.com/office/drawing/2014/chart" uri="{C3380CC4-5D6E-409C-BE32-E72D297353CC}">
                  <c16:uniqueId val="{00000009-2D00-4370-8308-48D7DE8BB13D}"/>
                </c:ext>
              </c:extLst>
            </c:dLbl>
            <c:spPr>
              <a:noFill/>
              <a:ln>
                <a:noFill/>
              </a:ln>
              <a:effectLst/>
            </c:spPr>
            <c:txPr>
              <a:bodyPr wrap="square" lIns="38100" tIns="19050" rIns="38100" bIns="19050" anchor="ctr">
                <a:spAutoFit/>
              </a:bodyPr>
              <a:lstStyle/>
              <a:p>
                <a:pPr>
                  <a:defRPr b="1"/>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'para ppt trigo'!$J$2:$M$2</c:f>
              <c:strCache>
                <c:ptCount val="4"/>
                <c:pt idx="0">
                  <c:v>Trigo</c:v>
                </c:pt>
                <c:pt idx="1">
                  <c:v>Arroz con riego</c:v>
                </c:pt>
                <c:pt idx="2">
                  <c:v>Caña de azúcar para uso industrial</c:v>
                </c:pt>
                <c:pt idx="3">
                  <c:v>Mandioca</c:v>
                </c:pt>
              </c:strCache>
            </c:strRef>
          </c:cat>
          <c:val>
            <c:numRef>
              <c:f>'para ppt trigo'!$J$6:$M$6</c:f>
              <c:numCache>
                <c:formatCode>0.0</c:formatCode>
                <c:ptCount val="4"/>
                <c:pt idx="0">
                  <c:v>13.677734969608537</c:v>
                </c:pt>
                <c:pt idx="1">
                  <c:v>507.45202243873632</c:v>
                </c:pt>
                <c:pt idx="2">
                  <c:v>10.316611471520503</c:v>
                </c:pt>
                <c:pt idx="3">
                  <c:v>-8.9370452388484694</c:v>
                </c:pt>
              </c:numCache>
            </c:numRef>
          </c:val>
          <c:smooth val="0"/>
          <c:extLst>
            <c:ext xmlns:c16="http://schemas.microsoft.com/office/drawing/2014/chart" uri="{C3380CC4-5D6E-409C-BE32-E72D297353CC}">
              <c16:uniqueId val="{0000000A-2D00-4370-8308-48D7DE8BB13D}"/>
            </c:ext>
          </c:extLst>
        </c:ser>
        <c:dLbls>
          <c:showLegendKey val="0"/>
          <c:showVal val="0"/>
          <c:showCatName val="0"/>
          <c:showSerName val="0"/>
          <c:showPercent val="0"/>
          <c:showBubbleSize val="0"/>
        </c:dLbls>
        <c:marker val="1"/>
        <c:smooth val="0"/>
        <c:axId val="204232192"/>
        <c:axId val="204221824"/>
      </c:lineChart>
      <c:catAx>
        <c:axId val="20394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4219904"/>
        <c:crosses val="autoZero"/>
        <c:auto val="1"/>
        <c:lblAlgn val="ctr"/>
        <c:lblOffset val="100"/>
        <c:noMultiLvlLbl val="0"/>
      </c:catAx>
      <c:valAx>
        <c:axId val="204219904"/>
        <c:scaling>
          <c:orientation val="minMax"/>
          <c:max val="4500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s-PY">
                    <a:solidFill>
                      <a:sysClr val="windowText" lastClr="000000"/>
                    </a:solidFill>
                  </a:rPr>
                  <a:t>Superficie  (ha)</a:t>
                </a:r>
              </a:p>
            </c:rich>
          </c:tx>
          <c:layout>
            <c:manualLayout>
              <c:xMode val="edge"/>
              <c:yMode val="edge"/>
              <c:x val="1.8658055256548258E-2"/>
              <c:y val="0.33918055329162128"/>
            </c:manualLayout>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3943296"/>
        <c:crosses val="autoZero"/>
        <c:crossBetween val="between"/>
        <c:majorUnit val="40000"/>
      </c:valAx>
      <c:valAx>
        <c:axId val="204221824"/>
        <c:scaling>
          <c:orientation val="minMax"/>
          <c:min val="-6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b="1">
                    <a:solidFill>
                      <a:sysClr val="windowText" lastClr="000000"/>
                    </a:solidFill>
                  </a:rPr>
                  <a:t>Var (%)</a:t>
                </a:r>
              </a:p>
            </c:rich>
          </c:tx>
          <c:overlay val="0"/>
          <c:spPr>
            <a:noFill/>
            <a:ln>
              <a:noFill/>
            </a:ln>
            <a:effectLst/>
          </c:sp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4232192"/>
        <c:crosses val="max"/>
        <c:crossBetween val="between"/>
        <c:majorUnit val="600"/>
      </c:valAx>
      <c:catAx>
        <c:axId val="204232192"/>
        <c:scaling>
          <c:orientation val="minMax"/>
        </c:scaling>
        <c:delete val="1"/>
        <c:axPos val="b"/>
        <c:numFmt formatCode="General" sourceLinked="1"/>
        <c:majorTickMark val="out"/>
        <c:minorTickMark val="none"/>
        <c:tickLblPos val="nextTo"/>
        <c:crossAx val="204221824"/>
        <c:crosses val="autoZero"/>
        <c:auto val="1"/>
        <c:lblAlgn val="ctr"/>
        <c:lblOffset val="100"/>
        <c:noMultiLvlLbl val="0"/>
      </c:catAx>
      <c:spPr>
        <a:noFill/>
        <a:ln>
          <a:noFill/>
        </a:ln>
        <a:effectLst/>
      </c:spPr>
    </c:plotArea>
    <c:legend>
      <c:legendPos val="b"/>
      <c:legendEntry>
        <c:idx val="2"/>
        <c:delete val="1"/>
      </c:legendEntry>
      <c:layout>
        <c:manualLayout>
          <c:xMode val="edge"/>
          <c:yMode val="edge"/>
          <c:x val="0.3996666007663221"/>
          <c:y val="0.89199598864239571"/>
          <c:w val="0.20383300669864954"/>
          <c:h val="5.9919212489628955E-2"/>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01705610799598E-2"/>
          <c:y val="3.6041558471043303E-2"/>
          <c:w val="0.82757130694674663"/>
          <c:h val="0.79343852721344055"/>
        </c:manualLayout>
      </c:layout>
      <c:barChart>
        <c:barDir val="col"/>
        <c:grouping val="clustered"/>
        <c:varyColors val="0"/>
        <c:ser>
          <c:idx val="0"/>
          <c:order val="0"/>
          <c:tx>
            <c:strRef>
              <c:f>'G19-G20'!$J$3</c:f>
              <c:strCache>
                <c:ptCount val="1"/>
                <c:pt idx="0">
                  <c:v>CAN 2008</c:v>
                </c:pt>
              </c:strCache>
            </c:strRef>
          </c:tx>
          <c:spPr>
            <a:solidFill>
              <a:srgbClr val="CC9900"/>
            </a:solidFill>
            <a:ln>
              <a:noFill/>
            </a:ln>
            <a:effectLst/>
          </c:spPr>
          <c:invertIfNegative val="0"/>
          <c:dLbls>
            <c:dLbl>
              <c:idx val="3"/>
              <c:layout>
                <c:manualLayout>
                  <c:x val="0"/>
                  <c:y val="-9.82951594664817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189-4CB4-BFDA-C5823C44DE6D}"/>
                </c:ext>
              </c:extLst>
            </c:dLbl>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'G19-G20'!$K$2:$N$2</c:f>
              <c:strCache>
                <c:ptCount val="4"/>
                <c:pt idx="0">
                  <c:v>Tomate</c:v>
                </c:pt>
                <c:pt idx="1">
                  <c:v>Frutilla</c:v>
                </c:pt>
                <c:pt idx="2">
                  <c:v>Locote</c:v>
                </c:pt>
                <c:pt idx="3">
                  <c:v>Zanahoria</c:v>
                </c:pt>
              </c:strCache>
            </c:strRef>
          </c:cat>
          <c:val>
            <c:numRef>
              <c:f>'G19-G20'!$K$3:$N$3</c:f>
              <c:numCache>
                <c:formatCode>#,##0</c:formatCode>
                <c:ptCount val="4"/>
                <c:pt idx="0">
                  <c:v>1206</c:v>
                </c:pt>
                <c:pt idx="1">
                  <c:v>191</c:v>
                </c:pt>
                <c:pt idx="2">
                  <c:v>474</c:v>
                </c:pt>
                <c:pt idx="3">
                  <c:v>864</c:v>
                </c:pt>
              </c:numCache>
            </c:numRef>
          </c:val>
          <c:extLst>
            <c:ext xmlns:c16="http://schemas.microsoft.com/office/drawing/2014/chart" uri="{C3380CC4-5D6E-409C-BE32-E72D297353CC}">
              <c16:uniqueId val="{00000000-F959-45E7-8E77-D265EE71B90C}"/>
            </c:ext>
          </c:extLst>
        </c:ser>
        <c:ser>
          <c:idx val="1"/>
          <c:order val="1"/>
          <c:tx>
            <c:strRef>
              <c:f>'G19-G20'!$J$4</c:f>
              <c:strCache>
                <c:ptCount val="1"/>
                <c:pt idx="0">
                  <c:v>CAN 2022</c:v>
                </c:pt>
              </c:strCache>
            </c:strRef>
          </c:tx>
          <c:spPr>
            <a:solidFill>
              <a:schemeClr val="accent3">
                <a:lumMod val="50000"/>
              </a:schemeClr>
            </a:solidFill>
            <a:ln>
              <a:noFill/>
            </a:ln>
            <a:effectLst/>
          </c:spPr>
          <c:invertIfNegative val="0"/>
          <c:dLbls>
            <c:dLbl>
              <c:idx val="0"/>
              <c:layout>
                <c:manualLayout>
                  <c:x val="0"/>
                  <c:y val="0.1114011807286793"/>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189-4CB4-BFDA-C5823C44DE6D}"/>
                </c:ext>
              </c:extLst>
            </c:dLbl>
            <c:dLbl>
              <c:idx val="1"/>
              <c:layout>
                <c:manualLayout>
                  <c:x val="0"/>
                  <c:y val="8.8465643519833562E-2"/>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189-4CB4-BFDA-C5823C44DE6D}"/>
                </c:ext>
              </c:extLst>
            </c:dLbl>
            <c:dLbl>
              <c:idx val="2"/>
              <c:layout>
                <c:manualLayout>
                  <c:x val="1.4672865008602111E-3"/>
                  <c:y val="8.8465643519833506E-2"/>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189-4CB4-BFDA-C5823C44DE6D}"/>
                </c:ext>
              </c:extLst>
            </c:dLbl>
            <c:dLbl>
              <c:idx val="3"/>
              <c:layout>
                <c:manualLayout>
                  <c:x val="-1.0759976706139121E-16"/>
                  <c:y val="8.518913820428417E-2"/>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189-4CB4-BFDA-C5823C44DE6D}"/>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'G19-G20'!$K$2:$N$2</c:f>
              <c:strCache>
                <c:ptCount val="4"/>
                <c:pt idx="0">
                  <c:v>Tomate</c:v>
                </c:pt>
                <c:pt idx="1">
                  <c:v>Frutilla</c:v>
                </c:pt>
                <c:pt idx="2">
                  <c:v>Locote</c:v>
                </c:pt>
                <c:pt idx="3">
                  <c:v>Zanahoria</c:v>
                </c:pt>
              </c:strCache>
            </c:strRef>
          </c:cat>
          <c:val>
            <c:numRef>
              <c:f>'G19-G20'!$K$4:$N$4</c:f>
              <c:numCache>
                <c:formatCode>#,##0</c:formatCode>
                <c:ptCount val="4"/>
                <c:pt idx="0">
                  <c:v>1568</c:v>
                </c:pt>
                <c:pt idx="1">
                  <c:v>361</c:v>
                </c:pt>
                <c:pt idx="2">
                  <c:v>849</c:v>
                </c:pt>
                <c:pt idx="3">
                  <c:v>674</c:v>
                </c:pt>
              </c:numCache>
            </c:numRef>
          </c:val>
          <c:extLst>
            <c:ext xmlns:c16="http://schemas.microsoft.com/office/drawing/2014/chart" uri="{C3380CC4-5D6E-409C-BE32-E72D297353CC}">
              <c16:uniqueId val="{00000001-F959-45E7-8E77-D265EE71B90C}"/>
            </c:ext>
          </c:extLst>
        </c:ser>
        <c:dLbls>
          <c:showLegendKey val="0"/>
          <c:showVal val="0"/>
          <c:showCatName val="0"/>
          <c:showSerName val="0"/>
          <c:showPercent val="0"/>
          <c:showBubbleSize val="0"/>
        </c:dLbls>
        <c:gapWidth val="500"/>
        <c:overlap val="-10"/>
        <c:axId val="190796160"/>
        <c:axId val="190798080"/>
      </c:barChart>
      <c:lineChart>
        <c:grouping val="standard"/>
        <c:varyColors val="0"/>
        <c:ser>
          <c:idx val="3"/>
          <c:order val="2"/>
          <c:tx>
            <c:strRef>
              <c:f>'G19-G20'!$J$6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5.3901349632899602E-2"/>
                  <c:y val="2.94885478399445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189-4CB4-BFDA-C5823C44DE6D}"/>
                </c:ext>
              </c:extLst>
            </c:dLbl>
            <c:dLbl>
              <c:idx val="1"/>
              <c:layout>
                <c:manualLayout>
                  <c:x val="-6.1185315799507679E-2"/>
                  <c:y val="7.5085712751445862E-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189-4CB4-BFDA-C5823C44DE6D}"/>
                </c:ext>
              </c:extLst>
            </c:dLbl>
            <c:dLbl>
              <c:idx val="2"/>
              <c:layout>
                <c:manualLayout>
                  <c:x val="-3.4963037599718645E-2"/>
                  <c:y val="-2.94885478399445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189-4CB4-BFDA-C5823C44DE6D}"/>
                </c:ext>
              </c:extLst>
            </c:dLbl>
            <c:dLbl>
              <c:idx val="3"/>
              <c:layout>
                <c:manualLayout>
                  <c:x val="-5.8271729332864515E-2"/>
                  <c:y val="1.31060212621975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189-4CB4-BFDA-C5823C44DE6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'G19-G20'!$K$2:$N$2</c:f>
              <c:strCache>
                <c:ptCount val="4"/>
                <c:pt idx="0">
                  <c:v>Tomate</c:v>
                </c:pt>
                <c:pt idx="1">
                  <c:v>Frutilla</c:v>
                </c:pt>
                <c:pt idx="2">
                  <c:v>Locote</c:v>
                </c:pt>
                <c:pt idx="3">
                  <c:v>Zanahoria</c:v>
                </c:pt>
              </c:strCache>
            </c:strRef>
          </c:cat>
          <c:val>
            <c:numRef>
              <c:f>'G19-G20'!$K$6:$N$6</c:f>
              <c:numCache>
                <c:formatCode>0.0</c:formatCode>
                <c:ptCount val="4"/>
                <c:pt idx="0">
                  <c:v>30.016583747927029</c:v>
                </c:pt>
                <c:pt idx="1">
                  <c:v>89.005235602094245</c:v>
                </c:pt>
                <c:pt idx="2">
                  <c:v>79.113924050632903</c:v>
                </c:pt>
                <c:pt idx="3">
                  <c:v>-21.990740740740748</c:v>
                </c:pt>
              </c:numCache>
            </c:numRef>
          </c:val>
          <c:smooth val="0"/>
          <c:extLst>
            <c:ext xmlns:c16="http://schemas.microsoft.com/office/drawing/2014/chart" uri="{C3380CC4-5D6E-409C-BE32-E72D297353CC}">
              <c16:uniqueId val="{00000005-F959-45E7-8E77-D265EE71B90C}"/>
            </c:ext>
          </c:extLst>
        </c:ser>
        <c:dLbls>
          <c:showLegendKey val="0"/>
          <c:showVal val="0"/>
          <c:showCatName val="0"/>
          <c:showSerName val="0"/>
          <c:showPercent val="0"/>
          <c:showBubbleSize val="0"/>
        </c:dLbls>
        <c:marker val="1"/>
        <c:smooth val="0"/>
        <c:axId val="190814464"/>
        <c:axId val="190812544"/>
      </c:lineChart>
      <c:catAx>
        <c:axId val="190796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90798080"/>
        <c:crosses val="autoZero"/>
        <c:auto val="1"/>
        <c:lblAlgn val="ctr"/>
        <c:lblOffset val="100"/>
        <c:noMultiLvlLbl val="0"/>
      </c:catAx>
      <c:valAx>
        <c:axId val="1907980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s-PY">
                    <a:solidFill>
                      <a:sysClr val="windowText" lastClr="000000"/>
                    </a:solidFill>
                  </a:rPr>
                  <a:t>Superficie  (ha)</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90796160"/>
        <c:crosses val="autoZero"/>
        <c:crossBetween val="between"/>
      </c:valAx>
      <c:valAx>
        <c:axId val="190812544"/>
        <c:scaling>
          <c:orientation val="minMax"/>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b="1">
                    <a:solidFill>
                      <a:sysClr val="windowText" lastClr="000000"/>
                    </a:solidFill>
                  </a:rPr>
                  <a:t>Var (%)</a:t>
                </a:r>
              </a:p>
            </c:rich>
          </c:tx>
          <c:overlay val="0"/>
          <c:spPr>
            <a:noFill/>
            <a:ln>
              <a:noFill/>
            </a:ln>
            <a:effectLst/>
          </c:spPr>
          <c:txPr>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90814464"/>
        <c:crosses val="max"/>
        <c:crossBetween val="between"/>
        <c:majorUnit val="100"/>
      </c:valAx>
      <c:catAx>
        <c:axId val="190814464"/>
        <c:scaling>
          <c:orientation val="minMax"/>
        </c:scaling>
        <c:delete val="1"/>
        <c:axPos val="b"/>
        <c:numFmt formatCode="General" sourceLinked="1"/>
        <c:majorTickMark val="out"/>
        <c:minorTickMark val="none"/>
        <c:tickLblPos val="nextTo"/>
        <c:crossAx val="190812544"/>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51019983429944"/>
          <c:y val="9.7641463762973002E-2"/>
          <c:w val="0.71298512418518956"/>
          <c:h val="0.60245899300506289"/>
        </c:manualLayout>
      </c:layout>
      <c:barChart>
        <c:barDir val="col"/>
        <c:grouping val="clustered"/>
        <c:varyColors val="0"/>
        <c:ser>
          <c:idx val="0"/>
          <c:order val="0"/>
          <c:tx>
            <c:strRef>
              <c:f>'G21-G22'!$J$4</c:f>
              <c:strCache>
                <c:ptCount val="1"/>
                <c:pt idx="0">
                  <c:v>CAN 2008</c:v>
                </c:pt>
              </c:strCache>
            </c:strRef>
          </c:tx>
          <c:spPr>
            <a:solidFill>
              <a:srgbClr val="CC9900"/>
            </a:solidFill>
            <a:ln>
              <a:noFill/>
            </a:ln>
            <a:effectLst/>
          </c:spPr>
          <c:invertIfNegative val="0"/>
          <c:dLbls>
            <c:dLbl>
              <c:idx val="1"/>
              <c:layout>
                <c:manualLayout>
                  <c:x val="-2.2722171849992315E-2"/>
                  <c:y val="1.97661575367943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11B-420D-A772-2EE6A58473D2}"/>
                </c:ext>
              </c:extLst>
            </c:dLbl>
            <c:dLbl>
              <c:idx val="3"/>
              <c:layout>
                <c:manualLayout>
                  <c:x val="-3.1464935051378435E-4"/>
                  <c:y val="0.12189130481023192"/>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11B-420D-A772-2EE6A58473D2}"/>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'G21-G22'!$K$3:$N$3</c:f>
              <c:strCache>
                <c:ptCount val="4"/>
                <c:pt idx="0">
                  <c:v>Banano</c:v>
                </c:pt>
                <c:pt idx="1">
                  <c:v>Naranjo agrio para esencia</c:v>
                </c:pt>
                <c:pt idx="2">
                  <c:v>Piña</c:v>
                </c:pt>
                <c:pt idx="3">
                  <c:v>Yerba mate</c:v>
                </c:pt>
              </c:strCache>
            </c:strRef>
          </c:cat>
          <c:val>
            <c:numRef>
              <c:f>'G21-G22'!$K$4:$N$4</c:f>
              <c:numCache>
                <c:formatCode>#,##0</c:formatCode>
                <c:ptCount val="4"/>
                <c:pt idx="0">
                  <c:v>7434</c:v>
                </c:pt>
                <c:pt idx="1">
                  <c:v>6938</c:v>
                </c:pt>
                <c:pt idx="2">
                  <c:v>5004</c:v>
                </c:pt>
                <c:pt idx="3">
                  <c:v>18305</c:v>
                </c:pt>
              </c:numCache>
            </c:numRef>
          </c:val>
          <c:extLst>
            <c:ext xmlns:c16="http://schemas.microsoft.com/office/drawing/2014/chart" uri="{C3380CC4-5D6E-409C-BE32-E72D297353CC}">
              <c16:uniqueId val="{00000000-460E-4F42-AAC7-6BF8BA8C1FD5}"/>
            </c:ext>
          </c:extLst>
        </c:ser>
        <c:ser>
          <c:idx val="1"/>
          <c:order val="1"/>
          <c:tx>
            <c:strRef>
              <c:f>'G21-G22'!$J$5</c:f>
              <c:strCache>
                <c:ptCount val="1"/>
                <c:pt idx="0">
                  <c:v>CAN 2022</c:v>
                </c:pt>
              </c:strCache>
            </c:strRef>
          </c:tx>
          <c:spPr>
            <a:solidFill>
              <a:schemeClr val="accent3">
                <a:lumMod val="50000"/>
              </a:schemeClr>
            </a:solidFill>
            <a:ln>
              <a:noFill/>
            </a:ln>
            <a:effectLst/>
          </c:spPr>
          <c:invertIfNegative val="0"/>
          <c:dLbls>
            <c:dLbl>
              <c:idx val="0"/>
              <c:layout>
                <c:manualLayout>
                  <c:x val="-2.524699117718058E-3"/>
                  <c:y val="0.14913671460736427"/>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1B-420D-A772-2EE6A58473D2}"/>
                </c:ext>
              </c:extLst>
            </c:dLbl>
            <c:dLbl>
              <c:idx val="1"/>
              <c:layout>
                <c:manualLayout>
                  <c:x val="-1.5334820841201829E-3"/>
                  <c:y val="3.3147903734713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1B-420D-A772-2EE6A58473D2}"/>
                </c:ext>
              </c:extLst>
            </c:dLbl>
            <c:dLbl>
              <c:idx val="3"/>
              <c:layout>
                <c:manualLayout>
                  <c:x val="7.7415135982355577E-4"/>
                  <c:y val="0.11832969004557546"/>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11B-420D-A772-2EE6A58473D2}"/>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'G21-G22'!$K$3:$N$3</c:f>
              <c:strCache>
                <c:ptCount val="4"/>
                <c:pt idx="0">
                  <c:v>Banano</c:v>
                </c:pt>
                <c:pt idx="1">
                  <c:v>Naranjo agrio para esencia</c:v>
                </c:pt>
                <c:pt idx="2">
                  <c:v>Piña</c:v>
                </c:pt>
                <c:pt idx="3">
                  <c:v>Yerba mate</c:v>
                </c:pt>
              </c:strCache>
            </c:strRef>
          </c:cat>
          <c:val>
            <c:numRef>
              <c:f>'G21-G22'!$K$5:$N$5</c:f>
              <c:numCache>
                <c:formatCode>#,##0</c:formatCode>
                <c:ptCount val="4"/>
                <c:pt idx="0">
                  <c:v>15960</c:v>
                </c:pt>
                <c:pt idx="1">
                  <c:v>2780</c:v>
                </c:pt>
                <c:pt idx="2">
                  <c:v>5121</c:v>
                </c:pt>
                <c:pt idx="3">
                  <c:v>38724</c:v>
                </c:pt>
              </c:numCache>
            </c:numRef>
          </c:val>
          <c:extLst>
            <c:ext xmlns:c16="http://schemas.microsoft.com/office/drawing/2014/chart" uri="{C3380CC4-5D6E-409C-BE32-E72D297353CC}">
              <c16:uniqueId val="{00000001-460E-4F42-AAC7-6BF8BA8C1FD5}"/>
            </c:ext>
          </c:extLst>
        </c:ser>
        <c:dLbls>
          <c:showLegendKey val="0"/>
          <c:showVal val="0"/>
          <c:showCatName val="0"/>
          <c:showSerName val="0"/>
          <c:showPercent val="0"/>
          <c:showBubbleSize val="0"/>
        </c:dLbls>
        <c:gapWidth val="300"/>
        <c:overlap val="-10"/>
        <c:axId val="211974400"/>
        <c:axId val="211984768"/>
      </c:barChart>
      <c:lineChart>
        <c:grouping val="standard"/>
        <c:varyColors val="0"/>
        <c:ser>
          <c:idx val="3"/>
          <c:order val="2"/>
          <c:tx>
            <c:strRef>
              <c:f>'G21-G22'!$J$7</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1"/>
              <c:layout>
                <c:manualLayout>
                  <c:x val="-2.8809500692789095E-2"/>
                  <c:y val="-5.23808541791260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352-4F8D-8F8B-CB4823933505}"/>
                </c:ext>
              </c:extLst>
            </c:dLbl>
            <c:dLbl>
              <c:idx val="2"/>
              <c:layout>
                <c:manualLayout>
                  <c:x val="-6.146026814461681E-2"/>
                  <c:y val="-2.29166237033676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352-4F8D-8F8B-CB482393350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'G21-G22'!$K$3:$N$3</c:f>
              <c:strCache>
                <c:ptCount val="4"/>
                <c:pt idx="0">
                  <c:v>Banano</c:v>
                </c:pt>
                <c:pt idx="1">
                  <c:v>Naranjo agrio para esencia</c:v>
                </c:pt>
                <c:pt idx="2">
                  <c:v>Piña</c:v>
                </c:pt>
                <c:pt idx="3">
                  <c:v>Yerba mate</c:v>
                </c:pt>
              </c:strCache>
            </c:strRef>
          </c:cat>
          <c:val>
            <c:numRef>
              <c:f>'G21-G22'!$K$7:$N$7</c:f>
              <c:numCache>
                <c:formatCode>0.0</c:formatCode>
                <c:ptCount val="4"/>
                <c:pt idx="0">
                  <c:v>114.68926553672318</c:v>
                </c:pt>
                <c:pt idx="1">
                  <c:v>-59.930815797059672</c:v>
                </c:pt>
                <c:pt idx="2">
                  <c:v>2.3381294964028854</c:v>
                </c:pt>
                <c:pt idx="3">
                  <c:v>111.54875717017211</c:v>
                </c:pt>
              </c:numCache>
            </c:numRef>
          </c:val>
          <c:smooth val="0"/>
          <c:extLst>
            <c:ext xmlns:c16="http://schemas.microsoft.com/office/drawing/2014/chart" uri="{C3380CC4-5D6E-409C-BE32-E72D297353CC}">
              <c16:uniqueId val="{00000005-460E-4F42-AAC7-6BF8BA8C1FD5}"/>
            </c:ext>
          </c:extLst>
        </c:ser>
        <c:dLbls>
          <c:showLegendKey val="0"/>
          <c:showVal val="0"/>
          <c:showCatName val="0"/>
          <c:showSerName val="0"/>
          <c:showPercent val="0"/>
          <c:showBubbleSize val="0"/>
        </c:dLbls>
        <c:marker val="1"/>
        <c:smooth val="0"/>
        <c:axId val="211992960"/>
        <c:axId val="211986688"/>
      </c:lineChart>
      <c:catAx>
        <c:axId val="211974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1984768"/>
        <c:crosses val="autoZero"/>
        <c:auto val="1"/>
        <c:lblAlgn val="ctr"/>
        <c:lblOffset val="100"/>
        <c:noMultiLvlLbl val="0"/>
      </c:catAx>
      <c:valAx>
        <c:axId val="211984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s-PY">
                    <a:solidFill>
                      <a:sysClr val="windowText" lastClr="000000"/>
                    </a:solidFill>
                  </a:rPr>
                  <a:t>Superficie (ha)</a:t>
                </a:r>
              </a:p>
            </c:rich>
          </c:tx>
          <c:layout>
            <c:manualLayout>
              <c:xMode val="edge"/>
              <c:yMode val="edge"/>
              <c:x val="1.9172113289760349E-2"/>
              <c:y val="0.3775415043088311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1974400"/>
        <c:crosses val="autoZero"/>
        <c:crossBetween val="between"/>
      </c:valAx>
      <c:valAx>
        <c:axId val="211986688"/>
        <c:scaling>
          <c:orientation val="minMax"/>
          <c:max val="120"/>
          <c:min val="-12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PY" b="1">
                    <a:solidFill>
                      <a:sysClr val="windowText" lastClr="000000"/>
                    </a:solidFill>
                  </a:rPr>
                  <a:t>Var</a:t>
                </a:r>
                <a:r>
                  <a:rPr lang="es-PY" b="1" baseline="0">
                    <a:solidFill>
                      <a:sysClr val="windowText" lastClr="000000"/>
                    </a:solidFill>
                  </a:rPr>
                  <a:t> (%)</a:t>
                </a:r>
                <a:endParaRPr lang="es-PY" b="1">
                  <a:solidFill>
                    <a:sysClr val="windowText" lastClr="000000"/>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1992960"/>
        <c:crosses val="max"/>
        <c:crossBetween val="between"/>
        <c:majorUnit val="120"/>
      </c:valAx>
      <c:catAx>
        <c:axId val="211992960"/>
        <c:scaling>
          <c:orientation val="minMax"/>
        </c:scaling>
        <c:delete val="1"/>
        <c:axPos val="b"/>
        <c:numFmt formatCode="General" sourceLinked="1"/>
        <c:majorTickMark val="out"/>
        <c:minorTickMark val="none"/>
        <c:tickLblPos val="nextTo"/>
        <c:crossAx val="211986688"/>
        <c:crosses val="autoZero"/>
        <c:auto val="1"/>
        <c:lblAlgn val="ctr"/>
        <c:lblOffset val="100"/>
        <c:noMultiLvlLbl val="0"/>
      </c:catAx>
      <c:spPr>
        <a:noFill/>
        <a:ln>
          <a:noFill/>
        </a:ln>
        <a:effectLst/>
      </c:spPr>
    </c:plotArea>
    <c:legend>
      <c:legendPos val="b"/>
      <c:legendEntry>
        <c:idx val="2"/>
        <c:delete val="1"/>
      </c:legendEntry>
      <c:layout>
        <c:manualLayout>
          <c:xMode val="edge"/>
          <c:yMode val="edge"/>
          <c:x val="0.25245247378451785"/>
          <c:y val="0.86855479298192462"/>
          <c:w val="0.47673965433093146"/>
          <c:h val="5.2816097280621727E-2"/>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796093421045088"/>
          <c:y val="8.7915863044073381E-2"/>
          <c:w val="0.66977362009734753"/>
          <c:h val="0.71611980299714684"/>
        </c:manualLayout>
      </c:layout>
      <c:barChart>
        <c:barDir val="col"/>
        <c:grouping val="clustered"/>
        <c:varyColors val="0"/>
        <c:ser>
          <c:idx val="0"/>
          <c:order val="0"/>
          <c:tx>
            <c:strRef>
              <c:f>'G23-G24'!$I$4</c:f>
              <c:strCache>
                <c:ptCount val="1"/>
                <c:pt idx="0">
                  <c:v>CAN 2008</c:v>
                </c:pt>
              </c:strCache>
            </c:strRef>
          </c:tx>
          <c:spPr>
            <a:solidFill>
              <a:srgbClr val="C1870C"/>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'G23-G24'!$J$3:$N$3</c:f>
              <c:strCache>
                <c:ptCount val="5"/>
                <c:pt idx="0">
                  <c:v>Vacunos</c:v>
                </c:pt>
                <c:pt idx="1">
                  <c:v>Equinos</c:v>
                </c:pt>
                <c:pt idx="2">
                  <c:v>Caprinos</c:v>
                </c:pt>
                <c:pt idx="3">
                  <c:v>Ovinos</c:v>
                </c:pt>
                <c:pt idx="4">
                  <c:v>Porcinos</c:v>
                </c:pt>
              </c:strCache>
            </c:strRef>
          </c:cat>
          <c:val>
            <c:numRef>
              <c:f>'G23-G24'!$J$4:$N$4</c:f>
              <c:numCache>
                <c:formatCode>#,##0</c:formatCode>
                <c:ptCount val="5"/>
                <c:pt idx="0">
                  <c:v>10496641</c:v>
                </c:pt>
                <c:pt idx="1">
                  <c:v>283804</c:v>
                </c:pt>
                <c:pt idx="2">
                  <c:v>129898</c:v>
                </c:pt>
                <c:pt idx="3">
                  <c:v>364514</c:v>
                </c:pt>
                <c:pt idx="4">
                  <c:v>1072655</c:v>
                </c:pt>
              </c:numCache>
            </c:numRef>
          </c:val>
          <c:extLst>
            <c:ext xmlns:c16="http://schemas.microsoft.com/office/drawing/2014/chart" uri="{C3380CC4-5D6E-409C-BE32-E72D297353CC}">
              <c16:uniqueId val="{00000000-FD2A-4879-9999-759AC9BF78B5}"/>
            </c:ext>
          </c:extLst>
        </c:ser>
        <c:ser>
          <c:idx val="1"/>
          <c:order val="1"/>
          <c:tx>
            <c:strRef>
              <c:f>'G23-G24'!$I$5</c:f>
              <c:strCache>
                <c:ptCount val="1"/>
                <c:pt idx="0">
                  <c:v>CAN 2022</c:v>
                </c:pt>
              </c:strCache>
            </c:strRef>
          </c:tx>
          <c:spPr>
            <a:solidFill>
              <a:srgbClr val="48611D"/>
            </a:solidFill>
            <a:ln>
              <a:noFill/>
            </a:ln>
            <a:effectLst/>
          </c:spPr>
          <c:invertIfNegative val="0"/>
          <c:dLbls>
            <c:dLbl>
              <c:idx val="0"/>
              <c:layout>
                <c:manualLayout>
                  <c:x val="-2.3425661798002549E-3"/>
                  <c:y val="0.1251416781668323"/>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FE9-4EDD-9AEB-58B65CBB3440}"/>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'G23-G24'!$J$3:$N$3</c:f>
              <c:strCache>
                <c:ptCount val="5"/>
                <c:pt idx="0">
                  <c:v>Vacunos</c:v>
                </c:pt>
                <c:pt idx="1">
                  <c:v>Equinos</c:v>
                </c:pt>
                <c:pt idx="2">
                  <c:v>Caprinos</c:v>
                </c:pt>
                <c:pt idx="3">
                  <c:v>Ovinos</c:v>
                </c:pt>
                <c:pt idx="4">
                  <c:v>Porcinos</c:v>
                </c:pt>
              </c:strCache>
            </c:strRef>
          </c:cat>
          <c:val>
            <c:numRef>
              <c:f>'G23-G24'!$J$5:$N$5</c:f>
              <c:numCache>
                <c:formatCode>#,##0</c:formatCode>
                <c:ptCount val="5"/>
                <c:pt idx="0">
                  <c:v>13241944.000000009</c:v>
                </c:pt>
                <c:pt idx="1">
                  <c:v>225438.99999999741</c:v>
                </c:pt>
                <c:pt idx="2">
                  <c:v>133798.99999999991</c:v>
                </c:pt>
                <c:pt idx="3">
                  <c:v>476994.99999999983</c:v>
                </c:pt>
                <c:pt idx="4">
                  <c:v>1801460</c:v>
                </c:pt>
              </c:numCache>
            </c:numRef>
          </c:val>
          <c:extLst>
            <c:ext xmlns:c16="http://schemas.microsoft.com/office/drawing/2014/chart" uri="{C3380CC4-5D6E-409C-BE32-E72D297353CC}">
              <c16:uniqueId val="{00000001-FD2A-4879-9999-759AC9BF78B5}"/>
            </c:ext>
          </c:extLst>
        </c:ser>
        <c:dLbls>
          <c:showLegendKey val="0"/>
          <c:showVal val="0"/>
          <c:showCatName val="0"/>
          <c:showSerName val="0"/>
          <c:showPercent val="0"/>
          <c:showBubbleSize val="0"/>
        </c:dLbls>
        <c:gapWidth val="300"/>
        <c:overlap val="-10"/>
        <c:axId val="212713856"/>
        <c:axId val="212715776"/>
      </c:barChart>
      <c:lineChart>
        <c:grouping val="standard"/>
        <c:varyColors val="0"/>
        <c:ser>
          <c:idx val="3"/>
          <c:order val="2"/>
          <c:tx>
            <c:strRef>
              <c:f>'G23-G24'!$I$7</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5.7974245788217894E-2"/>
                  <c:y val="-6.048876349774607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EFB-4EF4-83E5-4B9D363DA051}"/>
                </c:ext>
              </c:extLst>
            </c:dLbl>
            <c:dLbl>
              <c:idx val="1"/>
              <c:layout>
                <c:manualLayout>
                  <c:x val="-5.949988383527631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EFB-4EF4-83E5-4B9D363DA051}"/>
                </c:ext>
              </c:extLst>
            </c:dLbl>
            <c:dLbl>
              <c:idx val="2"/>
              <c:layout>
                <c:manualLayout>
                  <c:x val="-3.5089675082342522E-2"/>
                  <c:y val="-2.41955053990984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EFB-4EF4-83E5-4B9D363DA051}"/>
                </c:ext>
              </c:extLst>
            </c:dLbl>
            <c:dLbl>
              <c:idx val="3"/>
              <c:layout>
                <c:manualLayout>
                  <c:x val="-4.88204175058677E-2"/>
                  <c:y val="-1.20977526995492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EFB-4EF4-83E5-4B9D363DA051}"/>
                </c:ext>
              </c:extLst>
            </c:dLbl>
            <c:dLbl>
              <c:idx val="4"/>
              <c:layout>
                <c:manualLayout>
                  <c:x val="-4.8820417505867811E-2"/>
                  <c:y val="-9.073314524661911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EFB-4EF4-83E5-4B9D363DA051}"/>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'G23-G24'!$J$3:$N$3</c:f>
              <c:strCache>
                <c:ptCount val="5"/>
                <c:pt idx="0">
                  <c:v>Vacunos</c:v>
                </c:pt>
                <c:pt idx="1">
                  <c:v>Equinos</c:v>
                </c:pt>
                <c:pt idx="2">
                  <c:v>Caprinos</c:v>
                </c:pt>
                <c:pt idx="3">
                  <c:v>Ovinos</c:v>
                </c:pt>
                <c:pt idx="4">
                  <c:v>Porcinos</c:v>
                </c:pt>
              </c:strCache>
            </c:strRef>
          </c:cat>
          <c:val>
            <c:numRef>
              <c:f>'G23-G24'!$J$7:$N$7</c:f>
              <c:numCache>
                <c:formatCode>0.0</c:formatCode>
                <c:ptCount val="5"/>
                <c:pt idx="0">
                  <c:v>26.154109681373395</c:v>
                </c:pt>
                <c:pt idx="1">
                  <c:v>-20.565249256530073</c:v>
                </c:pt>
                <c:pt idx="2">
                  <c:v>3.0031255292613634</c:v>
                </c:pt>
                <c:pt idx="3">
                  <c:v>30.857799700422973</c:v>
                </c:pt>
                <c:pt idx="4">
                  <c:v>67.944026737394594</c:v>
                </c:pt>
              </c:numCache>
            </c:numRef>
          </c:val>
          <c:smooth val="0"/>
          <c:extLst>
            <c:ext xmlns:c16="http://schemas.microsoft.com/office/drawing/2014/chart" uri="{C3380CC4-5D6E-409C-BE32-E72D297353CC}">
              <c16:uniqueId val="{00000004-FD2A-4879-9999-759AC9BF78B5}"/>
            </c:ext>
          </c:extLst>
        </c:ser>
        <c:dLbls>
          <c:showLegendKey val="0"/>
          <c:showVal val="0"/>
          <c:showCatName val="0"/>
          <c:showSerName val="0"/>
          <c:showPercent val="0"/>
          <c:showBubbleSize val="0"/>
        </c:dLbls>
        <c:marker val="1"/>
        <c:smooth val="0"/>
        <c:axId val="212998400"/>
        <c:axId val="212996480"/>
      </c:lineChart>
      <c:catAx>
        <c:axId val="212713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2715776"/>
        <c:crosses val="autoZero"/>
        <c:auto val="1"/>
        <c:lblAlgn val="ctr"/>
        <c:lblOffset val="100"/>
        <c:noMultiLvlLbl val="0"/>
      </c:catAx>
      <c:valAx>
        <c:axId val="212715776"/>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s-PY">
                    <a:solidFill>
                      <a:sysClr val="windowText" lastClr="000000"/>
                    </a:solidFill>
                  </a:rPr>
                  <a:t>Cantidad de cabezas</a:t>
                </a:r>
              </a:p>
            </c:rich>
          </c:tx>
          <c:layout>
            <c:manualLayout>
              <c:xMode val="edge"/>
              <c:yMode val="edge"/>
              <c:x val="1.9719378081152827E-2"/>
              <c:y val="0.3663860527701011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2713856"/>
        <c:crosses val="autoZero"/>
        <c:crossBetween val="between"/>
        <c:majorUnit val="1000000"/>
      </c:valAx>
      <c:valAx>
        <c:axId val="212996480"/>
        <c:scaling>
          <c:orientation val="minMax"/>
          <c:max val="100"/>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b="1">
                    <a:solidFill>
                      <a:sysClr val="windowText" lastClr="000000"/>
                    </a:solidFill>
                  </a:rPr>
                  <a:t>Var (%)</a:t>
                </a:r>
              </a:p>
            </c:rich>
          </c:tx>
          <c:layout>
            <c:manualLayout>
              <c:xMode val="edge"/>
              <c:yMode val="edge"/>
              <c:x val="0.90773144646194659"/>
              <c:y val="0.41993400666670166"/>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2998400"/>
        <c:crosses val="max"/>
        <c:crossBetween val="between"/>
        <c:majorUnit val="100"/>
      </c:valAx>
      <c:catAx>
        <c:axId val="212998400"/>
        <c:scaling>
          <c:orientation val="minMax"/>
        </c:scaling>
        <c:delete val="1"/>
        <c:axPos val="b"/>
        <c:numFmt formatCode="General" sourceLinked="1"/>
        <c:majorTickMark val="out"/>
        <c:minorTickMark val="none"/>
        <c:tickLblPos val="nextTo"/>
        <c:crossAx val="212996480"/>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PY"/>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ysClr val="windowText" lastClr="000000"/>
                </a:solidFill>
                <a:latin typeface="+mn-lt"/>
                <a:ea typeface="+mn-ea"/>
                <a:cs typeface="+mn-cs"/>
              </a:defRPr>
            </a:pPr>
            <a:endParaRPr lang="es-PY" sz="1200">
              <a:solidFill>
                <a:sysClr val="windowText" lastClr="000000"/>
              </a:solidFill>
              <a:effectLst/>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ysClr val="windowText" lastClr="000000"/>
              </a:solidFill>
              <a:latin typeface="+mn-lt"/>
              <a:ea typeface="+mn-ea"/>
              <a:cs typeface="+mn-cs"/>
            </a:defRPr>
          </a:pPr>
          <a:endParaRPr lang="es-PY"/>
        </a:p>
      </c:txPr>
    </c:title>
    <c:autoTitleDeleted val="0"/>
    <c:plotArea>
      <c:layout>
        <c:manualLayout>
          <c:layoutTarget val="inner"/>
          <c:xMode val="edge"/>
          <c:yMode val="edge"/>
          <c:x val="0.14761645550638616"/>
          <c:y val="0.11514019444748248"/>
          <c:w val="0.71870163257069508"/>
          <c:h val="0.54018099869541536"/>
        </c:manualLayout>
      </c:layout>
      <c:barChart>
        <c:barDir val="col"/>
        <c:grouping val="clustered"/>
        <c:varyColors val="0"/>
        <c:ser>
          <c:idx val="0"/>
          <c:order val="0"/>
          <c:tx>
            <c:strRef>
              <c:f>'g25-g26'!$K$6</c:f>
              <c:strCache>
                <c:ptCount val="1"/>
                <c:pt idx="0">
                  <c:v>CAN 2008</c:v>
                </c:pt>
              </c:strCache>
            </c:strRef>
          </c:tx>
          <c:spPr>
            <a:solidFill>
              <a:srgbClr val="CC9900"/>
            </a:solidFill>
            <a:ln>
              <a:noFill/>
            </a:ln>
            <a:effectLst/>
          </c:spPr>
          <c:invertIfNegative val="0"/>
          <c:dLbls>
            <c:dLbl>
              <c:idx val="0"/>
              <c:layout>
                <c:manualLayout>
                  <c:x val="-1.9244733610457498E-3"/>
                  <c:y val="0.17250467700824015"/>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89F-4443-B293-598B85B87A2C}"/>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'g25-g26'!$L$4:$O$5</c:f>
              <c:multiLvlStrCache>
                <c:ptCount val="4"/>
                <c:lvl>
                  <c:pt idx="1">
                    <c:v>De las cuales, son para ponedoras
</c:v>
                  </c:pt>
                  <c:pt idx="2">
                    <c:v>De las cuales, son
pollos parrilleros (*)</c:v>
                  </c:pt>
                </c:lvl>
                <c:lvl>
                  <c:pt idx="0">
                    <c:v>Total de cabezas de gallos, gallinas,
pollos/as, pollitos</c:v>
                  </c:pt>
                  <c:pt idx="1">
                    <c:v>Con más de 1000 cabezas de Gallináceas</c:v>
                  </c:pt>
                  <c:pt idx="3">
                    <c:v>Cantidad cabezas 
de otras aves
(**)</c:v>
                  </c:pt>
                </c:lvl>
              </c:multiLvlStrCache>
            </c:multiLvlStrRef>
          </c:cat>
          <c:val>
            <c:numRef>
              <c:f>'g25-g26'!$L$6:$O$6</c:f>
              <c:numCache>
                <c:formatCode>#,##0</c:formatCode>
                <c:ptCount val="4"/>
                <c:pt idx="0">
                  <c:v>16055854</c:v>
                </c:pt>
                <c:pt idx="1">
                  <c:v>2699896</c:v>
                </c:pt>
                <c:pt idx="2">
                  <c:v>6570479</c:v>
                </c:pt>
                <c:pt idx="3">
                  <c:v>1119876</c:v>
                </c:pt>
              </c:numCache>
            </c:numRef>
          </c:val>
          <c:extLst>
            <c:ext xmlns:c16="http://schemas.microsoft.com/office/drawing/2014/chart" uri="{C3380CC4-5D6E-409C-BE32-E72D297353CC}">
              <c16:uniqueId val="{00000000-F38F-4805-89F8-349980317687}"/>
            </c:ext>
          </c:extLst>
        </c:ser>
        <c:ser>
          <c:idx val="1"/>
          <c:order val="1"/>
          <c:tx>
            <c:strRef>
              <c:f>'g25-g26'!$K$7</c:f>
              <c:strCache>
                <c:ptCount val="1"/>
                <c:pt idx="0">
                  <c:v>CAN 2022</c:v>
                </c:pt>
              </c:strCache>
            </c:strRef>
          </c:tx>
          <c:spPr>
            <a:solidFill>
              <a:schemeClr val="accent3">
                <a:lumMod val="50000"/>
              </a:schemeClr>
            </a:solidFill>
            <a:ln>
              <a:noFill/>
            </a:ln>
            <a:effectLst/>
          </c:spPr>
          <c:invertIfNegative val="0"/>
          <c:dLbls>
            <c:dLbl>
              <c:idx val="0"/>
              <c:layout>
                <c:manualLayout>
                  <c:x val="-1.4728440607215335E-3"/>
                  <c:y val="0.18054822912340956"/>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64D-4EB0-8545-A1BAD41E8A2A}"/>
                </c:ext>
              </c:extLst>
            </c:dLbl>
            <c:dLbl>
              <c:idx val="2"/>
              <c:layout>
                <c:manualLayout>
                  <c:x val="-5.6953836080342139E-4"/>
                  <c:y val="0.16139325668950019"/>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89F-4443-B293-598B85B87A2C}"/>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'g25-g26'!$L$4:$O$5</c:f>
              <c:multiLvlStrCache>
                <c:ptCount val="4"/>
                <c:lvl>
                  <c:pt idx="1">
                    <c:v>De las cuales, son para ponedoras
</c:v>
                  </c:pt>
                  <c:pt idx="2">
                    <c:v>De las cuales, son
pollos parrilleros (*)</c:v>
                  </c:pt>
                </c:lvl>
                <c:lvl>
                  <c:pt idx="0">
                    <c:v>Total de cabezas de gallos, gallinas,
pollos/as, pollitos</c:v>
                  </c:pt>
                  <c:pt idx="1">
                    <c:v>Con más de 1000 cabezas de Gallináceas</c:v>
                  </c:pt>
                  <c:pt idx="3">
                    <c:v>Cantidad cabezas 
de otras aves
(**)</c:v>
                  </c:pt>
                </c:lvl>
              </c:multiLvlStrCache>
            </c:multiLvlStrRef>
          </c:cat>
          <c:val>
            <c:numRef>
              <c:f>'g25-g26'!$L$7:$O$7</c:f>
              <c:numCache>
                <c:formatCode>#,##0</c:formatCode>
                <c:ptCount val="4"/>
                <c:pt idx="0">
                  <c:v>31927426</c:v>
                </c:pt>
                <c:pt idx="1">
                  <c:v>5953956</c:v>
                </c:pt>
                <c:pt idx="2">
                  <c:v>13817261</c:v>
                </c:pt>
                <c:pt idx="3">
                  <c:v>1358628</c:v>
                </c:pt>
              </c:numCache>
            </c:numRef>
          </c:val>
          <c:extLst>
            <c:ext xmlns:c16="http://schemas.microsoft.com/office/drawing/2014/chart" uri="{C3380CC4-5D6E-409C-BE32-E72D297353CC}">
              <c16:uniqueId val="{00000001-F38F-4805-89F8-349980317687}"/>
            </c:ext>
          </c:extLst>
        </c:ser>
        <c:dLbls>
          <c:showLegendKey val="0"/>
          <c:showVal val="0"/>
          <c:showCatName val="0"/>
          <c:showSerName val="0"/>
          <c:showPercent val="0"/>
          <c:showBubbleSize val="0"/>
        </c:dLbls>
        <c:gapWidth val="300"/>
        <c:overlap val="-10"/>
        <c:axId val="216033152"/>
        <c:axId val="216039424"/>
      </c:barChart>
      <c:lineChart>
        <c:grouping val="standard"/>
        <c:varyColors val="0"/>
        <c:ser>
          <c:idx val="3"/>
          <c:order val="2"/>
          <c:tx>
            <c:strRef>
              <c:f>'g25-g26'!$K$9</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5.15495421252537E-2"/>
                  <c:y val="-2.21725895414713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64D-4EB0-8545-A1BAD41E8A2A}"/>
                </c:ext>
              </c:extLst>
            </c:dLbl>
            <c:dLbl>
              <c:idx val="1"/>
              <c:layout>
                <c:manualLayout>
                  <c:x val="-5.4495230246696738E-2"/>
                  <c:y val="2.21725895414713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64D-4EB0-8545-A1BAD41E8A2A}"/>
                </c:ext>
              </c:extLst>
            </c:dLbl>
            <c:dLbl>
              <c:idx val="2"/>
              <c:layout>
                <c:manualLayout>
                  <c:x val="-2.9456881214431751E-3"/>
                  <c:y val="-6.335025583277541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64D-4EB0-8545-A1BAD41E8A2A}"/>
                </c:ext>
              </c:extLst>
            </c:dLbl>
            <c:dLbl>
              <c:idx val="3"/>
              <c:layout>
                <c:manualLayout>
                  <c:x val="-1.4728440607215335E-3"/>
                  <c:y val="-3.16751279163876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64D-4EB0-8545-A1BAD41E8A2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'g25-g26'!$L$4:$O$5</c:f>
              <c:multiLvlStrCache>
                <c:ptCount val="4"/>
                <c:lvl>
                  <c:pt idx="1">
                    <c:v>De las cuales, son para ponedoras
</c:v>
                  </c:pt>
                  <c:pt idx="2">
                    <c:v>De las cuales, son
pollos parrilleros (*)</c:v>
                  </c:pt>
                </c:lvl>
                <c:lvl>
                  <c:pt idx="0">
                    <c:v>Total de cabezas de gallos, gallinas,
pollos/as, pollitos</c:v>
                  </c:pt>
                  <c:pt idx="1">
                    <c:v>Con más de 1000 cabezas de Gallináceas</c:v>
                  </c:pt>
                  <c:pt idx="3">
                    <c:v>Cantidad cabezas 
de otras aves
(**)</c:v>
                  </c:pt>
                </c:lvl>
              </c:multiLvlStrCache>
            </c:multiLvlStrRef>
          </c:cat>
          <c:val>
            <c:numRef>
              <c:f>'g25-g26'!$L$9:$O$9</c:f>
              <c:numCache>
                <c:formatCode>0.0</c:formatCode>
                <c:ptCount val="4"/>
                <c:pt idx="0">
                  <c:v>98.852244172125637</c:v>
                </c:pt>
                <c:pt idx="1">
                  <c:v>120.52538319994548</c:v>
                </c:pt>
                <c:pt idx="2">
                  <c:v>110.29305473771396</c:v>
                </c:pt>
                <c:pt idx="3">
                  <c:v>21.31950323071483</c:v>
                </c:pt>
              </c:numCache>
            </c:numRef>
          </c:val>
          <c:smooth val="0"/>
          <c:extLst>
            <c:ext xmlns:c16="http://schemas.microsoft.com/office/drawing/2014/chart" uri="{C3380CC4-5D6E-409C-BE32-E72D297353CC}">
              <c16:uniqueId val="{00000003-F38F-4805-89F8-349980317687}"/>
            </c:ext>
          </c:extLst>
        </c:ser>
        <c:dLbls>
          <c:showLegendKey val="0"/>
          <c:showVal val="0"/>
          <c:showCatName val="0"/>
          <c:showSerName val="0"/>
          <c:showPercent val="0"/>
          <c:showBubbleSize val="0"/>
        </c:dLbls>
        <c:marker val="1"/>
        <c:smooth val="0"/>
        <c:axId val="216051712"/>
        <c:axId val="216041344"/>
      </c:lineChart>
      <c:catAx>
        <c:axId val="216033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6039424"/>
        <c:crosses val="autoZero"/>
        <c:auto val="1"/>
        <c:lblAlgn val="ctr"/>
        <c:lblOffset val="100"/>
        <c:noMultiLvlLbl val="0"/>
      </c:catAx>
      <c:valAx>
        <c:axId val="2160394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PY"/>
                  <a:t>Cantidad</a:t>
                </a:r>
                <a:r>
                  <a:rPr lang="es-PY" baseline="0"/>
                  <a:t> de cabezas</a:t>
                </a:r>
                <a:endParaRPr lang="es-PY"/>
              </a:p>
            </c:rich>
          </c:tx>
          <c:layout>
            <c:manualLayout>
              <c:xMode val="edge"/>
              <c:yMode val="edge"/>
              <c:x val="1.1272758323245546E-2"/>
              <c:y val="0.2573469886491190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PY"/>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6033152"/>
        <c:crosses val="autoZero"/>
        <c:crossBetween val="between"/>
      </c:valAx>
      <c:valAx>
        <c:axId val="216041344"/>
        <c:scaling>
          <c:orientation val="minMax"/>
          <c:max val="130"/>
          <c:min val="-13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r>
                  <a:rPr lang="es-PY">
                    <a:solidFill>
                      <a:srgbClr val="002060"/>
                    </a:solidFill>
                  </a:rPr>
                  <a:t>Var</a:t>
                </a:r>
                <a:r>
                  <a:rPr lang="es-PY" baseline="0">
                    <a:solidFill>
                      <a:srgbClr val="002060"/>
                    </a:solidFill>
                  </a:rPr>
                  <a:t> (%)</a:t>
                </a:r>
                <a:endParaRPr lang="es-PY">
                  <a:solidFill>
                    <a:srgbClr val="002060"/>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endParaRPr lang="es-PY"/>
            </a:p>
          </c:tx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16051712"/>
        <c:crosses val="max"/>
        <c:crossBetween val="between"/>
        <c:majorUnit val="130"/>
      </c:valAx>
      <c:catAx>
        <c:axId val="216051712"/>
        <c:scaling>
          <c:orientation val="minMax"/>
        </c:scaling>
        <c:delete val="1"/>
        <c:axPos val="b"/>
        <c:numFmt formatCode="General" sourceLinked="1"/>
        <c:majorTickMark val="out"/>
        <c:minorTickMark val="none"/>
        <c:tickLblPos val="nextTo"/>
        <c:crossAx val="216041344"/>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PY"/>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594573016776E-2"/>
          <c:y val="3.223443967221936E-2"/>
          <c:w val="0.91395161156186278"/>
          <c:h val="0.80344790826867607"/>
        </c:manualLayout>
      </c:layout>
      <c:barChart>
        <c:barDir val="col"/>
        <c:grouping val="clustered"/>
        <c:varyColors val="0"/>
        <c:ser>
          <c:idx val="0"/>
          <c:order val="0"/>
          <c:tx>
            <c:strRef>
              <c:f>'CREDITOS, ASOC Y ASIST_PPT'!$B$3</c:f>
              <c:strCache>
                <c:ptCount val="1"/>
                <c:pt idx="0">
                  <c:v>CAN 2008</c:v>
                </c:pt>
              </c:strCache>
            </c:strRef>
          </c:tx>
          <c:spPr>
            <a:solidFill>
              <a:srgbClr val="CC9900"/>
            </a:solidFill>
            <a:ln>
              <a:noFill/>
            </a:ln>
            <a:effectLst/>
          </c:spPr>
          <c:invertIfNegative val="0"/>
          <c:dLbls>
            <c:dLbl>
              <c:idx val="2"/>
              <c:layout>
                <c:manualLayout>
                  <c:x val="-1.7246785613356129E-3"/>
                  <c:y val="8.42811040271602E-2"/>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615-49D8-9191-ADE2985343BE}"/>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'CREDITOS, ASOC Y ASIST_PPT'!$C$2:$E$2</c:f>
              <c:strCache>
                <c:ptCount val="3"/>
                <c:pt idx="0">
                  <c:v>Fincas con asistencias técnicas</c:v>
                </c:pt>
                <c:pt idx="1">
                  <c:v>Fincas con acceso a créditos</c:v>
                </c:pt>
                <c:pt idx="2">
                  <c:v>Fincas   asociadas</c:v>
                </c:pt>
              </c:strCache>
            </c:strRef>
          </c:cat>
          <c:val>
            <c:numRef>
              <c:f>'CREDITOS, ASOC Y ASIST_PPT'!$C$3:$E$3</c:f>
              <c:numCache>
                <c:formatCode>#,##0_ </c:formatCode>
                <c:ptCount val="3"/>
                <c:pt idx="0" formatCode="#,##0">
                  <c:v>44206</c:v>
                </c:pt>
                <c:pt idx="1">
                  <c:v>51289</c:v>
                </c:pt>
                <c:pt idx="2">
                  <c:v>85710</c:v>
                </c:pt>
              </c:numCache>
            </c:numRef>
          </c:val>
          <c:extLst>
            <c:ext xmlns:c16="http://schemas.microsoft.com/office/drawing/2014/chart" uri="{C3380CC4-5D6E-409C-BE32-E72D297353CC}">
              <c16:uniqueId val="{00000000-4615-49D8-9191-ADE2985343BE}"/>
            </c:ext>
          </c:extLst>
        </c:ser>
        <c:ser>
          <c:idx val="1"/>
          <c:order val="1"/>
          <c:tx>
            <c:strRef>
              <c:f>'CREDITOS, ASOC Y ASIST_PPT'!$B$4</c:f>
              <c:strCache>
                <c:ptCount val="1"/>
                <c:pt idx="0">
                  <c:v>CAN 2022</c:v>
                </c:pt>
              </c:strCache>
            </c:strRef>
          </c:tx>
          <c:spPr>
            <a:solidFill>
              <a:schemeClr val="accent3">
                <a:lumMod val="50000"/>
              </a:schemeClr>
            </a:solidFill>
            <a:ln>
              <a:noFill/>
            </a:ln>
            <a:effectLst/>
          </c:spPr>
          <c:invertIfNegative val="0"/>
          <c:dLbls>
            <c:dLbl>
              <c:idx val="2"/>
              <c:layout>
                <c:manualLayout>
                  <c:x val="3.4493571226712257E-3"/>
                  <c:y val="0.12642165604074029"/>
                </c:manualLayout>
              </c:layout>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615-49D8-9191-ADE2985343BE}"/>
                </c:ext>
              </c:extLst>
            </c:dLbl>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'CREDITOS, ASOC Y ASIST_PPT'!$C$2:$E$2</c:f>
              <c:strCache>
                <c:ptCount val="3"/>
                <c:pt idx="0">
                  <c:v>Fincas con asistencias técnicas</c:v>
                </c:pt>
                <c:pt idx="1">
                  <c:v>Fincas con acceso a créditos</c:v>
                </c:pt>
                <c:pt idx="2">
                  <c:v>Fincas   asociadas</c:v>
                </c:pt>
              </c:strCache>
            </c:strRef>
          </c:cat>
          <c:val>
            <c:numRef>
              <c:f>'CREDITOS, ASOC Y ASIST_PPT'!$C$4:$E$4</c:f>
              <c:numCache>
                <c:formatCode>#,##0</c:formatCode>
                <c:ptCount val="3"/>
                <c:pt idx="0">
                  <c:v>44279</c:v>
                </c:pt>
                <c:pt idx="1">
                  <c:v>43489</c:v>
                </c:pt>
                <c:pt idx="2">
                  <c:v>78391</c:v>
                </c:pt>
              </c:numCache>
            </c:numRef>
          </c:val>
          <c:extLst>
            <c:ext xmlns:c16="http://schemas.microsoft.com/office/drawing/2014/chart" uri="{C3380CC4-5D6E-409C-BE32-E72D297353CC}">
              <c16:uniqueId val="{00000001-4615-49D8-9191-ADE2985343BE}"/>
            </c:ext>
          </c:extLst>
        </c:ser>
        <c:dLbls>
          <c:showLegendKey val="0"/>
          <c:showVal val="0"/>
          <c:showCatName val="0"/>
          <c:showSerName val="0"/>
          <c:showPercent val="0"/>
          <c:showBubbleSize val="0"/>
        </c:dLbls>
        <c:gapWidth val="500"/>
        <c:overlap val="-10"/>
        <c:axId val="783983440"/>
        <c:axId val="1056603600"/>
      </c:barChart>
      <c:catAx>
        <c:axId val="783983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056603600"/>
        <c:crosses val="autoZero"/>
        <c:auto val="1"/>
        <c:lblAlgn val="ctr"/>
        <c:lblOffset val="100"/>
        <c:noMultiLvlLbl val="0"/>
      </c:catAx>
      <c:valAx>
        <c:axId val="105660360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7839834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'G27-G28'!$B$3</c:f>
              <c:strCache>
                <c:ptCount val="1"/>
                <c:pt idx="0">
                  <c:v>CAN 2008</c:v>
                </c:pt>
              </c:strCache>
            </c:strRef>
          </c:tx>
          <c:spPr>
            <a:solidFill>
              <a:srgbClr val="CC9900"/>
            </a:solidFill>
            <a:ln>
              <a:noFill/>
            </a:ln>
            <a:effectLst/>
          </c:spPr>
          <c:invertIfNegative val="0"/>
          <c:dLbls>
            <c:dLbl>
              <c:idx val="0"/>
              <c:layout>
                <c:manualLayout>
                  <c:x val="0"/>
                  <c:y val="5.5216190952370597E-2"/>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1C2-4DCC-83D5-C9506C378ED4}"/>
                </c:ext>
              </c:extLst>
            </c:dLbl>
            <c:dLbl>
              <c:idx val="1"/>
              <c:layout>
                <c:manualLayout>
                  <c:x val="1.5830097927229413E-3"/>
                  <c:y val="8.7696303277294482E-2"/>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1C2-4DCC-83D5-C9506C378ED4}"/>
                </c:ext>
              </c:extLst>
            </c:dLbl>
            <c:dLbl>
              <c:idx val="3"/>
              <c:layout>
                <c:manualLayout>
                  <c:x val="-1.5830097927230574E-3"/>
                  <c:y val="0.12342442683471069"/>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1C2-4DCC-83D5-C9506C378ED4}"/>
                </c:ext>
              </c:extLst>
            </c:dLbl>
            <c:spPr>
              <a:noFill/>
              <a:ln>
                <a:noFill/>
              </a:ln>
              <a:effectLst/>
            </c:spPr>
            <c:txPr>
              <a:bodyPr rot="-5400000" vert="horz" wrap="square" lIns="38100" tIns="19050" rIns="38100" bIns="19050" anchor="ctr">
                <a:spAutoFit/>
              </a:bodyPr>
              <a:lstStyle/>
              <a:p>
                <a:pPr>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'G27-G28'!$C$2:$F$2</c:f>
              <c:strCache>
                <c:ptCount val="4"/>
                <c:pt idx="0">
                  <c:v>Sembradoras manuales (matraca)</c:v>
                </c:pt>
                <c:pt idx="1">
                  <c:v>Pulverizadores a mochilla</c:v>
                </c:pt>
                <c:pt idx="2">
                  <c:v>Pulverizador motorizada a mochilla</c:v>
                </c:pt>
                <c:pt idx="3">
                  <c:v>Arados de madera tumba o vertedera, subsolador, etc.</c:v>
                </c:pt>
              </c:strCache>
            </c:strRef>
          </c:cat>
          <c:val>
            <c:numRef>
              <c:f>'G27-G28'!$C$3:$F$3</c:f>
              <c:numCache>
                <c:formatCode>#,##0</c:formatCode>
                <c:ptCount val="4"/>
                <c:pt idx="0">
                  <c:v>109099</c:v>
                </c:pt>
                <c:pt idx="1">
                  <c:v>102844</c:v>
                </c:pt>
                <c:pt idx="2">
                  <c:v>3013</c:v>
                </c:pt>
                <c:pt idx="3">
                  <c:v>63898</c:v>
                </c:pt>
              </c:numCache>
            </c:numRef>
          </c:val>
          <c:extLst>
            <c:ext xmlns:c16="http://schemas.microsoft.com/office/drawing/2014/chart" uri="{C3380CC4-5D6E-409C-BE32-E72D297353CC}">
              <c16:uniqueId val="{00000003-11C2-4DCC-83D5-C9506C378ED4}"/>
            </c:ext>
          </c:extLst>
        </c:ser>
        <c:ser>
          <c:idx val="1"/>
          <c:order val="1"/>
          <c:tx>
            <c:strRef>
              <c:f>'G27-G28'!$B$4</c:f>
              <c:strCache>
                <c:ptCount val="1"/>
                <c:pt idx="0">
                  <c:v>CAN 2022</c:v>
                </c:pt>
              </c:strCache>
            </c:strRef>
          </c:tx>
          <c:spPr>
            <a:solidFill>
              <a:schemeClr val="accent3">
                <a:lumMod val="50000"/>
              </a:schemeClr>
            </a:solidFill>
            <a:ln>
              <a:noFill/>
            </a:ln>
            <a:effectLst/>
          </c:spPr>
          <c:invertIfNegative val="0"/>
          <c:dLbls>
            <c:dLbl>
              <c:idx val="0"/>
              <c:layout>
                <c:manualLayout>
                  <c:x val="6.3320391708917949E-3"/>
                  <c:y val="0.1169284043697260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1C2-4DCC-83D5-C9506C378ED4}"/>
                </c:ext>
              </c:extLst>
            </c:dLbl>
            <c:dLbl>
              <c:idx val="1"/>
              <c:layout>
                <c:manualLayout>
                  <c:x val="4.7490293781688245E-3"/>
                  <c:y val="0.123424426834710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1C2-4DCC-83D5-C9506C378ED4}"/>
                </c:ext>
              </c:extLst>
            </c:dLbl>
            <c:dLbl>
              <c:idx val="2"/>
              <c:spPr>
                <a:noFill/>
                <a:ln>
                  <a:noFill/>
                </a:ln>
                <a:effectLst/>
              </c:spPr>
              <c:txPr>
                <a:bodyPr rot="-5400000" vert="horz" wrap="square" lIns="38100" tIns="19050" rIns="38100" bIns="19050" anchor="ctr">
                  <a:spAutoFit/>
                </a:bodyPr>
                <a:lstStyle/>
                <a:p>
                  <a:pPr>
                    <a:defRPr>
                      <a:solidFill>
                        <a:schemeClr val="tx1"/>
                      </a:solidFill>
                    </a:defRPr>
                  </a:pPr>
                  <a:endParaRPr lang="es-PY"/>
                </a:p>
              </c:txPr>
              <c:showLegendKey val="0"/>
              <c:showVal val="1"/>
              <c:showCatName val="0"/>
              <c:showSerName val="0"/>
              <c:showPercent val="0"/>
              <c:showBubbleSize val="0"/>
              <c:extLst>
                <c:ext xmlns:c16="http://schemas.microsoft.com/office/drawing/2014/chart" uri="{C3380CC4-5D6E-409C-BE32-E72D297353CC}">
                  <c16:uniqueId val="{00000006-11C2-4DCC-83D5-C9506C378ED4}"/>
                </c:ext>
              </c:extLst>
            </c:dLbl>
            <c:dLbl>
              <c:idx val="3"/>
              <c:layout>
                <c:manualLayout>
                  <c:x val="0"/>
                  <c:y val="0.123424426834710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1C2-4DCC-83D5-C9506C378ED4}"/>
                </c:ext>
              </c:extLst>
            </c:dLbl>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'G27-G28'!$C$2:$F$2</c:f>
              <c:strCache>
                <c:ptCount val="4"/>
                <c:pt idx="0">
                  <c:v>Sembradoras manuales (matraca)</c:v>
                </c:pt>
                <c:pt idx="1">
                  <c:v>Pulverizadores a mochilla</c:v>
                </c:pt>
                <c:pt idx="2">
                  <c:v>Pulverizador motorizada a mochilla</c:v>
                </c:pt>
                <c:pt idx="3">
                  <c:v>Arados de madera tumba o vertedera, subsolador, etc.</c:v>
                </c:pt>
              </c:strCache>
            </c:strRef>
          </c:cat>
          <c:val>
            <c:numRef>
              <c:f>'G27-G28'!$C$4:$F$4</c:f>
              <c:numCache>
                <c:formatCode>#,##0</c:formatCode>
                <c:ptCount val="4"/>
                <c:pt idx="0">
                  <c:v>43063</c:v>
                </c:pt>
                <c:pt idx="1">
                  <c:v>44937</c:v>
                </c:pt>
                <c:pt idx="2">
                  <c:v>2223</c:v>
                </c:pt>
                <c:pt idx="3">
                  <c:v>16540</c:v>
                </c:pt>
              </c:numCache>
            </c:numRef>
          </c:val>
          <c:extLst>
            <c:ext xmlns:c16="http://schemas.microsoft.com/office/drawing/2014/chart" uri="{C3380CC4-5D6E-409C-BE32-E72D297353CC}">
              <c16:uniqueId val="{00000008-11C2-4DCC-83D5-C9506C378ED4}"/>
            </c:ext>
          </c:extLst>
        </c:ser>
        <c:dLbls>
          <c:showLegendKey val="0"/>
          <c:showVal val="0"/>
          <c:showCatName val="0"/>
          <c:showSerName val="0"/>
          <c:showPercent val="0"/>
          <c:showBubbleSize val="0"/>
        </c:dLbls>
        <c:gapWidth val="300"/>
        <c:overlap val="-10"/>
        <c:axId val="147082240"/>
        <c:axId val="148395136"/>
      </c:barChart>
      <c:lineChart>
        <c:grouping val="standard"/>
        <c:varyColors val="0"/>
        <c:ser>
          <c:idx val="3"/>
          <c:order val="2"/>
          <c:tx>
            <c:strRef>
              <c:f>'G27-G28'!$B$6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5.8743557349645523E-2"/>
                  <c:y val="-6.5546915462801223E-3"/>
                </c:manualLayout>
              </c:layout>
              <c:spPr>
                <a:noFill/>
                <a:ln>
                  <a:noFill/>
                </a:ln>
                <a:effectLst/>
              </c:spPr>
              <c:txPr>
                <a:bodyPr wrap="square" lIns="38100" tIns="19050" rIns="38100" bIns="19050" anchor="ctr">
                  <a:spAutoFit/>
                </a:bodyPr>
                <a:lstStyle/>
                <a:p>
                  <a:pPr>
                    <a:defRPr b="1"/>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DB-47F4-9A1A-9C0B1B1321CA}"/>
                </c:ext>
              </c:extLst>
            </c:dLbl>
            <c:dLbl>
              <c:idx val="1"/>
              <c:layout>
                <c:manualLayout>
                  <c:x val="-4.9468258820754181E-2"/>
                  <c:y val="3.9328149277680732E-2"/>
                </c:manualLayout>
              </c:layout>
              <c:spPr>
                <a:noFill/>
                <a:ln>
                  <a:noFill/>
                </a:ln>
                <a:effectLst/>
              </c:spPr>
              <c:txPr>
                <a:bodyPr wrap="square" lIns="38100" tIns="19050" rIns="38100" bIns="19050" anchor="ctr">
                  <a:spAutoFit/>
                </a:bodyPr>
                <a:lstStyle/>
                <a:p>
                  <a:pPr>
                    <a:defRPr b="1"/>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BDB-47F4-9A1A-9C0B1B1321CA}"/>
                </c:ext>
              </c:extLst>
            </c:dLbl>
            <c:dLbl>
              <c:idx val="2"/>
              <c:layout>
                <c:manualLayout>
                  <c:x val="-4.9468258820754125E-2"/>
                  <c:y val="-1.9664074638840425E-2"/>
                </c:manualLayout>
              </c:layout>
              <c:spPr>
                <a:noFill/>
                <a:ln>
                  <a:noFill/>
                </a:ln>
                <a:effectLst/>
              </c:spPr>
              <c:txPr>
                <a:bodyPr wrap="square" lIns="38100" tIns="19050" rIns="38100" bIns="19050" anchor="ctr">
                  <a:spAutoFit/>
                </a:bodyPr>
                <a:lstStyle/>
                <a:p>
                  <a:pPr>
                    <a:defRPr b="1"/>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DB-47F4-9A1A-9C0B1B1321CA}"/>
                </c:ext>
              </c:extLst>
            </c:dLbl>
            <c:dLbl>
              <c:idx val="3"/>
              <c:layout>
                <c:manualLayout>
                  <c:x val="-4.9468258820754236E-2"/>
                  <c:y val="-5.2437532370241097E-2"/>
                </c:manualLayout>
              </c:layout>
              <c:spPr>
                <a:noFill/>
                <a:ln>
                  <a:noFill/>
                </a:ln>
                <a:effectLst/>
              </c:spPr>
              <c:txPr>
                <a:bodyPr wrap="square" lIns="38100" tIns="19050" rIns="38100" bIns="19050" anchor="ctr">
                  <a:spAutoFit/>
                </a:bodyPr>
                <a:lstStyle/>
                <a:p>
                  <a:pPr>
                    <a:defRPr b="1"/>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BDB-47F4-9A1A-9C0B1B1321CA}"/>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'G27-G28'!$C$2:$F$2</c:f>
              <c:strCache>
                <c:ptCount val="4"/>
                <c:pt idx="0">
                  <c:v>Sembradoras manuales (matraca)</c:v>
                </c:pt>
                <c:pt idx="1">
                  <c:v>Pulverizadores a mochilla</c:v>
                </c:pt>
                <c:pt idx="2">
                  <c:v>Pulverizador motorizada a mochilla</c:v>
                </c:pt>
                <c:pt idx="3">
                  <c:v>Arados de madera tumba o vertedera, subsolador, etc.</c:v>
                </c:pt>
              </c:strCache>
            </c:strRef>
          </c:cat>
          <c:val>
            <c:numRef>
              <c:f>'G27-G28'!$C$6:$F$6</c:f>
              <c:numCache>
                <c:formatCode>0.0</c:formatCode>
                <c:ptCount val="4"/>
                <c:pt idx="0">
                  <c:v>-60.528510802115512</c:v>
                </c:pt>
                <c:pt idx="1">
                  <c:v>-56.305666835206722</c:v>
                </c:pt>
                <c:pt idx="2">
                  <c:v>-26.219714570195819</c:v>
                </c:pt>
                <c:pt idx="3">
                  <c:v>-74.114995774515634</c:v>
                </c:pt>
              </c:numCache>
            </c:numRef>
          </c:val>
          <c:smooth val="0"/>
          <c:extLst>
            <c:ext xmlns:c16="http://schemas.microsoft.com/office/drawing/2014/chart" uri="{C3380CC4-5D6E-409C-BE32-E72D297353CC}">
              <c16:uniqueId val="{0000000D-11C2-4DCC-83D5-C9506C378ED4}"/>
            </c:ext>
          </c:extLst>
        </c:ser>
        <c:dLbls>
          <c:showLegendKey val="0"/>
          <c:showVal val="0"/>
          <c:showCatName val="0"/>
          <c:showSerName val="0"/>
          <c:showPercent val="0"/>
          <c:showBubbleSize val="0"/>
        </c:dLbls>
        <c:marker val="1"/>
        <c:smooth val="0"/>
        <c:axId val="148977152"/>
        <c:axId val="148397056"/>
      </c:lineChart>
      <c:catAx>
        <c:axId val="147082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8395136"/>
        <c:crosses val="autoZero"/>
        <c:auto val="1"/>
        <c:lblAlgn val="ctr"/>
        <c:lblOffset val="100"/>
        <c:noMultiLvlLbl val="0"/>
      </c:catAx>
      <c:valAx>
        <c:axId val="148395136"/>
        <c:scaling>
          <c:orientation val="minMax"/>
          <c:max val="1100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s-PY">
                    <a:solidFill>
                      <a:sysClr val="windowText" lastClr="000000"/>
                    </a:solidFill>
                  </a:rPr>
                  <a:t>Cantidad de Fincas</a:t>
                </a:r>
              </a:p>
            </c:rich>
          </c:tx>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7082240"/>
        <c:crosses val="autoZero"/>
        <c:crossBetween val="between"/>
      </c:valAx>
      <c:valAx>
        <c:axId val="148397056"/>
        <c:scaling>
          <c:orientation val="minMax"/>
          <c:max val="100"/>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PY" b="1">
                    <a:solidFill>
                      <a:sysClr val="windowText" lastClr="000000"/>
                    </a:solidFill>
                  </a:rPr>
                  <a:t>Var (%)</a:t>
                </a:r>
              </a:p>
            </c:rich>
          </c:tx>
          <c:overlay val="0"/>
          <c:spPr>
            <a:noFill/>
            <a:ln>
              <a:noFill/>
            </a:ln>
            <a:effectLst/>
          </c:sp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148977152"/>
        <c:crosses val="max"/>
        <c:crossBetween val="between"/>
        <c:majorUnit val="100"/>
      </c:valAx>
      <c:catAx>
        <c:axId val="148977152"/>
        <c:scaling>
          <c:orientation val="minMax"/>
        </c:scaling>
        <c:delete val="1"/>
        <c:axPos val="b"/>
        <c:numFmt formatCode="General" sourceLinked="1"/>
        <c:majorTickMark val="out"/>
        <c:minorTickMark val="none"/>
        <c:tickLblPos val="nextTo"/>
        <c:crossAx val="148397056"/>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2491085771469201"/>
          <c:y val="0.12454669069980707"/>
          <c:w val="0.79522476142229626"/>
          <c:h val="0.73082254714320427"/>
        </c:manualLayout>
      </c:layout>
      <c:barChart>
        <c:barDir val="col"/>
        <c:grouping val="clustered"/>
        <c:varyColors val="0"/>
        <c:ser>
          <c:idx val="0"/>
          <c:order val="0"/>
          <c:tx>
            <c:strRef>
              <c:f>reagrupa_ppt!$A$3</c:f>
              <c:strCache>
                <c:ptCount val="1"/>
                <c:pt idx="0">
                  <c:v>CAN 2008</c:v>
                </c:pt>
              </c:strCache>
            </c:strRef>
          </c:tx>
          <c:spPr>
            <a:solidFill>
              <a:srgbClr val="CC9900"/>
            </a:solidFill>
            <a:ln>
              <a:noFill/>
            </a:ln>
            <a:effectLst/>
          </c:spPr>
          <c:invertIfNegative val="0"/>
          <c:dLbls>
            <c:dLbl>
              <c:idx val="2"/>
              <c:layout>
                <c:manualLayout>
                  <c:x val="0"/>
                  <c:y val="0.10507944141162985"/>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B09-4F33-B1C0-5B35DD6D6DCF}"/>
                </c:ext>
              </c:extLst>
            </c:dLbl>
            <c:spPr>
              <a:noFill/>
              <a:ln>
                <a:noFill/>
              </a:ln>
              <a:effectLst/>
            </c:spPr>
            <c:txPr>
              <a:bodyPr rot="-5400000" vert="horz" wrap="square" lIns="38100" tIns="19050" rIns="38100" bIns="19050" anchor="ctr">
                <a:spAutoFit/>
              </a:bodyPr>
              <a:lstStyle/>
              <a:p>
                <a:pPr>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reagrupa_ppt!$B$2:$E$2</c:f>
              <c:strCache>
                <c:ptCount val="4"/>
                <c:pt idx="0">
                  <c:v> Tractores</c:v>
                </c:pt>
                <c:pt idx="1">
                  <c:v>Cosechadoras </c:v>
                </c:pt>
                <c:pt idx="2">
                  <c:v>Sembradoras</c:v>
                </c:pt>
                <c:pt idx="3">
                  <c:v>Pulverizadores</c:v>
                </c:pt>
              </c:strCache>
            </c:strRef>
          </c:cat>
          <c:val>
            <c:numRef>
              <c:f>reagrupa_ppt!$B$3:$E$3</c:f>
              <c:numCache>
                <c:formatCode>#,##0_ </c:formatCode>
                <c:ptCount val="4"/>
                <c:pt idx="0" formatCode="#,##0">
                  <c:v>17733</c:v>
                </c:pt>
                <c:pt idx="1">
                  <c:v>5547</c:v>
                </c:pt>
                <c:pt idx="2" formatCode="#,##0">
                  <c:v>9800</c:v>
                </c:pt>
                <c:pt idx="3">
                  <c:v>7607</c:v>
                </c:pt>
              </c:numCache>
            </c:numRef>
          </c:val>
          <c:extLst>
            <c:ext xmlns:c16="http://schemas.microsoft.com/office/drawing/2014/chart" uri="{C3380CC4-5D6E-409C-BE32-E72D297353CC}">
              <c16:uniqueId val="{00000000-EB09-4F33-B1C0-5B35DD6D6DCF}"/>
            </c:ext>
          </c:extLst>
        </c:ser>
        <c:ser>
          <c:idx val="1"/>
          <c:order val="1"/>
          <c:tx>
            <c:strRef>
              <c:f>reagrupa_ppt!$A$4</c:f>
              <c:strCache>
                <c:ptCount val="1"/>
                <c:pt idx="0">
                  <c:v>CAN 2022</c:v>
                </c:pt>
              </c:strCache>
            </c:strRef>
          </c:tx>
          <c:spPr>
            <a:solidFill>
              <a:schemeClr val="accent3">
                <a:lumMod val="50000"/>
              </a:schemeClr>
            </a:solidFill>
            <a:ln>
              <a:noFill/>
            </a:ln>
            <a:effectLst/>
          </c:spPr>
          <c:invertIfNegative val="0"/>
          <c:dLbls>
            <c:dLbl>
              <c:idx val="0"/>
              <c:layout>
                <c:manualLayout>
                  <c:x val="4.294939789978417E-4"/>
                  <c:y val="0.1394442548674146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B09-4F33-B1C0-5B35DD6D6DCF}"/>
                </c:ext>
              </c:extLst>
            </c:dLbl>
            <c:dLbl>
              <c:idx val="1"/>
              <c:spPr>
                <a:noFill/>
                <a:ln>
                  <a:noFill/>
                </a:ln>
                <a:effectLst/>
              </c:spPr>
              <c:txPr>
                <a:bodyPr rot="-5400000" vert="horz" wrap="square" lIns="38100" tIns="19050" rIns="38100" bIns="19050" anchor="ctr">
                  <a:spAutoFit/>
                </a:bodyPr>
                <a:lstStyle/>
                <a:p>
                  <a:pPr>
                    <a:defRPr>
                      <a:solidFill>
                        <a:sysClr val="windowText" lastClr="000000"/>
                      </a:solidFill>
                    </a:defRPr>
                  </a:pPr>
                  <a:endParaRPr lang="es-PY"/>
                </a:p>
              </c:txPr>
              <c:showLegendKey val="0"/>
              <c:showVal val="1"/>
              <c:showCatName val="0"/>
              <c:showSerName val="0"/>
              <c:showPercent val="0"/>
              <c:showBubbleSize val="0"/>
              <c:extLst>
                <c:ext xmlns:c16="http://schemas.microsoft.com/office/drawing/2014/chart" uri="{C3380CC4-5D6E-409C-BE32-E72D297353CC}">
                  <c16:uniqueId val="{00000002-EB09-4F33-B1C0-5B35DD6D6DCF}"/>
                </c:ext>
              </c:extLst>
            </c:dLbl>
            <c:dLbl>
              <c:idx val="2"/>
              <c:layout>
                <c:manualLayout>
                  <c:x val="-1.1324955784318126E-16"/>
                  <c:y val="0.1146321179035961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B09-4F33-B1C0-5B35DD6D6DCF}"/>
                </c:ext>
              </c:extLst>
            </c:dLbl>
            <c:dLbl>
              <c:idx val="3"/>
              <c:spPr>
                <a:noFill/>
                <a:ln>
                  <a:noFill/>
                </a:ln>
                <a:effectLst/>
              </c:spPr>
              <c:txPr>
                <a:bodyPr rot="-5400000" vert="horz" wrap="square" lIns="38100" tIns="19050" rIns="38100" bIns="19050" anchor="ctr">
                  <a:spAutoFit/>
                </a:bodyPr>
                <a:lstStyle/>
                <a:p>
                  <a:pPr>
                    <a:defRPr>
                      <a:solidFill>
                        <a:sysClr val="windowText" lastClr="000000"/>
                      </a:solidFill>
                    </a:defRPr>
                  </a:pPr>
                  <a:endParaRPr lang="es-PY"/>
                </a:p>
              </c:txPr>
              <c:showLegendKey val="0"/>
              <c:showVal val="1"/>
              <c:showCatName val="0"/>
              <c:showSerName val="0"/>
              <c:showPercent val="0"/>
              <c:showBubbleSize val="0"/>
              <c:extLst>
                <c:ext xmlns:c16="http://schemas.microsoft.com/office/drawing/2014/chart" uri="{C3380CC4-5D6E-409C-BE32-E72D297353CC}">
                  <c16:uniqueId val="{00000004-EB09-4F33-B1C0-5B35DD6D6DCF}"/>
                </c:ext>
              </c:extLst>
            </c:dLbl>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reagrupa_ppt!$B$2:$E$2</c:f>
              <c:strCache>
                <c:ptCount val="4"/>
                <c:pt idx="0">
                  <c:v> Tractores</c:v>
                </c:pt>
                <c:pt idx="1">
                  <c:v>Cosechadoras </c:v>
                </c:pt>
                <c:pt idx="2">
                  <c:v>Sembradoras</c:v>
                </c:pt>
                <c:pt idx="3">
                  <c:v>Pulverizadores</c:v>
                </c:pt>
              </c:strCache>
            </c:strRef>
          </c:cat>
          <c:val>
            <c:numRef>
              <c:f>reagrupa_ppt!$B$4:$E$4</c:f>
              <c:numCache>
                <c:formatCode>#,##0</c:formatCode>
                <c:ptCount val="4"/>
                <c:pt idx="0">
                  <c:v>22094</c:v>
                </c:pt>
                <c:pt idx="1">
                  <c:v>7430</c:v>
                </c:pt>
                <c:pt idx="2">
                  <c:v>9861</c:v>
                </c:pt>
                <c:pt idx="3">
                  <c:v>8542</c:v>
                </c:pt>
              </c:numCache>
            </c:numRef>
          </c:val>
          <c:extLst>
            <c:ext xmlns:c16="http://schemas.microsoft.com/office/drawing/2014/chart" uri="{C3380CC4-5D6E-409C-BE32-E72D297353CC}">
              <c16:uniqueId val="{00000005-EB09-4F33-B1C0-5B35DD6D6DCF}"/>
            </c:ext>
          </c:extLst>
        </c:ser>
        <c:dLbls>
          <c:showLegendKey val="0"/>
          <c:showVal val="0"/>
          <c:showCatName val="0"/>
          <c:showSerName val="0"/>
          <c:showPercent val="0"/>
          <c:showBubbleSize val="0"/>
        </c:dLbls>
        <c:gapWidth val="500"/>
        <c:overlap val="-10"/>
        <c:axId val="205569024"/>
        <c:axId val="205575296"/>
      </c:barChart>
      <c:lineChart>
        <c:grouping val="standard"/>
        <c:varyColors val="0"/>
        <c:ser>
          <c:idx val="3"/>
          <c:order val="2"/>
          <c:tx>
            <c:strRef>
              <c:f>reagrupa_ppt!$A$6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4.0563225660295313E-2"/>
                  <c:y val="3.66900502480812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B09-4F33-B1C0-5B35DD6D6DCF}"/>
                </c:ext>
              </c:extLst>
            </c:dLbl>
            <c:dLbl>
              <c:idx val="1"/>
              <c:layout>
                <c:manualLayout>
                  <c:x val="-4.2363433667781537E-2"/>
                  <c:y val="-2.14190093708166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B09-4F33-B1C0-5B35DD6D6DCF}"/>
                </c:ext>
              </c:extLst>
            </c:dLbl>
            <c:dLbl>
              <c:idx val="2"/>
              <c:layout>
                <c:manualLayout>
                  <c:x val="-3.5674470457079152E-2"/>
                  <c:y val="-4.55153949129852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B09-4F33-B1C0-5B35DD6D6DCF}"/>
                </c:ext>
              </c:extLst>
            </c:dLbl>
            <c:dLbl>
              <c:idx val="3"/>
              <c:layout>
                <c:manualLayout>
                  <c:x val="-2.7870680044593088E-2"/>
                  <c:y val="-4.01606425702811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B09-4F33-B1C0-5B35DD6D6DC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reagrupa_ppt!$B$2:$E$2</c:f>
              <c:strCache>
                <c:ptCount val="4"/>
                <c:pt idx="0">
                  <c:v> Tractores</c:v>
                </c:pt>
                <c:pt idx="1">
                  <c:v>Cosechadoras </c:v>
                </c:pt>
                <c:pt idx="2">
                  <c:v>Sembradoras</c:v>
                </c:pt>
                <c:pt idx="3">
                  <c:v>Pulverizadores</c:v>
                </c:pt>
              </c:strCache>
            </c:strRef>
          </c:cat>
          <c:val>
            <c:numRef>
              <c:f>reagrupa_ppt!$B$6:$E$6</c:f>
              <c:numCache>
                <c:formatCode>0.0</c:formatCode>
                <c:ptCount val="4"/>
                <c:pt idx="0">
                  <c:v>24.592567529464837</c:v>
                </c:pt>
                <c:pt idx="1">
                  <c:v>33.946277266991174</c:v>
                </c:pt>
                <c:pt idx="2">
                  <c:v>0.62244897959182754</c:v>
                </c:pt>
                <c:pt idx="3">
                  <c:v>12.29131063494151</c:v>
                </c:pt>
              </c:numCache>
            </c:numRef>
          </c:val>
          <c:smooth val="0"/>
          <c:extLst>
            <c:ext xmlns:c16="http://schemas.microsoft.com/office/drawing/2014/chart" uri="{C3380CC4-5D6E-409C-BE32-E72D297353CC}">
              <c16:uniqueId val="{0000000A-EB09-4F33-B1C0-5B35DD6D6DCF}"/>
            </c:ext>
          </c:extLst>
        </c:ser>
        <c:dLbls>
          <c:showLegendKey val="0"/>
          <c:showVal val="0"/>
          <c:showCatName val="0"/>
          <c:showSerName val="0"/>
          <c:showPercent val="0"/>
          <c:showBubbleSize val="0"/>
        </c:dLbls>
        <c:marker val="1"/>
        <c:smooth val="0"/>
        <c:axId val="205591680"/>
        <c:axId val="205577216"/>
      </c:lineChart>
      <c:catAx>
        <c:axId val="205569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5575296"/>
        <c:crosses val="autoZero"/>
        <c:auto val="1"/>
        <c:lblAlgn val="ctr"/>
        <c:lblOffset val="100"/>
        <c:noMultiLvlLbl val="0"/>
      </c:catAx>
      <c:valAx>
        <c:axId val="2055752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s-PY">
                    <a:solidFill>
                      <a:sysClr val="windowText" lastClr="000000"/>
                    </a:solidFill>
                  </a:rPr>
                  <a:t>Cantidad de Fincas</a:t>
                </a:r>
              </a:p>
            </c:rich>
          </c:tx>
          <c:layout>
            <c:manualLayout>
              <c:xMode val="edge"/>
              <c:yMode val="edge"/>
              <c:x val="1.5487217440843148E-2"/>
              <c:y val="0.36872654297663909"/>
            </c:manualLayout>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5569024"/>
        <c:crosses val="autoZero"/>
        <c:crossBetween val="between"/>
      </c:valAx>
      <c:valAx>
        <c:axId val="205577216"/>
        <c:scaling>
          <c:orientation val="minMax"/>
          <c:max val="100"/>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b="1">
                    <a:solidFill>
                      <a:sysClr val="windowText" lastClr="000000"/>
                    </a:solidFill>
                  </a:rPr>
                  <a:t>Var (%)</a:t>
                </a:r>
              </a:p>
            </c:rich>
          </c:tx>
          <c:overlay val="0"/>
          <c:spPr>
            <a:noFill/>
            <a:ln>
              <a:noFill/>
            </a:ln>
            <a:effectLst/>
          </c:sp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5591680"/>
        <c:crosses val="max"/>
        <c:crossBetween val="between"/>
        <c:majorUnit val="100"/>
      </c:valAx>
      <c:catAx>
        <c:axId val="205591680"/>
        <c:scaling>
          <c:orientation val="minMax"/>
        </c:scaling>
        <c:delete val="1"/>
        <c:axPos val="b"/>
        <c:numFmt formatCode="General" sourceLinked="1"/>
        <c:majorTickMark val="out"/>
        <c:minorTickMark val="none"/>
        <c:tickLblPos val="nextTo"/>
        <c:crossAx val="205577216"/>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41654772454991"/>
          <c:y val="8.9684756373462529E-2"/>
          <c:w val="0.79808142781844649"/>
          <c:h val="0.74191379417422243"/>
        </c:manualLayout>
      </c:layout>
      <c:barChart>
        <c:barDir val="col"/>
        <c:grouping val="clustered"/>
        <c:varyColors val="0"/>
        <c:ser>
          <c:idx val="0"/>
          <c:order val="0"/>
          <c:tx>
            <c:strRef>
              <c:f>reagrupa_ppt!$I$3</c:f>
              <c:strCache>
                <c:ptCount val="1"/>
                <c:pt idx="0">
                  <c:v>CAN 2008</c:v>
                </c:pt>
              </c:strCache>
            </c:strRef>
          </c:tx>
          <c:spPr>
            <a:solidFill>
              <a:srgbClr val="CC9900"/>
            </a:solidFill>
            <a:ln>
              <a:noFill/>
            </a:ln>
            <a:effectLst/>
          </c:spPr>
          <c:invertIfNegative val="0"/>
          <c:dLbls>
            <c:dLbl>
              <c:idx val="0"/>
              <c:layout>
                <c:manualLayout>
                  <c:x val="-2.9767508215207329E-17"/>
                  <c:y val="0.13103628137014667"/>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EC7-49B7-B809-B6F8610EABB9}"/>
                </c:ext>
              </c:extLst>
            </c:dLbl>
            <c:dLbl>
              <c:idx val="2"/>
              <c:layout>
                <c:manualLayout>
                  <c:x val="-1.1907003286082932E-16"/>
                  <c:y val="0.13617434403822079"/>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EC7-49B7-B809-B6F8610EABB9}"/>
                </c:ext>
              </c:extLst>
            </c:dLbl>
            <c:spPr>
              <a:noFill/>
              <a:ln>
                <a:noFill/>
              </a:ln>
              <a:effectLst/>
            </c:spPr>
            <c:txPr>
              <a:bodyPr rot="-5400000" vert="horz" wrap="square" lIns="38100" tIns="19050" rIns="38100" bIns="19050" anchor="ctr">
                <a:spAutoFit/>
              </a:bodyPr>
              <a:lstStyle/>
              <a:p>
                <a:pPr>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reagrupa_ppt!$J$2:$M$2</c:f>
              <c:strCache>
                <c:ptCount val="4"/>
                <c:pt idx="0">
                  <c:v>Tractores </c:v>
                </c:pt>
                <c:pt idx="1">
                  <c:v>Cosechadoras</c:v>
                </c:pt>
                <c:pt idx="2">
                  <c:v>Sembradoras </c:v>
                </c:pt>
                <c:pt idx="3">
                  <c:v>Pulverizadores</c:v>
                </c:pt>
              </c:strCache>
            </c:strRef>
          </c:cat>
          <c:val>
            <c:numRef>
              <c:f>reagrupa_ppt!$J$3:$M$3</c:f>
              <c:numCache>
                <c:formatCode>#,##0_ </c:formatCode>
                <c:ptCount val="4"/>
                <c:pt idx="0" formatCode="#,##0">
                  <c:v>25823</c:v>
                </c:pt>
                <c:pt idx="1">
                  <c:v>7393</c:v>
                </c:pt>
                <c:pt idx="2" formatCode="#,##0">
                  <c:v>15583</c:v>
                </c:pt>
                <c:pt idx="3">
                  <c:v>8530</c:v>
                </c:pt>
              </c:numCache>
            </c:numRef>
          </c:val>
          <c:extLst>
            <c:ext xmlns:c16="http://schemas.microsoft.com/office/drawing/2014/chart" uri="{C3380CC4-5D6E-409C-BE32-E72D297353CC}">
              <c16:uniqueId val="{00000002-8EC7-49B7-B809-B6F8610EABB9}"/>
            </c:ext>
          </c:extLst>
        </c:ser>
        <c:ser>
          <c:idx val="1"/>
          <c:order val="1"/>
          <c:tx>
            <c:strRef>
              <c:f>reagrupa_ppt!$I$4</c:f>
              <c:strCache>
                <c:ptCount val="1"/>
                <c:pt idx="0">
                  <c:v>CAN 2022</c:v>
                </c:pt>
              </c:strCache>
            </c:strRef>
          </c:tx>
          <c:spPr>
            <a:solidFill>
              <a:schemeClr val="accent3">
                <a:lumMod val="50000"/>
              </a:schemeClr>
            </a:solidFill>
            <a:ln>
              <a:noFill/>
            </a:ln>
            <a:effectLst/>
          </c:spPr>
          <c:invertIfNegative val="0"/>
          <c:dLbls>
            <c:dLbl>
              <c:idx val="0"/>
              <c:layout>
                <c:manualLayout>
                  <c:x val="-1.6237010232001306E-3"/>
                  <c:y val="0.14388143804033196"/>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EC7-49B7-B809-B6F8610EABB9}"/>
                </c:ext>
              </c:extLst>
            </c:dLbl>
            <c:dLbl>
              <c:idx val="2"/>
              <c:layout>
                <c:manualLayout>
                  <c:x val="-1.6237010232001306E-3"/>
                  <c:y val="0.13809985275372788"/>
                </c:manualLayout>
              </c:layout>
              <c:spPr>
                <a:noFill/>
                <a:ln>
                  <a:noFill/>
                </a:ln>
                <a:effectLst/>
              </c:spPr>
              <c:txPr>
                <a:bodyPr rot="-5400000" vert="horz" wrap="square" lIns="38100" tIns="19050" rIns="38100" bIns="19050" anchor="ctr">
                  <a:spAutoFit/>
                </a:bodyPr>
                <a:lstStyle/>
                <a:p>
                  <a:pPr>
                    <a:defRPr>
                      <a:solidFill>
                        <a:schemeClr val="bg1"/>
                      </a:solidFill>
                    </a:defRPr>
                  </a:pPr>
                  <a:endParaRPr lang="es-PY"/>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EC7-49B7-B809-B6F8610EABB9}"/>
                </c:ext>
              </c:extLst>
            </c:dLbl>
            <c:spPr>
              <a:noFill/>
              <a:ln>
                <a:noFill/>
              </a:ln>
              <a:effectLst/>
            </c:spPr>
            <c:txPr>
              <a:bodyPr rot="-5400000" vert="horz" wrap="square" lIns="38100" tIns="19050" rIns="38100" bIns="19050" anchor="ctr">
                <a:spAutoFit/>
              </a:bodyPr>
              <a:lstStyle/>
              <a:p>
                <a:pPr>
                  <a:defRPr/>
                </a:pPr>
                <a:endParaRPr lang="es-PY"/>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reagrupa_ppt!$J$2:$M$2</c:f>
              <c:strCache>
                <c:ptCount val="4"/>
                <c:pt idx="0">
                  <c:v>Tractores </c:v>
                </c:pt>
                <c:pt idx="1">
                  <c:v>Cosechadoras</c:v>
                </c:pt>
                <c:pt idx="2">
                  <c:v>Sembradoras </c:v>
                </c:pt>
                <c:pt idx="3">
                  <c:v>Pulverizadores</c:v>
                </c:pt>
              </c:strCache>
            </c:strRef>
          </c:cat>
          <c:val>
            <c:numRef>
              <c:f>reagrupa_ppt!$J$4:$M$4</c:f>
              <c:numCache>
                <c:formatCode>#,##0</c:formatCode>
                <c:ptCount val="4"/>
                <c:pt idx="0">
                  <c:v>36290.999999999942</c:v>
                </c:pt>
                <c:pt idx="1">
                  <c:v>10362.000000000011</c:v>
                </c:pt>
                <c:pt idx="2">
                  <c:v>15153.999999999984</c:v>
                </c:pt>
                <c:pt idx="3">
                  <c:v>10733.999999999995</c:v>
                </c:pt>
              </c:numCache>
            </c:numRef>
          </c:val>
          <c:extLst>
            <c:ext xmlns:c16="http://schemas.microsoft.com/office/drawing/2014/chart" uri="{C3380CC4-5D6E-409C-BE32-E72D297353CC}">
              <c16:uniqueId val="{00000005-8EC7-49B7-B809-B6F8610EABB9}"/>
            </c:ext>
          </c:extLst>
        </c:ser>
        <c:dLbls>
          <c:showLegendKey val="0"/>
          <c:showVal val="0"/>
          <c:showCatName val="0"/>
          <c:showSerName val="0"/>
          <c:showPercent val="0"/>
          <c:showBubbleSize val="0"/>
        </c:dLbls>
        <c:gapWidth val="500"/>
        <c:overlap val="-10"/>
        <c:axId val="205726080"/>
        <c:axId val="205728000"/>
      </c:barChart>
      <c:lineChart>
        <c:grouping val="standard"/>
        <c:varyColors val="0"/>
        <c:ser>
          <c:idx val="3"/>
          <c:order val="2"/>
          <c:tx>
            <c:strRef>
              <c:f>reagrupa_ppt!$I$6</c:f>
              <c:strCache>
                <c:ptCount val="1"/>
              </c:strCache>
            </c:strRef>
          </c:tx>
          <c:spPr>
            <a:ln w="28575" cap="rnd">
              <a:solidFill>
                <a:schemeClr val="accent6">
                  <a:lumMod val="50000"/>
                </a:schemeClr>
              </a:solidFill>
              <a:prstDash val="dash"/>
              <a:round/>
            </a:ln>
            <a:effectLst/>
          </c:spPr>
          <c:marker>
            <c:symbol val="circle"/>
            <c:size val="7"/>
            <c:spPr>
              <a:solidFill>
                <a:srgbClr val="FFC000"/>
              </a:solidFill>
              <a:ln w="9525">
                <a:solidFill>
                  <a:schemeClr val="accent6">
                    <a:lumMod val="50000"/>
                  </a:schemeClr>
                </a:solidFill>
                <a:prstDash val="dash"/>
              </a:ln>
              <a:effectLst/>
            </c:spPr>
          </c:marker>
          <c:dLbls>
            <c:dLbl>
              <c:idx val="0"/>
              <c:layout>
                <c:manualLayout>
                  <c:x val="-6.0794466615591215E-2"/>
                  <c:y val="-1.54142550707235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EC7-49B7-B809-B6F8610EABB9}"/>
                </c:ext>
              </c:extLst>
            </c:dLbl>
            <c:dLbl>
              <c:idx val="1"/>
              <c:layout>
                <c:manualLayout>
                  <c:x val="-4.2832465115530155E-2"/>
                  <c:y val="-2.82594676296597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EC7-49B7-B809-B6F8610EABB9}"/>
                </c:ext>
              </c:extLst>
            </c:dLbl>
            <c:dLbl>
              <c:idx val="2"/>
              <c:layout>
                <c:manualLayout>
                  <c:x val="-2.9015540884713979E-2"/>
                  <c:y val="-4.11046801885960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EC7-49B7-B809-B6F8610EABB9}"/>
                </c:ext>
              </c:extLst>
            </c:dLbl>
            <c:dLbl>
              <c:idx val="3"/>
              <c:layout>
                <c:manualLayout>
                  <c:x val="-5.1122619654019964E-2"/>
                  <c:y val="-2.31213826060852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EC7-49B7-B809-B6F8610EABB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reagrupa_ppt!$J$2:$M$2</c:f>
              <c:strCache>
                <c:ptCount val="4"/>
                <c:pt idx="0">
                  <c:v>Tractores </c:v>
                </c:pt>
                <c:pt idx="1">
                  <c:v>Cosechadoras</c:v>
                </c:pt>
                <c:pt idx="2">
                  <c:v>Sembradoras </c:v>
                </c:pt>
                <c:pt idx="3">
                  <c:v>Pulverizadores</c:v>
                </c:pt>
              </c:strCache>
            </c:strRef>
          </c:cat>
          <c:val>
            <c:numRef>
              <c:f>reagrupa_ppt!$J$6:$M$6</c:f>
              <c:numCache>
                <c:formatCode>0.0</c:formatCode>
                <c:ptCount val="4"/>
                <c:pt idx="0">
                  <c:v>40.537505324710295</c:v>
                </c:pt>
                <c:pt idx="1">
                  <c:v>40.159610442310445</c:v>
                </c:pt>
                <c:pt idx="2">
                  <c:v>-2.753000064172606</c:v>
                </c:pt>
                <c:pt idx="3">
                  <c:v>25.838218053927253</c:v>
                </c:pt>
              </c:numCache>
            </c:numRef>
          </c:val>
          <c:smooth val="0"/>
          <c:extLst>
            <c:ext xmlns:c16="http://schemas.microsoft.com/office/drawing/2014/chart" uri="{C3380CC4-5D6E-409C-BE32-E72D297353CC}">
              <c16:uniqueId val="{0000000A-8EC7-49B7-B809-B6F8610EABB9}"/>
            </c:ext>
          </c:extLst>
        </c:ser>
        <c:dLbls>
          <c:showLegendKey val="0"/>
          <c:showVal val="0"/>
          <c:showCatName val="0"/>
          <c:showSerName val="0"/>
          <c:showPercent val="0"/>
          <c:showBubbleSize val="0"/>
        </c:dLbls>
        <c:marker val="1"/>
        <c:smooth val="0"/>
        <c:axId val="205740288"/>
        <c:axId val="205738368"/>
      </c:lineChart>
      <c:catAx>
        <c:axId val="20572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5728000"/>
        <c:crosses val="autoZero"/>
        <c:auto val="1"/>
        <c:lblAlgn val="ctr"/>
        <c:lblOffset val="100"/>
        <c:noMultiLvlLbl val="0"/>
      </c:catAx>
      <c:valAx>
        <c:axId val="2057280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PY"/>
                  <a:t>Cantidad</a:t>
                </a:r>
                <a:r>
                  <a:rPr lang="es-PY" baseline="0"/>
                  <a:t> de implementos</a:t>
                </a:r>
                <a:endParaRPr lang="es-PY"/>
              </a:p>
            </c:rich>
          </c:tx>
          <c:layout>
            <c:manualLayout>
              <c:xMode val="edge"/>
              <c:yMode val="edge"/>
              <c:x val="1.7094015176658907E-2"/>
              <c:y val="0.31223787613072107"/>
            </c:manualLayout>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5726080"/>
        <c:crosses val="autoZero"/>
        <c:crossBetween val="between"/>
        <c:majorUnit val="3000"/>
      </c:valAx>
      <c:valAx>
        <c:axId val="205738368"/>
        <c:scaling>
          <c:orientation val="minMax"/>
          <c:max val="100"/>
          <c:min val="-100"/>
        </c:scaling>
        <c:delete val="0"/>
        <c:axPos val="r"/>
        <c:majorGridlines>
          <c:spPr>
            <a:ln w="15875" cap="flat" cmpd="sng" algn="ctr">
              <a:solidFill>
                <a:schemeClr val="accent6">
                  <a:lumMod val="50000"/>
                </a:schemeClr>
              </a:solidFill>
              <a:round/>
              <a:tailEnd type="oval"/>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s-PY" b="1">
                    <a:solidFill>
                      <a:sysClr val="windowText" lastClr="000000"/>
                    </a:solidFill>
                  </a:rPr>
                  <a:t>Var (%)</a:t>
                </a:r>
              </a:p>
            </c:rich>
          </c:tx>
          <c:overlay val="0"/>
          <c:spPr>
            <a:noFill/>
            <a:ln>
              <a:noFill/>
            </a:ln>
            <a:effectLst/>
          </c:spPr>
        </c:title>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Y"/>
          </a:p>
        </c:txPr>
        <c:crossAx val="205740288"/>
        <c:crosses val="max"/>
        <c:crossBetween val="between"/>
        <c:majorUnit val="100"/>
      </c:valAx>
      <c:catAx>
        <c:axId val="205740288"/>
        <c:scaling>
          <c:orientation val="minMax"/>
        </c:scaling>
        <c:delete val="1"/>
        <c:axPos val="b"/>
        <c:numFmt formatCode="General" sourceLinked="1"/>
        <c:majorTickMark val="out"/>
        <c:minorTickMark val="none"/>
        <c:tickLblPos val="nextTo"/>
        <c:crossAx val="205738368"/>
        <c:crosses val="autoZero"/>
        <c:auto val="1"/>
        <c:lblAlgn val="ctr"/>
        <c:lblOffset val="100"/>
        <c:noMultiLvlLbl val="0"/>
      </c:cat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PY"/>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s-PY"/>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Google Shape;3;n">
            <a:extLst>
              <a:ext uri="{FF2B5EF4-FFF2-40B4-BE49-F238E27FC236}">
                <a16:creationId xmlns:a16="http://schemas.microsoft.com/office/drawing/2014/main" id="{D1AB8DA5-6F23-F2BB-AEBA-328381D721F3}"/>
              </a:ext>
            </a:extLst>
          </p:cNvPr>
          <p:cNvSpPr>
            <a:spLocks noGrp="1" noRot="1" noChangeAspec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3075" name="Google Shape;4;n">
            <a:extLst>
              <a:ext uri="{FF2B5EF4-FFF2-40B4-BE49-F238E27FC236}">
                <a16:creationId xmlns:a16="http://schemas.microsoft.com/office/drawing/2014/main" id="{F53010BC-CF4B-EE34-7D90-987F6613585C}"/>
              </a:ext>
            </a:extLst>
          </p:cNvPr>
          <p:cNvSpPr txBox="1">
            <a:spLocks noGrp="1" noChangeArrowheads="1"/>
          </p:cNvSpPr>
          <p:nvPr>
            <p:ph type="body" idx="1"/>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Tree>
    <p:extLst>
      <p:ext uri="{BB962C8B-B14F-4D97-AF65-F5344CB8AC3E}">
        <p14:creationId xmlns:p14="http://schemas.microsoft.com/office/powerpoint/2010/main" val="9527486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914400" lvl="1"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371600" lvl="2"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828800" lvl="3"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286000" lvl="4"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2" name="Google Shape;85;p1:notes">
            <a:extLst>
              <a:ext uri="{FF2B5EF4-FFF2-40B4-BE49-F238E27FC236}">
                <a16:creationId xmlns:a16="http://schemas.microsoft.com/office/drawing/2014/main" id="{F20CEF82-0D9A-E9ED-C438-748791B59978}"/>
              </a:ext>
            </a:extLst>
          </p:cNvPr>
          <p:cNvSpPr>
            <a:spLocks noGrp="1" noRot="1" noChangeAspect="1" noTextEdit="1"/>
          </p:cNvSpPr>
          <p:nvPr>
            <p:ph type="sldImg" idx="2"/>
          </p:nvPr>
        </p:nvSpPr>
        <p:spPr>
          <a:noFill/>
        </p:spPr>
      </p:sp>
      <p:sp>
        <p:nvSpPr>
          <p:cNvPr id="5123" name="Google Shape;86;p1:notes">
            <a:extLst>
              <a:ext uri="{FF2B5EF4-FFF2-40B4-BE49-F238E27FC236}">
                <a16:creationId xmlns:a16="http://schemas.microsoft.com/office/drawing/2014/main" id="{054B8051-B5A7-C4BD-EFAB-B133256F9810}"/>
              </a:ext>
            </a:extLst>
          </p:cNvPr>
          <p:cNvSpPr txBox="1">
            <a:spLocks noGrp="1" noChangeArrowheads="1"/>
          </p:cNvSpPr>
          <p:nvPr>
            <p:ph type="body" idx="1"/>
          </p:nvPr>
        </p:nvSpPr>
        <p:spPr>
          <a:noFill/>
          <a:ln/>
        </p:spPr>
        <p:txBody>
          <a:bodyPr/>
          <a:lstStyle/>
          <a:p>
            <a:pPr marL="0" indent="0" eaLnBrk="1" hangingPunct="1">
              <a:buSzPts val="1100"/>
            </a:pPr>
            <a:endParaRPr lang="en-US" altLang="en-US"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Y" dirty="0"/>
          </a:p>
        </p:txBody>
      </p:sp>
    </p:spTree>
    <p:extLst>
      <p:ext uri="{BB962C8B-B14F-4D97-AF65-F5344CB8AC3E}">
        <p14:creationId xmlns:p14="http://schemas.microsoft.com/office/powerpoint/2010/main" val="143297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158750" indent="0">
              <a:buNone/>
            </a:pPr>
            <a:endParaRPr lang="es-PY" dirty="0"/>
          </a:p>
        </p:txBody>
      </p:sp>
    </p:spTree>
    <p:extLst>
      <p:ext uri="{BB962C8B-B14F-4D97-AF65-F5344CB8AC3E}">
        <p14:creationId xmlns:p14="http://schemas.microsoft.com/office/powerpoint/2010/main" val="3238711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158750" indent="0">
              <a:buNone/>
            </a:pPr>
            <a:endParaRPr lang="es-PY" dirty="0"/>
          </a:p>
        </p:txBody>
      </p:sp>
    </p:spTree>
    <p:extLst>
      <p:ext uri="{BB962C8B-B14F-4D97-AF65-F5344CB8AC3E}">
        <p14:creationId xmlns:p14="http://schemas.microsoft.com/office/powerpoint/2010/main" val="3238711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Y" dirty="0"/>
          </a:p>
        </p:txBody>
      </p:sp>
    </p:spTree>
    <p:extLst>
      <p:ext uri="{BB962C8B-B14F-4D97-AF65-F5344CB8AC3E}">
        <p14:creationId xmlns:p14="http://schemas.microsoft.com/office/powerpoint/2010/main" val="3212295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Y" dirty="0"/>
          </a:p>
        </p:txBody>
      </p:sp>
    </p:spTree>
    <p:extLst>
      <p:ext uri="{BB962C8B-B14F-4D97-AF65-F5344CB8AC3E}">
        <p14:creationId xmlns:p14="http://schemas.microsoft.com/office/powerpoint/2010/main" val="3212295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dc9b9ffbc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dc9b9ffbc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62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Y" dirty="0"/>
          </a:p>
        </p:txBody>
      </p:sp>
    </p:spTree>
    <p:extLst>
      <p:ext uri="{BB962C8B-B14F-4D97-AF65-F5344CB8AC3E}">
        <p14:creationId xmlns:p14="http://schemas.microsoft.com/office/powerpoint/2010/main" val="1815478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Y" dirty="0"/>
          </a:p>
        </p:txBody>
      </p:sp>
    </p:spTree>
    <p:extLst>
      <p:ext uri="{BB962C8B-B14F-4D97-AF65-F5344CB8AC3E}">
        <p14:creationId xmlns:p14="http://schemas.microsoft.com/office/powerpoint/2010/main" val="3522214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Indicar el aumento del número de fincas de menos de una ha con respecto al CAN 2008, la disminución en el estrato de 1 a 5 ha, pero el incremento sostenido de los estratos superiores a 20 ha hasta 1,000 ha; lo que implicaría su consolidación en la estructura productiva del país, así como el mantenimiento y disminución del número de fincas de superficies mayores </a:t>
            </a:r>
          </a:p>
        </p:txBody>
      </p:sp>
    </p:spTree>
    <p:extLst>
      <p:ext uri="{BB962C8B-B14F-4D97-AF65-F5344CB8AC3E}">
        <p14:creationId xmlns:p14="http://schemas.microsoft.com/office/powerpoint/2010/main" val="1820111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457200" marR="0" lvl="0" indent="-298450" algn="l" defTabSz="914400" rtl="0" eaLnBrk="0" fontAlgn="base" latinLnBrk="0" hangingPunct="0">
              <a:lnSpc>
                <a:spcPct val="100000"/>
              </a:lnSpc>
              <a:spcBef>
                <a:spcPct val="0"/>
              </a:spcBef>
              <a:spcAft>
                <a:spcPct val="0"/>
              </a:spcAft>
              <a:buClr>
                <a:srgbClr val="000000"/>
              </a:buClr>
              <a:buSzTx/>
              <a:buFont typeface="Arial" panose="020B0604020202020204" pitchFamily="34" charset="0"/>
              <a:buNone/>
              <a:tabLst/>
              <a:defRPr/>
            </a:pPr>
            <a:r>
              <a:rPr lang="es-ES" dirty="0"/>
              <a:t>Resaltar el incremento en área total que representan las fincas de los estratos desde 20 ha hasta 1000 ha y la disminución en términos de relativos del área que ocupan las fincas de </a:t>
            </a:r>
            <a:r>
              <a:rPr lang="es-ES" dirty="0" err="1"/>
              <a:t>màs</a:t>
            </a:r>
            <a:r>
              <a:rPr lang="es-ES" dirty="0"/>
              <a:t> de 10.000 ha.</a:t>
            </a:r>
            <a:endParaRPr lang="es-PY" dirty="0"/>
          </a:p>
        </p:txBody>
      </p:sp>
    </p:spTree>
    <p:extLst>
      <p:ext uri="{BB962C8B-B14F-4D97-AF65-F5344CB8AC3E}">
        <p14:creationId xmlns:p14="http://schemas.microsoft.com/office/powerpoint/2010/main" val="1421635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Resaltar el incremento de la participación de la mujer en el manejo individual de la finca, y la disminución de la participación de los hombres.</a:t>
            </a:r>
            <a:r>
              <a:rPr lang="es-PY" dirty="0"/>
              <a:t>.</a:t>
            </a:r>
            <a:endParaRPr lang="es-ES" dirty="0"/>
          </a:p>
        </p:txBody>
      </p:sp>
    </p:spTree>
    <p:extLst>
      <p:ext uri="{BB962C8B-B14F-4D97-AF65-F5344CB8AC3E}">
        <p14:creationId xmlns:p14="http://schemas.microsoft.com/office/powerpoint/2010/main" val="1983593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gráfico refuerza la tendencia de la disminución de la participación de los hombres en los trabajos agrícolas y ganaderos en la finca y el incremento de la participación de las mujeres, </a:t>
            </a:r>
            <a:r>
              <a:rPr lang="es-ES" dirty="0" err="1"/>
              <a:t>asì</a:t>
            </a:r>
            <a:r>
              <a:rPr lang="es-ES" dirty="0"/>
              <a:t> mismo en los trabajos </a:t>
            </a:r>
            <a:r>
              <a:rPr lang="es-ES" dirty="0" err="1"/>
              <a:t>extraprediales</a:t>
            </a:r>
            <a:r>
              <a:rPr lang="es-ES" dirty="0"/>
              <a:t> y en los trabajos domésticos (nuevo indicador CAN 2022). </a:t>
            </a:r>
          </a:p>
        </p:txBody>
      </p:sp>
    </p:spTree>
    <p:extLst>
      <p:ext uri="{BB962C8B-B14F-4D97-AF65-F5344CB8AC3E}">
        <p14:creationId xmlns:p14="http://schemas.microsoft.com/office/powerpoint/2010/main" val="1081137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Innovaciòn</a:t>
            </a:r>
            <a:r>
              <a:rPr lang="es-ES" dirty="0"/>
              <a:t> del CAN 2022, por primera vez se visibiliza la participación de las fincas agropecuarias indígenas en un CAN, mostrando que 252 fincas representan unas 600 mil ha de superficie, en cuanto que cerca de 5000 fincas individuales responden a unas 30 mil ha. La distribución geográfica muestra una mayor concentración de fincas de pueblos originarios en </a:t>
            </a:r>
            <a:r>
              <a:rPr lang="es-ES" dirty="0" err="1"/>
              <a:t>Canindeyù</a:t>
            </a:r>
            <a:r>
              <a:rPr lang="es-ES" dirty="0"/>
              <a:t> </a:t>
            </a:r>
            <a:r>
              <a:rPr lang="es-ES" dirty="0" err="1"/>
              <a:t>Caaguzù</a:t>
            </a:r>
            <a:r>
              <a:rPr lang="es-ES" dirty="0"/>
              <a:t> y San Pedro, en la </a:t>
            </a:r>
            <a:r>
              <a:rPr lang="es-ES" dirty="0" err="1"/>
              <a:t>Regiòn</a:t>
            </a:r>
            <a:r>
              <a:rPr lang="es-ES" dirty="0"/>
              <a:t> Oriental y en </a:t>
            </a:r>
            <a:r>
              <a:rPr lang="es-ES" dirty="0" err="1"/>
              <a:t>Boqueron</a:t>
            </a:r>
            <a:r>
              <a:rPr lang="es-ES" dirty="0"/>
              <a:t> y Presidente Hayes en el Chaco.</a:t>
            </a:r>
          </a:p>
        </p:txBody>
      </p:sp>
    </p:spTree>
    <p:extLst>
      <p:ext uri="{BB962C8B-B14F-4D97-AF65-F5344CB8AC3E}">
        <p14:creationId xmlns:p14="http://schemas.microsoft.com/office/powerpoint/2010/main" val="1225745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Señalar el avance en el proceso de titulación de tierras durante el período en estudio, también de la formalización de la tenencia con documentación provisoria.</a:t>
            </a:r>
          </a:p>
        </p:txBody>
      </p:sp>
    </p:spTree>
    <p:extLst>
      <p:ext uri="{BB962C8B-B14F-4D97-AF65-F5344CB8AC3E}">
        <p14:creationId xmlns:p14="http://schemas.microsoft.com/office/powerpoint/2010/main" val="1866418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Aquì</a:t>
            </a:r>
            <a:r>
              <a:rPr lang="es-ES" dirty="0"/>
              <a:t> se resalta </a:t>
            </a:r>
            <a:r>
              <a:rPr lang="es-ES" dirty="0" err="1"/>
              <a:t>èl</a:t>
            </a:r>
            <a:r>
              <a:rPr lang="es-ES" dirty="0"/>
              <a:t> incremento del área cubierta por los cultivos temporales como permanentes (en menor escala relativa), también de la pastura cultivada y una disminución drástica de la superficie cubierta por pastura natural. Se puede señalar, el área de montes naturales que se mantuvo relativamente constante, el incremento relativo de la reforestación </a:t>
            </a:r>
            <a:r>
              <a:rPr lang="es-ES" dirty="0" err="1"/>
              <a:t>xx</a:t>
            </a:r>
            <a:r>
              <a:rPr lang="es-ES" dirty="0"/>
              <a:t> % y la mayor eficiencia en el uso del recurso suelo, en el marco del concepto de agricultura de conservación  manteniendo menor área en barbecho</a:t>
            </a:r>
          </a:p>
        </p:txBody>
      </p:sp>
    </p:spTree>
    <p:extLst>
      <p:ext uri="{BB962C8B-B14F-4D97-AF65-F5344CB8AC3E}">
        <p14:creationId xmlns:p14="http://schemas.microsoft.com/office/powerpoint/2010/main" val="752721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Dos rubros </a:t>
            </a:r>
            <a:r>
              <a:rPr lang="es-ES" dirty="0" err="1"/>
              <a:t>commodities</a:t>
            </a:r>
            <a:r>
              <a:rPr lang="es-ES" dirty="0"/>
              <a:t> la soja y el maíz que ha experimentado en general expansión en la superficie cultivada, con una pequeña disminución del área de maíz zafra (que compite por el uso alternativo del recurso suelo, en fincas principalmente de agricultura familiar con otros rubros estivales). </a:t>
            </a:r>
            <a:r>
              <a:rPr lang="es-ES" dirty="0" err="1"/>
              <a:t>Tambièn</a:t>
            </a:r>
            <a:r>
              <a:rPr lang="es-ES" dirty="0"/>
              <a:t> recordar que también pudo haber sido afectado por los efectos de la </a:t>
            </a:r>
            <a:r>
              <a:rPr lang="es-ES" dirty="0" err="1"/>
              <a:t>sequìa</a:t>
            </a:r>
            <a:r>
              <a:rPr lang="es-ES" dirty="0"/>
              <a:t> provocada por la Niña</a:t>
            </a:r>
          </a:p>
        </p:txBody>
      </p:sp>
    </p:spTree>
    <p:extLst>
      <p:ext uri="{BB962C8B-B14F-4D97-AF65-F5344CB8AC3E}">
        <p14:creationId xmlns:p14="http://schemas.microsoft.com/office/powerpoint/2010/main" val="1500648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Señalar el incremento del </a:t>
            </a:r>
            <a:r>
              <a:rPr lang="es-ES" dirty="0" err="1"/>
              <a:t>àrea</a:t>
            </a:r>
            <a:r>
              <a:rPr lang="es-ES" dirty="0"/>
              <a:t> sembrada de trigo, que </a:t>
            </a:r>
            <a:r>
              <a:rPr lang="es-ES" dirty="0" err="1"/>
              <a:t>dejò</a:t>
            </a:r>
            <a:r>
              <a:rPr lang="es-ES" dirty="0"/>
              <a:t> de ser solo un rubro para consume interno, sino que </a:t>
            </a:r>
            <a:r>
              <a:rPr lang="es-ES" dirty="0" err="1"/>
              <a:t>tambièn</a:t>
            </a:r>
            <a:r>
              <a:rPr lang="es-ES" dirty="0"/>
              <a:t> expande la “canasta” de rubros de </a:t>
            </a:r>
            <a:r>
              <a:rPr lang="es-ES" dirty="0" err="1"/>
              <a:t>exportaciòn</a:t>
            </a:r>
            <a:r>
              <a:rPr lang="es-ES" dirty="0"/>
              <a:t> del </a:t>
            </a:r>
            <a:r>
              <a:rPr lang="es-ES" dirty="0" err="1"/>
              <a:t>paìs</a:t>
            </a:r>
            <a:r>
              <a:rPr lang="es-ES" dirty="0"/>
              <a:t>, </a:t>
            </a:r>
            <a:r>
              <a:rPr lang="es-ES" dirty="0" err="1"/>
              <a:t>asì</a:t>
            </a:r>
            <a:r>
              <a:rPr lang="es-ES" dirty="0"/>
              <a:t> como el arroz que ha dado un salto exponencial en </a:t>
            </a:r>
            <a:r>
              <a:rPr lang="es-ES" dirty="0" err="1"/>
              <a:t>àrea</a:t>
            </a:r>
            <a:r>
              <a:rPr lang="es-ES" dirty="0"/>
              <a:t> y productividad, la caña de </a:t>
            </a:r>
            <a:r>
              <a:rPr lang="es-ES" dirty="0" err="1"/>
              <a:t>azùcar</a:t>
            </a:r>
            <a:r>
              <a:rPr lang="es-ES" dirty="0"/>
              <a:t> y la mandioca que se mantuvieron relativamente estables durante el </a:t>
            </a:r>
            <a:r>
              <a:rPr lang="es-ES" dirty="0" err="1"/>
              <a:t>perìodo</a:t>
            </a:r>
            <a:r>
              <a:rPr lang="es-ES" dirty="0"/>
              <a:t>.</a:t>
            </a:r>
            <a:endParaRPr lang="en-US" dirty="0"/>
          </a:p>
        </p:txBody>
      </p:sp>
    </p:spTree>
    <p:extLst>
      <p:ext uri="{BB962C8B-B14F-4D97-AF65-F5344CB8AC3E}">
        <p14:creationId xmlns:p14="http://schemas.microsoft.com/office/powerpoint/2010/main" val="570407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Señalar que todos los rubros intensivos de renta, de la agricultura familiar han experimentado un incremento, a excepción en </a:t>
            </a:r>
            <a:r>
              <a:rPr lang="es-ES" dirty="0" err="1"/>
              <a:t>àrea</a:t>
            </a:r>
            <a:r>
              <a:rPr lang="es-ES" dirty="0"/>
              <a:t> del cultivo de la zanahoria que se ha tecnificado en los últimos años, se redujo en superficie pero aumento en producción.</a:t>
            </a:r>
          </a:p>
        </p:txBody>
      </p:sp>
    </p:spTree>
    <p:extLst>
      <p:ext uri="{BB962C8B-B14F-4D97-AF65-F5344CB8AC3E}">
        <p14:creationId xmlns:p14="http://schemas.microsoft.com/office/powerpoint/2010/main" val="4247447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Otros rubros que expanden y diversifican la “canasta” de productos exportados del </a:t>
            </a:r>
            <a:r>
              <a:rPr lang="es-ES" dirty="0" err="1"/>
              <a:t>paìs</a:t>
            </a:r>
            <a:r>
              <a:rPr lang="es-ES" dirty="0"/>
              <a:t>, el banana, la piña y la yerba mate ha experimentado incremento en </a:t>
            </a:r>
            <a:r>
              <a:rPr lang="es-ES" dirty="0" err="1"/>
              <a:t>àrea</a:t>
            </a:r>
            <a:r>
              <a:rPr lang="es-ES" dirty="0"/>
              <a:t>. El Naranjo agrio es el que ha disminuido su </a:t>
            </a:r>
            <a:r>
              <a:rPr lang="es-ES" dirty="0" err="1"/>
              <a:t>àrea</a:t>
            </a:r>
            <a:r>
              <a:rPr lang="es-ES" dirty="0"/>
              <a:t>, pero las señales del mercado internacional la </a:t>
            </a:r>
            <a:r>
              <a:rPr lang="es-ES" dirty="0" err="1"/>
              <a:t>estàn</a:t>
            </a:r>
            <a:r>
              <a:rPr lang="es-ES" dirty="0"/>
              <a:t> volviendo a dinamizar recientemente.</a:t>
            </a:r>
          </a:p>
        </p:txBody>
      </p:sp>
    </p:spTree>
    <p:extLst>
      <p:ext uri="{BB962C8B-B14F-4D97-AF65-F5344CB8AC3E}">
        <p14:creationId xmlns:p14="http://schemas.microsoft.com/office/powerpoint/2010/main" val="38589973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hato de ganado vacuno se ha incrementado en casi 3 millones de cabezas entre el 2008 y 2022, y los ganados menores como el porcino y ovinos también han experimentado un incremento en su cantidad, contribuyendo también a diversificar la oferta exportable del sector agropecuario paraguayo, transformando proteína vegetal en proteína de mayor valor agregado.</a:t>
            </a:r>
          </a:p>
        </p:txBody>
      </p:sp>
    </p:spTree>
    <p:extLst>
      <p:ext uri="{BB962C8B-B14F-4D97-AF65-F5344CB8AC3E}">
        <p14:creationId xmlns:p14="http://schemas.microsoft.com/office/powerpoint/2010/main" val="372760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numero de cabeza de aves de corral se ha incrementando en casi un 100 %, especialmente explicado por la producción industrial de las mismas.</a:t>
            </a:r>
          </a:p>
          <a:p>
            <a:endParaRPr lang="es-PY" dirty="0"/>
          </a:p>
        </p:txBody>
      </p:sp>
    </p:spTree>
    <p:extLst>
      <p:ext uri="{BB962C8B-B14F-4D97-AF65-F5344CB8AC3E}">
        <p14:creationId xmlns:p14="http://schemas.microsoft.com/office/powerpoint/2010/main" val="2641521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cuanto al acceso a los servicios, la cantidad de fincas con acceso a la AT se ha mantenido relativamente estable, y han disminuido en cantidad las fincas asociadas y con acceso al crédito (este último también pudo haber tenido algún impacto de la Niña)</a:t>
            </a:r>
          </a:p>
        </p:txBody>
      </p:sp>
    </p:spTree>
    <p:extLst>
      <p:ext uri="{BB962C8B-B14F-4D97-AF65-F5344CB8AC3E}">
        <p14:creationId xmlns:p14="http://schemas.microsoft.com/office/powerpoint/2010/main" val="19262130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ha verificado una disminución en los implementos manuales en las fincas censadas, algunos de ellos ya con </a:t>
            </a:r>
            <a:r>
              <a:rPr lang="es-ES" dirty="0" err="1"/>
              <a:t>obsolecencia</a:t>
            </a:r>
            <a:r>
              <a:rPr lang="es-ES" dirty="0"/>
              <a:t> tecnológica como el arado de madera o vertedera.</a:t>
            </a:r>
          </a:p>
        </p:txBody>
      </p:sp>
    </p:spTree>
    <p:extLst>
      <p:ext uri="{BB962C8B-B14F-4D97-AF65-F5344CB8AC3E}">
        <p14:creationId xmlns:p14="http://schemas.microsoft.com/office/powerpoint/2010/main" val="2158274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ha verificado un incremento del número de fincas que poseen maquinarias e implementos propios.</a:t>
            </a:r>
          </a:p>
        </p:txBody>
      </p:sp>
    </p:spTree>
    <p:extLst>
      <p:ext uri="{BB962C8B-B14F-4D97-AF65-F5344CB8AC3E}">
        <p14:creationId xmlns:p14="http://schemas.microsoft.com/office/powerpoint/2010/main" val="31790052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No solo en cantidad de fincas, también en número de disponibilidad de tractores y cosechadoras; lo que ha contribuido a una </a:t>
            </a:r>
            <a:r>
              <a:rPr lang="es-ES" dirty="0" err="1"/>
              <a:t>màs</a:t>
            </a:r>
            <a:r>
              <a:rPr lang="es-ES" dirty="0"/>
              <a:t> eficiente “preparación” del área cultivada en la siembra, cuidados culturales y en la cosecha. </a:t>
            </a:r>
            <a:r>
              <a:rPr lang="es-ES" dirty="0" err="1"/>
              <a:t>Asì</a:t>
            </a:r>
            <a:r>
              <a:rPr lang="es-ES" dirty="0"/>
              <a:t> como el desarrollo de servicios tercerizados de mecanización. DUELE DECIRLO PERO HAY QUE DECIRLO, AUN ES INSUFICIENTE CONSIDERANDO EL NUMERO TOTAL DE FINCAS PRODUCTIVAS, POR LO QUE EL ESFUERZO EN SEGUIR FOMENTANDO EL PROCESO DE MECANIZACION Y TECNIFICACIÒN REQUERIRÀ DE MAYORES ESFUERZOS TANTO FINANCIEROS COMO DE ASISTENCIA TECNICA Y CAPACITACION.</a:t>
            </a:r>
          </a:p>
        </p:txBody>
      </p:sp>
    </p:spTree>
    <p:extLst>
      <p:ext uri="{BB962C8B-B14F-4D97-AF65-F5344CB8AC3E}">
        <p14:creationId xmlns:p14="http://schemas.microsoft.com/office/powerpoint/2010/main" val="427834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2" name="Google Shape;8;p12">
            <a:extLst>
              <a:ext uri="{FF2B5EF4-FFF2-40B4-BE49-F238E27FC236}">
                <a16:creationId xmlns:a16="http://schemas.microsoft.com/office/drawing/2014/main" id="{89B3B0EB-AF63-DF18-66A9-4CA37D180B34}"/>
              </a:ext>
            </a:extLst>
          </p:cNvPr>
          <p:cNvSpPr txBox="1">
            <a:spLocks noGrp="1" noChangeArrowheads="1"/>
          </p:cNvSpPr>
          <p:nvPr>
            <p:ph type="dt" idx="11"/>
          </p:nvPr>
        </p:nvSpPr>
        <p:spPr>
          <a:ln/>
        </p:spPr>
        <p:txBody>
          <a:bodyPr/>
          <a:lstStyle>
            <a:lvl1pPr>
              <a:defRPr/>
            </a:lvl1pPr>
          </a:lstStyle>
          <a:p>
            <a:endParaRPr lang="en-US" altLang="en-US"/>
          </a:p>
        </p:txBody>
      </p:sp>
      <p:sp>
        <p:nvSpPr>
          <p:cNvPr id="3" name="Google Shape;9;p12">
            <a:extLst>
              <a:ext uri="{FF2B5EF4-FFF2-40B4-BE49-F238E27FC236}">
                <a16:creationId xmlns:a16="http://schemas.microsoft.com/office/drawing/2014/main" id="{0F4A9DFC-DD8D-3A76-E8F8-9EACCDAE0483}"/>
              </a:ext>
            </a:extLst>
          </p:cNvPr>
          <p:cNvSpPr txBox="1">
            <a:spLocks noGrp="1" noChangeArrowheads="1"/>
          </p:cNvSpPr>
          <p:nvPr>
            <p:ph type="ftr" idx="12"/>
          </p:nvPr>
        </p:nvSpPr>
        <p:spPr>
          <a:ln/>
        </p:spPr>
        <p:txBody>
          <a:bodyPr/>
          <a:lstStyle>
            <a:lvl1pPr>
              <a:defRPr/>
            </a:lvl1pPr>
          </a:lstStyle>
          <a:p>
            <a:endParaRPr lang="en-US" altLang="en-US"/>
          </a:p>
        </p:txBody>
      </p:sp>
      <p:sp>
        <p:nvSpPr>
          <p:cNvPr id="4" name="Google Shape;10;p12">
            <a:extLst>
              <a:ext uri="{FF2B5EF4-FFF2-40B4-BE49-F238E27FC236}">
                <a16:creationId xmlns:a16="http://schemas.microsoft.com/office/drawing/2014/main" id="{22E5D8D0-CACB-C124-2DCB-DFB1A35EC775}"/>
              </a:ext>
            </a:extLst>
          </p:cNvPr>
          <p:cNvSpPr txBox="1">
            <a:spLocks noGrp="1" noChangeArrowheads="1"/>
          </p:cNvSpPr>
          <p:nvPr>
            <p:ph type="sldNum" idx="13"/>
          </p:nvPr>
        </p:nvSpPr>
        <p:spPr>
          <a:ln/>
        </p:spPr>
        <p:txBody>
          <a:bodyPr/>
          <a:lstStyle>
            <a:lvl1pPr>
              <a:defRPr/>
            </a:lvl1pPr>
          </a:lstStyle>
          <a:p>
            <a:fld id="{33E3A5D5-6B7A-4F12-9AF3-133127B961FC}" type="slidenum">
              <a:rPr lang="es-ES" altLang="en-US"/>
              <a:pPr/>
              <a:t>‹Nº›</a:t>
            </a:fld>
            <a:endParaRPr lang="en-US" altLang="en-US"/>
          </a:p>
        </p:txBody>
      </p:sp>
    </p:spTree>
    <p:extLst>
      <p:ext uri="{BB962C8B-B14F-4D97-AF65-F5344CB8AC3E}">
        <p14:creationId xmlns:p14="http://schemas.microsoft.com/office/powerpoint/2010/main" val="3719399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03DE410-C1CC-BAAE-3B72-1BE989CAB87A}"/>
              </a:ext>
            </a:extLst>
          </p:cNvPr>
          <p:cNvSpPr/>
          <p:nvPr userDrawn="1"/>
        </p:nvSpPr>
        <p:spPr>
          <a:xfrm>
            <a:off x="2396932" y="0"/>
            <a:ext cx="1140746" cy="47625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7" name="Rectángulo 6">
            <a:extLst>
              <a:ext uri="{FF2B5EF4-FFF2-40B4-BE49-F238E27FC236}">
                <a16:creationId xmlns:a16="http://schemas.microsoft.com/office/drawing/2014/main" id="{6C9905F7-3E1C-D756-2807-EAB56315547C}"/>
              </a:ext>
            </a:extLst>
          </p:cNvPr>
          <p:cNvSpPr/>
          <p:nvPr userDrawn="1"/>
        </p:nvSpPr>
        <p:spPr>
          <a:xfrm>
            <a:off x="3863796" y="0"/>
            <a:ext cx="1140746" cy="47625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8" name="Rectángulo 7">
            <a:extLst>
              <a:ext uri="{FF2B5EF4-FFF2-40B4-BE49-F238E27FC236}">
                <a16:creationId xmlns:a16="http://schemas.microsoft.com/office/drawing/2014/main" id="{CFDB10C5-CDDA-D345-456C-10C6702296F8}"/>
              </a:ext>
            </a:extLst>
          </p:cNvPr>
          <p:cNvSpPr/>
          <p:nvPr userDrawn="1"/>
        </p:nvSpPr>
        <p:spPr>
          <a:xfrm>
            <a:off x="5330660" y="0"/>
            <a:ext cx="1140746" cy="47625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9" name="Rectángulo 8">
            <a:extLst>
              <a:ext uri="{FF2B5EF4-FFF2-40B4-BE49-F238E27FC236}">
                <a16:creationId xmlns:a16="http://schemas.microsoft.com/office/drawing/2014/main" id="{D50455CD-A136-C410-67A6-C524CAB6A675}"/>
              </a:ext>
            </a:extLst>
          </p:cNvPr>
          <p:cNvSpPr/>
          <p:nvPr userDrawn="1"/>
        </p:nvSpPr>
        <p:spPr>
          <a:xfrm>
            <a:off x="6797524" y="0"/>
            <a:ext cx="1140746" cy="47625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0" name="Rectángulo 9">
            <a:extLst>
              <a:ext uri="{FF2B5EF4-FFF2-40B4-BE49-F238E27FC236}">
                <a16:creationId xmlns:a16="http://schemas.microsoft.com/office/drawing/2014/main" id="{4771C2DA-83FD-FB1D-09A9-A5AE80000C29}"/>
              </a:ext>
            </a:extLst>
          </p:cNvPr>
          <p:cNvSpPr/>
          <p:nvPr userDrawn="1"/>
        </p:nvSpPr>
        <p:spPr>
          <a:xfrm>
            <a:off x="930068" y="0"/>
            <a:ext cx="1140746" cy="47625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Tree>
    <p:extLst>
      <p:ext uri="{BB962C8B-B14F-4D97-AF65-F5344CB8AC3E}">
        <p14:creationId xmlns:p14="http://schemas.microsoft.com/office/powerpoint/2010/main" val="3312633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Y"/>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3 Marcador de fecha"/>
          <p:cNvSpPr>
            <a:spLocks noGrp="1"/>
          </p:cNvSpPr>
          <p:nvPr>
            <p:ph type="dt" sz="half" idx="10"/>
          </p:nvPr>
        </p:nvSpPr>
        <p:spPr/>
        <p:txBody>
          <a:bodyPr/>
          <a:lstStyle/>
          <a:p>
            <a:fld id="{A5D3794B-289A-4A80-97D7-111025398D45}" type="datetimeFigureOut">
              <a:rPr lang="en-US" smtClean="0"/>
              <a:t>6/27/2023</a:t>
            </a:fld>
            <a:endParaRPr lang="en-US" dirty="0"/>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419" smtClean="0"/>
              <a:t>‹Nº›</a:t>
            </a:fld>
            <a:endParaRPr lang="es-419"/>
          </a:p>
        </p:txBody>
      </p:sp>
    </p:spTree>
    <p:extLst>
      <p:ext uri="{BB962C8B-B14F-4D97-AF65-F5344CB8AC3E}">
        <p14:creationId xmlns:p14="http://schemas.microsoft.com/office/powerpoint/2010/main" val="58833678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Google Shape;6;p12">
            <a:extLst>
              <a:ext uri="{FF2B5EF4-FFF2-40B4-BE49-F238E27FC236}">
                <a16:creationId xmlns:a16="http://schemas.microsoft.com/office/drawing/2014/main" id="{B1423284-3518-107E-FC98-333AA9EF7F06}"/>
              </a:ext>
            </a:extLst>
          </p:cNvPr>
          <p:cNvSpPr txBox="1">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p>
            <a:pPr lvl="0"/>
            <a:endParaRPr lang="en-US" altLang="en-US">
              <a:sym typeface="Arial" panose="020B0604020202020204" pitchFamily="34" charset="0"/>
            </a:endParaRPr>
          </a:p>
        </p:txBody>
      </p:sp>
      <p:sp>
        <p:nvSpPr>
          <p:cNvPr id="1027" name="Google Shape;7;p12">
            <a:extLst>
              <a:ext uri="{FF2B5EF4-FFF2-40B4-BE49-F238E27FC236}">
                <a16:creationId xmlns:a16="http://schemas.microsoft.com/office/drawing/2014/main" id="{8EADEB60-BCFA-F49A-3FCC-50CA6251BEB2}"/>
              </a:ext>
            </a:extLst>
          </p:cNvPr>
          <p:cNvSpPr txBox="1">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ltLang="en-US">
              <a:sym typeface="Arial" panose="020B0604020202020204" pitchFamily="34" charset="0"/>
            </a:endParaRPr>
          </a:p>
        </p:txBody>
      </p:sp>
      <p:sp>
        <p:nvSpPr>
          <p:cNvPr id="1028" name="Google Shape;8;p12">
            <a:extLst>
              <a:ext uri="{FF2B5EF4-FFF2-40B4-BE49-F238E27FC236}">
                <a16:creationId xmlns:a16="http://schemas.microsoft.com/office/drawing/2014/main" id="{ECD18705-BE81-FC53-F64D-52999B2F9DC8}"/>
              </a:ext>
            </a:extLst>
          </p:cNvPr>
          <p:cNvSpPr txBox="1">
            <a:spLocks noGrp="1" noChangeArrowheads="1"/>
          </p:cNvSpPr>
          <p:nvPr>
            <p:ph type="dt" idx="10"/>
          </p:nvPr>
        </p:nvSpPr>
        <p:spPr bwMode="auto">
          <a:xfrm>
            <a:off x="457200" y="4767263"/>
            <a:ext cx="213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eaLnBrk="1" hangingPunct="1">
              <a:buClr>
                <a:srgbClr val="000000"/>
              </a:buClr>
              <a:buSzPts val="1400"/>
              <a:buFont typeface="Arial" panose="020B0604020202020204" pitchFamily="34" charset="0"/>
              <a:buNone/>
              <a:defRPr sz="1200">
                <a:solidFill>
                  <a:srgbClr val="888888"/>
                </a:solidFill>
                <a:latin typeface="Arial" panose="020B0604020202020204" pitchFamily="34" charset="0"/>
                <a:cs typeface="Arial" panose="020B0604020202020204" pitchFamily="34" charset="0"/>
                <a:sym typeface="Calibri" panose="020F0502020204030204" pitchFamily="34" charset="0"/>
              </a:defRPr>
            </a:lvl1pPr>
          </a:lstStyle>
          <a:p>
            <a:endParaRPr lang="en-US" altLang="en-US" dirty="0"/>
          </a:p>
        </p:txBody>
      </p:sp>
      <p:sp>
        <p:nvSpPr>
          <p:cNvPr id="1029" name="Google Shape;9;p12">
            <a:extLst>
              <a:ext uri="{FF2B5EF4-FFF2-40B4-BE49-F238E27FC236}">
                <a16:creationId xmlns:a16="http://schemas.microsoft.com/office/drawing/2014/main" id="{FB466EEE-DA48-32B3-7175-919F34082A3B}"/>
              </a:ext>
            </a:extLst>
          </p:cNvPr>
          <p:cNvSpPr txBox="1">
            <a:spLocks noGrp="1" noChangeArrowheads="1"/>
          </p:cNvSpPr>
          <p:nvPr>
            <p:ph type="ftr" idx="11"/>
          </p:nvPr>
        </p:nvSpPr>
        <p:spPr bwMode="auto">
          <a:xfrm>
            <a:off x="3124200" y="4767263"/>
            <a:ext cx="2895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ctr" eaLnBrk="1" hangingPunct="1">
              <a:buClr>
                <a:srgbClr val="000000"/>
              </a:buClr>
              <a:buSzPts val="1400"/>
              <a:buFont typeface="Arial" panose="020B0604020202020204" pitchFamily="34" charset="0"/>
              <a:buNone/>
              <a:defRPr sz="1200">
                <a:solidFill>
                  <a:srgbClr val="888888"/>
                </a:solidFill>
                <a:latin typeface="Arial" panose="020B0604020202020204" pitchFamily="34" charset="0"/>
                <a:cs typeface="Arial" panose="020B0604020202020204" pitchFamily="34" charset="0"/>
                <a:sym typeface="Calibri" panose="020F0502020204030204" pitchFamily="34" charset="0"/>
              </a:defRPr>
            </a:lvl1pPr>
          </a:lstStyle>
          <a:p>
            <a:endParaRPr lang="en-US" altLang="en-US" dirty="0"/>
          </a:p>
        </p:txBody>
      </p:sp>
      <p:sp>
        <p:nvSpPr>
          <p:cNvPr id="1030" name="Google Shape;10;p12">
            <a:extLst>
              <a:ext uri="{FF2B5EF4-FFF2-40B4-BE49-F238E27FC236}">
                <a16:creationId xmlns:a16="http://schemas.microsoft.com/office/drawing/2014/main" id="{4A696B29-C668-D006-3F7E-569969DD8598}"/>
              </a:ext>
            </a:extLst>
          </p:cNvPr>
          <p:cNvSpPr txBox="1">
            <a:spLocks noGrp="1" noChangeArrowheads="1"/>
          </p:cNvSpPr>
          <p:nvPr>
            <p:ph type="sldNum" idx="12"/>
          </p:nvPr>
        </p:nvSpPr>
        <p:spPr bwMode="auto">
          <a:xfrm>
            <a:off x="6553200" y="4767263"/>
            <a:ext cx="213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r" eaLnBrk="1" hangingPunct="1">
              <a:buClr>
                <a:srgbClr val="888888"/>
              </a:buClr>
              <a:buSzPts val="1200"/>
              <a:buFont typeface="Calibri" panose="020F0502020204030204" pitchFamily="34" charset="0"/>
              <a:buNone/>
              <a:defRPr sz="1200">
                <a:solidFill>
                  <a:srgbClr val="888888"/>
                </a:solidFill>
                <a:latin typeface="Arial" panose="020B0604020202020204" pitchFamily="34" charset="0"/>
                <a:cs typeface="Arial" panose="020B0604020202020204" pitchFamily="34" charset="0"/>
                <a:sym typeface="Calibri" panose="020F0502020204030204" pitchFamily="34" charset="0"/>
              </a:defRPr>
            </a:lvl1pPr>
          </a:lstStyle>
          <a:p>
            <a:fld id="{70D270E0-A738-4DB6-850A-29BA58A3B4FE}" type="slidenum">
              <a:rPr lang="es-ES" altLang="en-US" smtClean="0"/>
              <a:pPr/>
              <a:t>‹Nº›</a:t>
            </a:fld>
            <a:endParaRPr lang="en-US" altLang="en-US" dirty="0"/>
          </a:p>
        </p:txBody>
      </p:sp>
    </p:spTree>
  </p:cSld>
  <p:clrMap bg1="lt1" tx1="dk1" bg2="dk2" tx2="lt2" accent1="accent1" accent2="accent2" accent3="accent3" accent4="accent4" accent5="accent5" accent6="accent6" hlink="hlink" folHlink="folHlink"/>
  <p:sldLayoutIdLst>
    <p:sldLayoutId id="2147483668" r:id="rId1"/>
    <p:sldLayoutId id="2147483674" r:id="rId2"/>
    <p:sldLayoutId id="2147483675" r:id="rId3"/>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notesSlide" Target="../notesSlides/notesSlide2.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6.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23.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30.png"/><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31.png"/><Relationship Id="rId4" Type="http://schemas.openxmlformats.org/officeDocument/2006/relationships/chart" Target="../charts/chart6.xml"/></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32.png"/><Relationship Id="rId4" Type="http://schemas.openxmlformats.org/officeDocument/2006/relationships/chart" Target="../charts/chart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chart" Target="../charts/chart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chart" Target="../charts/chart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chart" Target="../charts/chart1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chart" Target="../charts/chart1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chart" Target="../charts/char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chart" Target="../charts/chart14.xml"/></Relationships>
</file>

<file path=ppt/slides/_rels/slide2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Google Shape;88;p1">
            <a:extLst>
              <a:ext uri="{FF2B5EF4-FFF2-40B4-BE49-F238E27FC236}">
                <a16:creationId xmlns:a16="http://schemas.microsoft.com/office/drawing/2014/main" id="{01398E7E-4605-BFFB-DBE9-20DDA4F18A90}"/>
              </a:ext>
            </a:extLst>
          </p:cNvPr>
          <p:cNvSpPr txBox="1">
            <a:spLocks noGrp="1"/>
          </p:cNvSpPr>
          <p:nvPr>
            <p:ph type="body" idx="4294967295"/>
          </p:nvPr>
        </p:nvSpPr>
        <p:spPr>
          <a:xfrm>
            <a:off x="387350" y="3451226"/>
            <a:ext cx="8369300" cy="1106920"/>
          </a:xfrm>
        </p:spPr>
        <p:txBody>
          <a:bodyPr>
            <a:noAutofit/>
          </a:bodyPr>
          <a:lstStyle/>
          <a:p>
            <a:pPr marL="0" indent="0" algn="ctr" eaLnBrk="1" fontAlgn="auto" hangingPunct="1">
              <a:buClr>
                <a:srgbClr val="3F3151"/>
              </a:buClr>
              <a:buSzPct val="88235"/>
              <a:buFont typeface="Arial"/>
              <a:buNone/>
              <a:defRPr/>
            </a:pPr>
            <a:r>
              <a:rPr lang="es-ES" sz="2400" b="1" dirty="0">
                <a:solidFill>
                  <a:srgbClr val="3F3151"/>
                </a:solidFill>
                <a:latin typeface="+mj-lt"/>
                <a:ea typeface="Arial Black"/>
                <a:cs typeface="Arial Black"/>
                <a:sym typeface="Arial Black"/>
              </a:rPr>
              <a:t>VI CENSO AGROPECUARIO NACIONAL — CAN 2022</a:t>
            </a:r>
            <a:endParaRPr sz="2400" b="1" dirty="0">
              <a:solidFill>
                <a:srgbClr val="974806"/>
              </a:solidFill>
              <a:latin typeface="+mj-lt"/>
              <a:ea typeface="Calibri"/>
              <a:cs typeface="Arial" panose="020B0604020202020204" pitchFamily="34" charset="0"/>
              <a:sym typeface="Calibri"/>
            </a:endParaRPr>
          </a:p>
          <a:p>
            <a:pPr marL="0" indent="0" algn="ctr" eaLnBrk="1" fontAlgn="auto" hangingPunct="1">
              <a:buClr>
                <a:srgbClr val="974806"/>
              </a:buClr>
              <a:buSzPct val="132352"/>
              <a:buFont typeface="Arial"/>
              <a:buNone/>
              <a:defRPr/>
            </a:pPr>
            <a:endParaRPr lang="es-ES" sz="1200" b="1" dirty="0">
              <a:solidFill>
                <a:srgbClr val="974806"/>
              </a:solidFill>
              <a:latin typeface="+mj-lt"/>
              <a:ea typeface="Calibri"/>
              <a:cs typeface="Arial" panose="020B0604020202020204" pitchFamily="34" charset="0"/>
              <a:sym typeface="Calibri"/>
            </a:endParaRPr>
          </a:p>
          <a:p>
            <a:pPr marL="0" indent="0" algn="ctr" eaLnBrk="1" fontAlgn="auto" hangingPunct="1">
              <a:buClr>
                <a:srgbClr val="974806"/>
              </a:buClr>
              <a:buSzPct val="132352"/>
              <a:buFont typeface="Arial"/>
              <a:buNone/>
              <a:defRPr/>
            </a:pPr>
            <a:endParaRPr lang="es-ES" sz="1200" b="1" dirty="0">
              <a:solidFill>
                <a:srgbClr val="974806"/>
              </a:solidFill>
              <a:latin typeface="+mj-lt"/>
              <a:ea typeface="Calibri"/>
              <a:cs typeface="Arial" panose="020B0604020202020204" pitchFamily="34" charset="0"/>
              <a:sym typeface="Calibri"/>
            </a:endParaRPr>
          </a:p>
          <a:p>
            <a:pPr marL="0" indent="0" algn="ctr" eaLnBrk="1" fontAlgn="auto" hangingPunct="1">
              <a:spcAft>
                <a:spcPts val="1200"/>
              </a:spcAft>
              <a:buClr>
                <a:srgbClr val="974806"/>
              </a:buClr>
              <a:buSzPct val="88235"/>
              <a:buNone/>
              <a:defRPr/>
            </a:pPr>
            <a:r>
              <a:rPr lang="es-ES" sz="1200" b="1" kern="0" dirty="0">
                <a:solidFill>
                  <a:srgbClr val="3F3151"/>
                </a:solidFill>
                <a:latin typeface="+mj-lt"/>
                <a:ea typeface="Calibri"/>
                <a:sym typeface="Calibri"/>
              </a:rPr>
              <a:t>Junio, 2023</a:t>
            </a:r>
          </a:p>
        </p:txBody>
      </p:sp>
      <p:pic>
        <p:nvPicPr>
          <p:cNvPr id="4101" name="Google Shape;97;p2">
            <a:extLst>
              <a:ext uri="{FF2B5EF4-FFF2-40B4-BE49-F238E27FC236}">
                <a16:creationId xmlns:a16="http://schemas.microsoft.com/office/drawing/2014/main" id="{D6A75763-4FEC-E084-E583-D424244A281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63" y="1346205"/>
            <a:ext cx="255587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image4.png" descr="Descripción: hoja membreta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285" y="362520"/>
            <a:ext cx="6095848" cy="64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250"/>
                                  </p:stCondLst>
                                  <p:childTnLst>
                                    <p:set>
                                      <p:cBhvr>
                                        <p:cTn id="11" dur="1" fill="hold">
                                          <p:stCondLst>
                                            <p:cond delay="0"/>
                                          </p:stCondLst>
                                        </p:cTn>
                                        <p:tgtEl>
                                          <p:spTgt spid="4101"/>
                                        </p:tgtEl>
                                        <p:attrNameLst>
                                          <p:attrName>style.visibility</p:attrName>
                                        </p:attrNameLst>
                                      </p:cBhvr>
                                      <p:to>
                                        <p:strVal val="visible"/>
                                      </p:to>
                                    </p:set>
                                    <p:anim calcmode="lin" valueType="num">
                                      <p:cBhvr>
                                        <p:cTn id="12" dur="500" fill="hold"/>
                                        <p:tgtEl>
                                          <p:spTgt spid="4101"/>
                                        </p:tgtEl>
                                        <p:attrNameLst>
                                          <p:attrName>ppt_w</p:attrName>
                                        </p:attrNameLst>
                                      </p:cBhvr>
                                      <p:tavLst>
                                        <p:tav tm="0">
                                          <p:val>
                                            <p:fltVal val="0"/>
                                          </p:val>
                                        </p:tav>
                                        <p:tav tm="100000">
                                          <p:val>
                                            <p:strVal val="#ppt_w"/>
                                          </p:val>
                                        </p:tav>
                                      </p:tavLst>
                                    </p:anim>
                                    <p:anim calcmode="lin" valueType="num">
                                      <p:cBhvr>
                                        <p:cTn id="13" dur="500" fill="hold"/>
                                        <p:tgtEl>
                                          <p:spTgt spid="4101"/>
                                        </p:tgtEl>
                                        <p:attrNameLst>
                                          <p:attrName>ppt_h</p:attrName>
                                        </p:attrNameLst>
                                      </p:cBhvr>
                                      <p:tavLst>
                                        <p:tav tm="0">
                                          <p:val>
                                            <p:fltVal val="0"/>
                                          </p:val>
                                        </p:tav>
                                        <p:tav tm="100000">
                                          <p:val>
                                            <p:strVal val="#ppt_h"/>
                                          </p:val>
                                        </p:tav>
                                      </p:tavLst>
                                    </p:anim>
                                    <p:animEffect transition="in" filter="fade">
                                      <p:cBhvr>
                                        <p:cTn id="14" dur="500"/>
                                        <p:tgtEl>
                                          <p:spTgt spid="4101"/>
                                        </p:tgtEl>
                                      </p:cBhvr>
                                    </p:animEffect>
                                  </p:childTnLst>
                                </p:cTn>
                              </p:par>
                              <p:par>
                                <p:cTn id="15" presetID="42" presetClass="entr" presetSubtype="0" fill="hold" grpId="0" nodeType="withEffect">
                                  <p:stCondLst>
                                    <p:cond delay="500"/>
                                  </p:stCondLst>
                                  <p:childTnLst>
                                    <p:set>
                                      <p:cBhvr>
                                        <p:cTn id="16" dur="1" fill="hold">
                                          <p:stCondLst>
                                            <p:cond delay="0"/>
                                          </p:stCondLst>
                                        </p:cTn>
                                        <p:tgtEl>
                                          <p:spTgt spid="88">
                                            <p:txEl>
                                              <p:pRg st="0" end="0"/>
                                            </p:txEl>
                                          </p:spTgt>
                                        </p:tgtEl>
                                        <p:attrNameLst>
                                          <p:attrName>style.visibility</p:attrName>
                                        </p:attrNameLst>
                                      </p:cBhvr>
                                      <p:to>
                                        <p:strVal val="visible"/>
                                      </p:to>
                                    </p:set>
                                    <p:animEffect transition="in" filter="fade">
                                      <p:cBhvr>
                                        <p:cTn id="17" dur="500"/>
                                        <p:tgtEl>
                                          <p:spTgt spid="88">
                                            <p:txEl>
                                              <p:pRg st="0" end="0"/>
                                            </p:txEl>
                                          </p:spTgt>
                                        </p:tgtEl>
                                      </p:cBhvr>
                                    </p:animEffect>
                                    <p:anim calcmode="lin" valueType="num">
                                      <p:cBhvr>
                                        <p:cTn id="18" dur="500" fill="hold"/>
                                        <p:tgtEl>
                                          <p:spTgt spid="88">
                                            <p:txEl>
                                              <p:pRg st="0" end="0"/>
                                            </p:txEl>
                                          </p:spTgt>
                                        </p:tgtEl>
                                        <p:attrNameLst>
                                          <p:attrName>ppt_x</p:attrName>
                                        </p:attrNameLst>
                                      </p:cBhvr>
                                      <p:tavLst>
                                        <p:tav tm="0">
                                          <p:val>
                                            <p:strVal val="#ppt_x"/>
                                          </p:val>
                                        </p:tav>
                                        <p:tav tm="100000">
                                          <p:val>
                                            <p:strVal val="#ppt_x"/>
                                          </p:val>
                                        </p:tav>
                                      </p:tavLst>
                                    </p:anim>
                                    <p:anim calcmode="lin" valueType="num">
                                      <p:cBhvr>
                                        <p:cTn id="19" dur="500" fill="hold"/>
                                        <p:tgtEl>
                                          <p:spTgt spid="88">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500"/>
                                  </p:stCondLst>
                                  <p:childTnLst>
                                    <p:set>
                                      <p:cBhvr>
                                        <p:cTn id="21" dur="1" fill="hold">
                                          <p:stCondLst>
                                            <p:cond delay="0"/>
                                          </p:stCondLst>
                                        </p:cTn>
                                        <p:tgtEl>
                                          <p:spTgt spid="88">
                                            <p:txEl>
                                              <p:pRg st="3" end="3"/>
                                            </p:txEl>
                                          </p:spTgt>
                                        </p:tgtEl>
                                        <p:attrNameLst>
                                          <p:attrName>style.visibility</p:attrName>
                                        </p:attrNameLst>
                                      </p:cBhvr>
                                      <p:to>
                                        <p:strVal val="visible"/>
                                      </p:to>
                                    </p:set>
                                    <p:animEffect transition="in" filter="fade">
                                      <p:cBhvr>
                                        <p:cTn id="22" dur="500"/>
                                        <p:tgtEl>
                                          <p:spTgt spid="88">
                                            <p:txEl>
                                              <p:pRg st="3" end="3"/>
                                            </p:txEl>
                                          </p:spTgt>
                                        </p:tgtEl>
                                      </p:cBhvr>
                                    </p:animEffect>
                                    <p:anim calcmode="lin" valueType="num">
                                      <p:cBhvr>
                                        <p:cTn id="23" dur="500" fill="hold"/>
                                        <p:tgtEl>
                                          <p:spTgt spid="88">
                                            <p:txEl>
                                              <p:pRg st="3" end="3"/>
                                            </p:txEl>
                                          </p:spTgt>
                                        </p:tgtEl>
                                        <p:attrNameLst>
                                          <p:attrName>ppt_x</p:attrName>
                                        </p:attrNameLst>
                                      </p:cBhvr>
                                      <p:tavLst>
                                        <p:tav tm="0">
                                          <p:val>
                                            <p:strVal val="#ppt_x"/>
                                          </p:val>
                                        </p:tav>
                                        <p:tav tm="100000">
                                          <p:val>
                                            <p:strVal val="#ppt_x"/>
                                          </p:val>
                                        </p:tav>
                                      </p:tavLst>
                                    </p:anim>
                                    <p:anim calcmode="lin" valueType="num">
                                      <p:cBhvr>
                                        <p:cTn id="24" dur="500" fill="hold"/>
                                        <p:tgtEl>
                                          <p:spTgt spid="8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Imagen 3" descr="Imagen en blanco y negro&#10;&#10;Descripción generada automáticamente con confianza media">
            <a:extLst>
              <a:ext uri="{FF2B5EF4-FFF2-40B4-BE49-F238E27FC236}">
                <a16:creationId xmlns:a16="http://schemas.microsoft.com/office/drawing/2014/main" id="{6EE8811C-C823-F91D-D44E-F10C0D58B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6368" y="502491"/>
            <a:ext cx="3133725"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A9FA30C1-C0A7-D920-C15A-AF4C4AA126CD}"/>
              </a:ext>
            </a:extLst>
          </p:cNvPr>
          <p:cNvSpPr/>
          <p:nvPr/>
        </p:nvSpPr>
        <p:spPr>
          <a:xfrm>
            <a:off x="3840344" y="2394791"/>
            <a:ext cx="331606" cy="115570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4" name="Rectángulo 3">
            <a:extLst>
              <a:ext uri="{FF2B5EF4-FFF2-40B4-BE49-F238E27FC236}">
                <a16:creationId xmlns:a16="http://schemas.microsoft.com/office/drawing/2014/main" id="{567E37CB-734F-6066-B172-A19472D1CA5D}"/>
              </a:ext>
            </a:extLst>
          </p:cNvPr>
          <p:cNvSpPr/>
          <p:nvPr/>
        </p:nvSpPr>
        <p:spPr>
          <a:xfrm>
            <a:off x="4268366" y="2394791"/>
            <a:ext cx="331606" cy="115570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8" name="Rectángulo 7">
            <a:extLst>
              <a:ext uri="{FF2B5EF4-FFF2-40B4-BE49-F238E27FC236}">
                <a16:creationId xmlns:a16="http://schemas.microsoft.com/office/drawing/2014/main" id="{0CFD18A5-AFF9-ED52-6EA6-761847BD37BE}"/>
              </a:ext>
            </a:extLst>
          </p:cNvPr>
          <p:cNvSpPr/>
          <p:nvPr/>
        </p:nvSpPr>
        <p:spPr>
          <a:xfrm>
            <a:off x="4694772" y="2394791"/>
            <a:ext cx="331606" cy="115570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9" name="Rectángulo 8">
            <a:extLst>
              <a:ext uri="{FF2B5EF4-FFF2-40B4-BE49-F238E27FC236}">
                <a16:creationId xmlns:a16="http://schemas.microsoft.com/office/drawing/2014/main" id="{87DC1AB6-3450-085C-BDC8-0878EA8FB723}"/>
              </a:ext>
            </a:extLst>
          </p:cNvPr>
          <p:cNvSpPr/>
          <p:nvPr/>
        </p:nvSpPr>
        <p:spPr>
          <a:xfrm>
            <a:off x="5121178" y="2394791"/>
            <a:ext cx="331606" cy="115570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0" name="Rectángulo 9">
            <a:extLst>
              <a:ext uri="{FF2B5EF4-FFF2-40B4-BE49-F238E27FC236}">
                <a16:creationId xmlns:a16="http://schemas.microsoft.com/office/drawing/2014/main" id="{757C4F88-3930-AD13-99F2-CC227814039F}"/>
              </a:ext>
            </a:extLst>
          </p:cNvPr>
          <p:cNvSpPr/>
          <p:nvPr/>
        </p:nvSpPr>
        <p:spPr>
          <a:xfrm>
            <a:off x="3415554" y="2394791"/>
            <a:ext cx="331606" cy="115570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2" name="Rectángulo 11">
            <a:extLst>
              <a:ext uri="{FF2B5EF4-FFF2-40B4-BE49-F238E27FC236}">
                <a16:creationId xmlns:a16="http://schemas.microsoft.com/office/drawing/2014/main" id="{D584EDCB-FEF7-15C7-A18B-9C92F05F3BA5}"/>
              </a:ext>
            </a:extLst>
          </p:cNvPr>
          <p:cNvSpPr/>
          <p:nvPr/>
        </p:nvSpPr>
        <p:spPr>
          <a:xfrm>
            <a:off x="2396932" y="4641009"/>
            <a:ext cx="1140746" cy="1101724"/>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3" name="Rectángulo 12">
            <a:extLst>
              <a:ext uri="{FF2B5EF4-FFF2-40B4-BE49-F238E27FC236}">
                <a16:creationId xmlns:a16="http://schemas.microsoft.com/office/drawing/2014/main" id="{9A86DFEA-A4C6-342B-A100-713FAF945C3B}"/>
              </a:ext>
            </a:extLst>
          </p:cNvPr>
          <p:cNvSpPr/>
          <p:nvPr/>
        </p:nvSpPr>
        <p:spPr>
          <a:xfrm>
            <a:off x="3863796" y="4641009"/>
            <a:ext cx="1140746" cy="1101724"/>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Rectángulo 13">
            <a:extLst>
              <a:ext uri="{FF2B5EF4-FFF2-40B4-BE49-F238E27FC236}">
                <a16:creationId xmlns:a16="http://schemas.microsoft.com/office/drawing/2014/main" id="{37BCF0EE-55B5-5403-9090-59178DBD25FA}"/>
              </a:ext>
            </a:extLst>
          </p:cNvPr>
          <p:cNvSpPr/>
          <p:nvPr/>
        </p:nvSpPr>
        <p:spPr>
          <a:xfrm>
            <a:off x="5330660" y="4641009"/>
            <a:ext cx="1140746" cy="1101724"/>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5" name="Rectángulo 14">
            <a:extLst>
              <a:ext uri="{FF2B5EF4-FFF2-40B4-BE49-F238E27FC236}">
                <a16:creationId xmlns:a16="http://schemas.microsoft.com/office/drawing/2014/main" id="{E8612B32-E151-E785-9045-3B0805CDC564}"/>
              </a:ext>
            </a:extLst>
          </p:cNvPr>
          <p:cNvSpPr/>
          <p:nvPr/>
        </p:nvSpPr>
        <p:spPr>
          <a:xfrm>
            <a:off x="6797524" y="4641009"/>
            <a:ext cx="1140746" cy="1101724"/>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6" name="Rectángulo 15">
            <a:extLst>
              <a:ext uri="{FF2B5EF4-FFF2-40B4-BE49-F238E27FC236}">
                <a16:creationId xmlns:a16="http://schemas.microsoft.com/office/drawing/2014/main" id="{7934FD42-8E8D-9D79-D318-A56CF8D7CEDD}"/>
              </a:ext>
            </a:extLst>
          </p:cNvPr>
          <p:cNvSpPr/>
          <p:nvPr/>
        </p:nvSpPr>
        <p:spPr>
          <a:xfrm>
            <a:off x="930068" y="4641009"/>
            <a:ext cx="1140746" cy="1101724"/>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1" name="Forma libre: forma 20">
            <a:extLst>
              <a:ext uri="{FF2B5EF4-FFF2-40B4-BE49-F238E27FC236}">
                <a16:creationId xmlns:a16="http://schemas.microsoft.com/office/drawing/2014/main" id="{2BDD6232-AB06-A35C-E511-05769CD215A3}"/>
              </a:ext>
            </a:extLst>
          </p:cNvPr>
          <p:cNvSpPr/>
          <p:nvPr/>
        </p:nvSpPr>
        <p:spPr>
          <a:xfrm>
            <a:off x="930068" y="3546475"/>
            <a:ext cx="2817092" cy="1101725"/>
          </a:xfrm>
          <a:custGeom>
            <a:avLst/>
            <a:gdLst>
              <a:gd name="connsiteX0" fmla="*/ 0 w 2819400"/>
              <a:gd name="connsiteY0" fmla="*/ 1095375 h 1101725"/>
              <a:gd name="connsiteX1" fmla="*/ 2498725 w 2819400"/>
              <a:gd name="connsiteY1" fmla="*/ 0 h 1101725"/>
              <a:gd name="connsiteX2" fmla="*/ 2819400 w 2819400"/>
              <a:gd name="connsiteY2" fmla="*/ 0 h 1101725"/>
              <a:gd name="connsiteX3" fmla="*/ 1143000 w 2819400"/>
              <a:gd name="connsiteY3" fmla="*/ 1101725 h 1101725"/>
              <a:gd name="connsiteX4" fmla="*/ 0 w 2819400"/>
              <a:gd name="connsiteY4" fmla="*/ 1095375 h 110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00" h="1101725">
                <a:moveTo>
                  <a:pt x="0" y="1095375"/>
                </a:moveTo>
                <a:lnTo>
                  <a:pt x="2498725" y="0"/>
                </a:lnTo>
                <a:lnTo>
                  <a:pt x="2819400" y="0"/>
                </a:lnTo>
                <a:lnTo>
                  <a:pt x="1143000" y="1101725"/>
                </a:lnTo>
                <a:lnTo>
                  <a:pt x="0" y="1095375"/>
                </a:lnTo>
                <a:close/>
              </a:path>
            </a:pathLst>
          </a:cu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rma libre: forma 21">
            <a:extLst>
              <a:ext uri="{FF2B5EF4-FFF2-40B4-BE49-F238E27FC236}">
                <a16:creationId xmlns:a16="http://schemas.microsoft.com/office/drawing/2014/main" id="{12B26411-55DF-5CA4-7F8C-F2C27834E38D}"/>
              </a:ext>
            </a:extLst>
          </p:cNvPr>
          <p:cNvSpPr/>
          <p:nvPr/>
        </p:nvSpPr>
        <p:spPr>
          <a:xfrm flipH="1">
            <a:off x="5121175" y="3546475"/>
            <a:ext cx="2817093" cy="1101725"/>
          </a:xfrm>
          <a:custGeom>
            <a:avLst/>
            <a:gdLst>
              <a:gd name="connsiteX0" fmla="*/ 0 w 2819400"/>
              <a:gd name="connsiteY0" fmla="*/ 1095375 h 1101725"/>
              <a:gd name="connsiteX1" fmla="*/ 2498725 w 2819400"/>
              <a:gd name="connsiteY1" fmla="*/ 0 h 1101725"/>
              <a:gd name="connsiteX2" fmla="*/ 2819400 w 2819400"/>
              <a:gd name="connsiteY2" fmla="*/ 0 h 1101725"/>
              <a:gd name="connsiteX3" fmla="*/ 1143000 w 2819400"/>
              <a:gd name="connsiteY3" fmla="*/ 1101725 h 1101725"/>
              <a:gd name="connsiteX4" fmla="*/ 0 w 2819400"/>
              <a:gd name="connsiteY4" fmla="*/ 1095375 h 110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00" h="1101725">
                <a:moveTo>
                  <a:pt x="0" y="1095375"/>
                </a:moveTo>
                <a:lnTo>
                  <a:pt x="2498725" y="0"/>
                </a:lnTo>
                <a:lnTo>
                  <a:pt x="2819400" y="0"/>
                </a:lnTo>
                <a:lnTo>
                  <a:pt x="1143000" y="1101725"/>
                </a:lnTo>
                <a:lnTo>
                  <a:pt x="0" y="1095375"/>
                </a:lnTo>
                <a:close/>
              </a:path>
            </a:pathLst>
          </a:cu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orma libre: forma 22">
            <a:extLst>
              <a:ext uri="{FF2B5EF4-FFF2-40B4-BE49-F238E27FC236}">
                <a16:creationId xmlns:a16="http://schemas.microsoft.com/office/drawing/2014/main" id="{04C3048B-DEDE-B040-26CB-26F34E75CFCD}"/>
              </a:ext>
            </a:extLst>
          </p:cNvPr>
          <p:cNvSpPr/>
          <p:nvPr/>
        </p:nvSpPr>
        <p:spPr>
          <a:xfrm>
            <a:off x="2393757" y="3546475"/>
            <a:ext cx="1778193" cy="1101724"/>
          </a:xfrm>
          <a:custGeom>
            <a:avLst/>
            <a:gdLst>
              <a:gd name="connsiteX0" fmla="*/ 1136650 w 1778000"/>
              <a:gd name="connsiteY0" fmla="*/ 1092200 h 1092200"/>
              <a:gd name="connsiteX1" fmla="*/ 0 w 1778000"/>
              <a:gd name="connsiteY1" fmla="*/ 1092200 h 1092200"/>
              <a:gd name="connsiteX2" fmla="*/ 1447800 w 1778000"/>
              <a:gd name="connsiteY2" fmla="*/ 0 h 1092200"/>
              <a:gd name="connsiteX3" fmla="*/ 1778000 w 1778000"/>
              <a:gd name="connsiteY3" fmla="*/ 0 h 1092200"/>
              <a:gd name="connsiteX4" fmla="*/ 1136650 w 1778000"/>
              <a:gd name="connsiteY4" fmla="*/ 10922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1092200">
                <a:moveTo>
                  <a:pt x="1136650" y="1092200"/>
                </a:moveTo>
                <a:lnTo>
                  <a:pt x="0" y="1092200"/>
                </a:lnTo>
                <a:lnTo>
                  <a:pt x="1447800" y="0"/>
                </a:lnTo>
                <a:lnTo>
                  <a:pt x="1778000" y="0"/>
                </a:lnTo>
                <a:lnTo>
                  <a:pt x="1136650" y="1092200"/>
                </a:lnTo>
                <a:close/>
              </a:path>
            </a:pathLst>
          </a:cu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orma libre: forma 23">
            <a:extLst>
              <a:ext uri="{FF2B5EF4-FFF2-40B4-BE49-F238E27FC236}">
                <a16:creationId xmlns:a16="http://schemas.microsoft.com/office/drawing/2014/main" id="{1280A4B9-4BC3-383B-E802-A8A07FD89CB1}"/>
              </a:ext>
            </a:extLst>
          </p:cNvPr>
          <p:cNvSpPr/>
          <p:nvPr/>
        </p:nvSpPr>
        <p:spPr>
          <a:xfrm flipH="1">
            <a:off x="4696385" y="3546475"/>
            <a:ext cx="1778196" cy="1101724"/>
          </a:xfrm>
          <a:custGeom>
            <a:avLst/>
            <a:gdLst>
              <a:gd name="connsiteX0" fmla="*/ 1136650 w 1778000"/>
              <a:gd name="connsiteY0" fmla="*/ 1092200 h 1092200"/>
              <a:gd name="connsiteX1" fmla="*/ 0 w 1778000"/>
              <a:gd name="connsiteY1" fmla="*/ 1092200 h 1092200"/>
              <a:gd name="connsiteX2" fmla="*/ 1447800 w 1778000"/>
              <a:gd name="connsiteY2" fmla="*/ 0 h 1092200"/>
              <a:gd name="connsiteX3" fmla="*/ 1778000 w 1778000"/>
              <a:gd name="connsiteY3" fmla="*/ 0 h 1092200"/>
              <a:gd name="connsiteX4" fmla="*/ 1136650 w 1778000"/>
              <a:gd name="connsiteY4" fmla="*/ 10922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1092200">
                <a:moveTo>
                  <a:pt x="1136650" y="1092200"/>
                </a:moveTo>
                <a:lnTo>
                  <a:pt x="0" y="1092200"/>
                </a:lnTo>
                <a:lnTo>
                  <a:pt x="1447800" y="0"/>
                </a:lnTo>
                <a:lnTo>
                  <a:pt x="1778000" y="0"/>
                </a:lnTo>
                <a:lnTo>
                  <a:pt x="1136650" y="1092200"/>
                </a:lnTo>
                <a:close/>
              </a:path>
            </a:pathLst>
          </a:cu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rapecio 24">
            <a:extLst>
              <a:ext uri="{FF2B5EF4-FFF2-40B4-BE49-F238E27FC236}">
                <a16:creationId xmlns:a16="http://schemas.microsoft.com/office/drawing/2014/main" id="{D2EF8000-CF11-4561-A9D3-F4FA95642519}"/>
              </a:ext>
            </a:extLst>
          </p:cNvPr>
          <p:cNvSpPr/>
          <p:nvPr/>
        </p:nvSpPr>
        <p:spPr>
          <a:xfrm>
            <a:off x="3863793" y="3546474"/>
            <a:ext cx="1140749" cy="1101725"/>
          </a:xfrm>
          <a:prstGeom prst="trapezoid">
            <a:avLst>
              <a:gd name="adj" fmla="val 36377"/>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ángulo 25">
            <a:extLst>
              <a:ext uri="{FF2B5EF4-FFF2-40B4-BE49-F238E27FC236}">
                <a16:creationId xmlns:a16="http://schemas.microsoft.com/office/drawing/2014/main" id="{5E60FB5E-1648-C5FB-4C99-58E485CA2A9B}"/>
              </a:ext>
            </a:extLst>
          </p:cNvPr>
          <p:cNvSpPr/>
          <p:nvPr/>
        </p:nvSpPr>
        <p:spPr>
          <a:xfrm>
            <a:off x="200025" y="133350"/>
            <a:ext cx="730043" cy="75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250"/>
                                        <p:tgtEl>
                                          <p:spTgt spid="10"/>
                                        </p:tgtEl>
                                      </p:cBhvr>
                                    </p:animEffect>
                                  </p:childTnLst>
                                </p:cTn>
                              </p:par>
                              <p:par>
                                <p:cTn id="12" presetID="22" presetClass="entr" presetSubtype="1" fill="hold" grpId="0" nodeType="withEffect">
                                  <p:stCondLst>
                                    <p:cond delay="250"/>
                                  </p:stCondLst>
                                  <p:childTnLst>
                                    <p:set>
                                      <p:cBhvr>
                                        <p:cTn id="13" dur="1" fill="hold">
                                          <p:stCondLst>
                                            <p:cond delay="0"/>
                                          </p:stCondLst>
                                        </p:cTn>
                                        <p:tgtEl>
                                          <p:spTgt spid="21"/>
                                        </p:tgtEl>
                                        <p:attrNameLst>
                                          <p:attrName>style.visibility</p:attrName>
                                        </p:attrNameLst>
                                      </p:cBhvr>
                                      <p:to>
                                        <p:strVal val="visible"/>
                                      </p:to>
                                    </p:set>
                                    <p:animEffect transition="in" filter="wipe(up)">
                                      <p:cBhvr>
                                        <p:cTn id="14" dur="250"/>
                                        <p:tgtEl>
                                          <p:spTgt spid="21"/>
                                        </p:tgtEl>
                                      </p:cBhvr>
                                    </p:animEffect>
                                  </p:childTnLst>
                                </p:cTn>
                              </p:par>
                              <p:par>
                                <p:cTn id="15" presetID="22" presetClass="entr" presetSubtype="1" fill="hold" grpId="0" nodeType="withEffect">
                                  <p:stCondLst>
                                    <p:cond delay="50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250"/>
                                        <p:tgtEl>
                                          <p:spTgt spid="16"/>
                                        </p:tgtEl>
                                      </p:cBhvr>
                                    </p:animEffect>
                                  </p:childTnLst>
                                </p:cTn>
                              </p:par>
                              <p:par>
                                <p:cTn id="18" presetID="22" presetClass="entr" presetSubtype="1" fill="hold" grpId="0" nodeType="withEffect">
                                  <p:stCondLst>
                                    <p:cond delay="25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250"/>
                                        <p:tgtEl>
                                          <p:spTgt spid="5"/>
                                        </p:tgtEl>
                                      </p:cBhvr>
                                    </p:animEffect>
                                  </p:childTnLst>
                                </p:cTn>
                              </p:par>
                              <p:par>
                                <p:cTn id="21" presetID="22" presetClass="entr" presetSubtype="1" fill="hold" grpId="0" nodeType="withEffect">
                                  <p:stCondLst>
                                    <p:cond delay="500"/>
                                  </p:stCondLst>
                                  <p:childTnLst>
                                    <p:set>
                                      <p:cBhvr>
                                        <p:cTn id="22" dur="1" fill="hold">
                                          <p:stCondLst>
                                            <p:cond delay="0"/>
                                          </p:stCondLst>
                                        </p:cTn>
                                        <p:tgtEl>
                                          <p:spTgt spid="23"/>
                                        </p:tgtEl>
                                        <p:attrNameLst>
                                          <p:attrName>style.visibility</p:attrName>
                                        </p:attrNameLst>
                                      </p:cBhvr>
                                      <p:to>
                                        <p:strVal val="visible"/>
                                      </p:to>
                                    </p:set>
                                    <p:animEffect transition="in" filter="wipe(up)">
                                      <p:cBhvr>
                                        <p:cTn id="23" dur="250"/>
                                        <p:tgtEl>
                                          <p:spTgt spid="23"/>
                                        </p:tgtEl>
                                      </p:cBhvr>
                                    </p:animEffect>
                                  </p:childTnLst>
                                </p:cTn>
                              </p:par>
                              <p:par>
                                <p:cTn id="24" presetID="22" presetClass="entr" presetSubtype="1" fill="hold" grpId="0" nodeType="withEffect">
                                  <p:stCondLst>
                                    <p:cond delay="750"/>
                                  </p:stCondLst>
                                  <p:childTnLst>
                                    <p:set>
                                      <p:cBhvr>
                                        <p:cTn id="25" dur="1" fill="hold">
                                          <p:stCondLst>
                                            <p:cond delay="0"/>
                                          </p:stCondLst>
                                        </p:cTn>
                                        <p:tgtEl>
                                          <p:spTgt spid="12"/>
                                        </p:tgtEl>
                                        <p:attrNameLst>
                                          <p:attrName>style.visibility</p:attrName>
                                        </p:attrNameLst>
                                      </p:cBhvr>
                                      <p:to>
                                        <p:strVal val="visible"/>
                                      </p:to>
                                    </p:set>
                                    <p:animEffect transition="in" filter="wipe(up)">
                                      <p:cBhvr>
                                        <p:cTn id="26" dur="250"/>
                                        <p:tgtEl>
                                          <p:spTgt spid="12"/>
                                        </p:tgtEl>
                                      </p:cBhvr>
                                    </p:animEffect>
                                  </p:childTnLst>
                                </p:cTn>
                              </p:par>
                              <p:par>
                                <p:cTn id="27" presetID="22" presetClass="entr" presetSubtype="1" fill="hold" grpId="0" nodeType="withEffect">
                                  <p:stCondLst>
                                    <p:cond delay="50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250"/>
                                        <p:tgtEl>
                                          <p:spTgt spid="4"/>
                                        </p:tgtEl>
                                      </p:cBhvr>
                                    </p:animEffect>
                                  </p:childTnLst>
                                </p:cTn>
                              </p:par>
                              <p:par>
                                <p:cTn id="30" presetID="22" presetClass="entr" presetSubtype="1" fill="hold" grpId="0" nodeType="withEffect">
                                  <p:stCondLst>
                                    <p:cond delay="750"/>
                                  </p:stCondLst>
                                  <p:childTnLst>
                                    <p:set>
                                      <p:cBhvr>
                                        <p:cTn id="31" dur="1" fill="hold">
                                          <p:stCondLst>
                                            <p:cond delay="0"/>
                                          </p:stCondLst>
                                        </p:cTn>
                                        <p:tgtEl>
                                          <p:spTgt spid="25"/>
                                        </p:tgtEl>
                                        <p:attrNameLst>
                                          <p:attrName>style.visibility</p:attrName>
                                        </p:attrNameLst>
                                      </p:cBhvr>
                                      <p:to>
                                        <p:strVal val="visible"/>
                                      </p:to>
                                    </p:set>
                                    <p:animEffect transition="in" filter="wipe(up)">
                                      <p:cBhvr>
                                        <p:cTn id="32" dur="250"/>
                                        <p:tgtEl>
                                          <p:spTgt spid="25"/>
                                        </p:tgtEl>
                                      </p:cBhvr>
                                    </p:animEffect>
                                  </p:childTnLst>
                                </p:cTn>
                              </p:par>
                              <p:par>
                                <p:cTn id="33" presetID="22" presetClass="entr" presetSubtype="1" fill="hold" grpId="0" nodeType="withEffect">
                                  <p:stCondLst>
                                    <p:cond delay="100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250"/>
                                        <p:tgtEl>
                                          <p:spTgt spid="13"/>
                                        </p:tgtEl>
                                      </p:cBhvr>
                                    </p:animEffect>
                                  </p:childTnLst>
                                </p:cTn>
                              </p:par>
                              <p:par>
                                <p:cTn id="36" presetID="22" presetClass="entr" presetSubtype="1" fill="hold" grpId="0" nodeType="withEffect">
                                  <p:stCondLst>
                                    <p:cond delay="750"/>
                                  </p:stCondLst>
                                  <p:childTnLst>
                                    <p:set>
                                      <p:cBhvr>
                                        <p:cTn id="37" dur="1" fill="hold">
                                          <p:stCondLst>
                                            <p:cond delay="0"/>
                                          </p:stCondLst>
                                        </p:cTn>
                                        <p:tgtEl>
                                          <p:spTgt spid="8"/>
                                        </p:tgtEl>
                                        <p:attrNameLst>
                                          <p:attrName>style.visibility</p:attrName>
                                        </p:attrNameLst>
                                      </p:cBhvr>
                                      <p:to>
                                        <p:strVal val="visible"/>
                                      </p:to>
                                    </p:set>
                                    <p:animEffect transition="in" filter="wipe(up)">
                                      <p:cBhvr>
                                        <p:cTn id="38" dur="250"/>
                                        <p:tgtEl>
                                          <p:spTgt spid="8"/>
                                        </p:tgtEl>
                                      </p:cBhvr>
                                    </p:animEffect>
                                  </p:childTnLst>
                                </p:cTn>
                              </p:par>
                              <p:par>
                                <p:cTn id="39" presetID="22" presetClass="entr" presetSubtype="1" fill="hold" grpId="0" nodeType="withEffect">
                                  <p:stCondLst>
                                    <p:cond delay="1000"/>
                                  </p:stCondLst>
                                  <p:childTnLst>
                                    <p:set>
                                      <p:cBhvr>
                                        <p:cTn id="40" dur="1" fill="hold">
                                          <p:stCondLst>
                                            <p:cond delay="0"/>
                                          </p:stCondLst>
                                        </p:cTn>
                                        <p:tgtEl>
                                          <p:spTgt spid="24"/>
                                        </p:tgtEl>
                                        <p:attrNameLst>
                                          <p:attrName>style.visibility</p:attrName>
                                        </p:attrNameLst>
                                      </p:cBhvr>
                                      <p:to>
                                        <p:strVal val="visible"/>
                                      </p:to>
                                    </p:set>
                                    <p:animEffect transition="in" filter="wipe(up)">
                                      <p:cBhvr>
                                        <p:cTn id="41" dur="250"/>
                                        <p:tgtEl>
                                          <p:spTgt spid="24"/>
                                        </p:tgtEl>
                                      </p:cBhvr>
                                    </p:animEffect>
                                  </p:childTnLst>
                                </p:cTn>
                              </p:par>
                              <p:par>
                                <p:cTn id="42" presetID="22" presetClass="entr" presetSubtype="1" fill="hold" grpId="0" nodeType="withEffect">
                                  <p:stCondLst>
                                    <p:cond delay="12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250"/>
                                        <p:tgtEl>
                                          <p:spTgt spid="14"/>
                                        </p:tgtEl>
                                      </p:cBhvr>
                                    </p:animEffect>
                                  </p:childTnLst>
                                </p:cTn>
                              </p:par>
                              <p:par>
                                <p:cTn id="45" presetID="22" presetClass="entr" presetSubtype="1" fill="hold" grpId="0" nodeType="withEffect">
                                  <p:stCondLst>
                                    <p:cond delay="100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250"/>
                                        <p:tgtEl>
                                          <p:spTgt spid="9"/>
                                        </p:tgtEl>
                                      </p:cBhvr>
                                    </p:animEffect>
                                  </p:childTnLst>
                                </p:cTn>
                              </p:par>
                              <p:par>
                                <p:cTn id="48" presetID="22" presetClass="entr" presetSubtype="1" fill="hold" grpId="0" nodeType="withEffect">
                                  <p:stCondLst>
                                    <p:cond delay="125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250"/>
                                        <p:tgtEl>
                                          <p:spTgt spid="22"/>
                                        </p:tgtEl>
                                      </p:cBhvr>
                                    </p:animEffect>
                                  </p:childTnLst>
                                </p:cTn>
                              </p:par>
                              <p:par>
                                <p:cTn id="51" presetID="22" presetClass="entr" presetSubtype="1" fill="hold" grpId="0" nodeType="withEffect">
                                  <p:stCondLst>
                                    <p:cond delay="150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8" grpId="0" animBg="1"/>
      <p:bldP spid="9" grpId="0" animBg="1"/>
      <p:bldP spid="10" grpId="0" animBg="1"/>
      <p:bldP spid="12" grpId="0" animBg="1"/>
      <p:bldP spid="13" grpId="0" animBg="1"/>
      <p:bldP spid="14" grpId="0" animBg="1"/>
      <p:bldP spid="15" grpId="0" animBg="1"/>
      <p:bldP spid="16" grpId="0" animBg="1"/>
      <p:bldP spid="21" grpId="0" animBg="1"/>
      <p:bldP spid="22" grpId="0" animBg="1"/>
      <p:bldP spid="23" grpId="0" animBg="1"/>
      <p:bldP spid="24" grpId="0" animBg="1"/>
      <p:bldP spid="25"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12">
            <a:extLst>
              <a:ext uri="{FF2B5EF4-FFF2-40B4-BE49-F238E27FC236}">
                <a16:creationId xmlns:a16="http://schemas.microsoft.com/office/drawing/2014/main" id="{B437B921-5288-95A9-0E68-1BE807F72E69}"/>
              </a:ext>
            </a:extLst>
          </p:cNvPr>
          <p:cNvSpPr txBox="1"/>
          <p:nvPr/>
        </p:nvSpPr>
        <p:spPr>
          <a:xfrm>
            <a:off x="838199" y="1004917"/>
            <a:ext cx="7776883" cy="3662541"/>
          </a:xfrm>
          <a:prstGeom prst="rect">
            <a:avLst/>
          </a:prstGeom>
          <a:noFill/>
        </p:spPr>
        <p:txBody>
          <a:bodyPr wrap="square">
            <a:spAutoFit/>
          </a:bodyPr>
          <a:lstStyle/>
          <a:p>
            <a:pPr marL="114300"/>
            <a:r>
              <a:rPr lang="es-ES" sz="1600" b="1" dirty="0">
                <a:solidFill>
                  <a:srgbClr val="3F3151"/>
                </a:solidFill>
              </a:rPr>
              <a:t>CONTENIDO</a:t>
            </a:r>
          </a:p>
          <a:p>
            <a:pPr marL="114300"/>
            <a:endParaRPr lang="es-ES" sz="1600" b="1" dirty="0">
              <a:solidFill>
                <a:srgbClr val="3F3151"/>
              </a:solidFill>
            </a:endParaRPr>
          </a:p>
          <a:p>
            <a:pPr marL="514350" indent="-400050">
              <a:buFont typeface="+mj-lt"/>
              <a:buAutoNum type="romanUcPeriod"/>
            </a:pPr>
            <a:r>
              <a:rPr lang="es-ES" sz="1600" b="1" dirty="0">
                <a:solidFill>
                  <a:srgbClr val="3F3151"/>
                </a:solidFill>
              </a:rPr>
              <a:t>Cambio de Paradigma con el CAN2022</a:t>
            </a:r>
          </a:p>
          <a:p>
            <a:pPr marL="939800" lvl="1" indent="-342900">
              <a:buFont typeface="+mj-lt"/>
              <a:buAutoNum type="arabicPeriod"/>
            </a:pPr>
            <a:r>
              <a:rPr lang="es-ES" sz="1200" dirty="0">
                <a:solidFill>
                  <a:srgbClr val="3F3151"/>
                </a:solidFill>
              </a:rPr>
              <a:t>Innovación Temática</a:t>
            </a:r>
          </a:p>
          <a:p>
            <a:pPr marL="939800" lvl="1" indent="-342900">
              <a:buFont typeface="+mj-lt"/>
              <a:buAutoNum type="arabicPeriod"/>
            </a:pPr>
            <a:r>
              <a:rPr lang="es-ES" sz="1200" dirty="0">
                <a:solidFill>
                  <a:srgbClr val="3F3151"/>
                </a:solidFill>
              </a:rPr>
              <a:t>Innovación Tecnológica</a:t>
            </a:r>
          </a:p>
          <a:p>
            <a:pPr marL="939800" lvl="1" indent="-342900">
              <a:buFont typeface="+mj-lt"/>
              <a:buAutoNum type="arabicPeriod"/>
            </a:pPr>
            <a:r>
              <a:rPr lang="es-ES" sz="1200" dirty="0">
                <a:solidFill>
                  <a:srgbClr val="3F3151"/>
                </a:solidFill>
              </a:rPr>
              <a:t>Estrategia Operativa</a:t>
            </a:r>
          </a:p>
          <a:p>
            <a:pPr marL="939800" lvl="1" indent="-342900">
              <a:buFont typeface="+mj-lt"/>
              <a:buAutoNum type="arabicPeriod"/>
            </a:pPr>
            <a:r>
              <a:rPr lang="es-ES" sz="1200" dirty="0">
                <a:solidFill>
                  <a:srgbClr val="3F3151"/>
                </a:solidFill>
              </a:rPr>
              <a:t>Control de calidad</a:t>
            </a:r>
          </a:p>
          <a:p>
            <a:pPr marL="596900" lvl="1" indent="0">
              <a:buNone/>
            </a:pPr>
            <a:endParaRPr lang="es-ES" sz="1200" dirty="0">
              <a:solidFill>
                <a:srgbClr val="3F3151"/>
              </a:solidFill>
            </a:endParaRPr>
          </a:p>
          <a:p>
            <a:pPr marL="514350" indent="-400050">
              <a:buFont typeface="+mj-lt"/>
              <a:buAutoNum type="romanUcPeriod"/>
            </a:pPr>
            <a:r>
              <a:rPr lang="es-ES" sz="1600" b="1" dirty="0">
                <a:solidFill>
                  <a:srgbClr val="3F3151"/>
                </a:solidFill>
              </a:rPr>
              <a:t>Resultados (Variaciones entre CAN2022 vs CAN2008)  </a:t>
            </a:r>
          </a:p>
          <a:p>
            <a:pPr marL="914400" lvl="1" indent="-342900">
              <a:buFont typeface="+mj-lt"/>
              <a:buAutoNum type="arabicPeriod"/>
            </a:pPr>
            <a:r>
              <a:rPr lang="es-PY" sz="1200" dirty="0">
                <a:solidFill>
                  <a:srgbClr val="3F3151"/>
                </a:solidFill>
              </a:rPr>
              <a:t>Variación de Cantidad de Fincas y Superficies.</a:t>
            </a:r>
          </a:p>
          <a:p>
            <a:pPr marL="914400" lvl="1" indent="-342900">
              <a:buFont typeface="+mj-lt"/>
              <a:buAutoNum type="arabicPeriod"/>
            </a:pPr>
            <a:r>
              <a:rPr lang="es-PY" sz="1200" dirty="0">
                <a:solidFill>
                  <a:srgbClr val="3F3151"/>
                </a:solidFill>
              </a:rPr>
              <a:t>Variación de Productores por Sexo.</a:t>
            </a:r>
          </a:p>
          <a:p>
            <a:pPr marL="914400" lvl="1" indent="-342900">
              <a:buFont typeface="+mj-lt"/>
              <a:buAutoNum type="arabicPeriod"/>
            </a:pPr>
            <a:r>
              <a:rPr lang="es-PY" sz="1200" dirty="0">
                <a:solidFill>
                  <a:srgbClr val="3F3151"/>
                </a:solidFill>
              </a:rPr>
              <a:t>Variación de Trabajadores/as según Ocupación Principal.</a:t>
            </a:r>
          </a:p>
          <a:p>
            <a:pPr marL="914400" lvl="1" indent="-342900">
              <a:buFont typeface="+mj-lt"/>
              <a:buAutoNum type="arabicPeriod"/>
            </a:pPr>
            <a:r>
              <a:rPr lang="es-PY" sz="1200" dirty="0">
                <a:solidFill>
                  <a:srgbClr val="3F3151"/>
                </a:solidFill>
              </a:rPr>
              <a:t>Variación de Forma de tenencia de tierra.</a:t>
            </a:r>
          </a:p>
          <a:p>
            <a:pPr marL="914400" lvl="1" indent="-342900">
              <a:buFont typeface="+mj-lt"/>
              <a:buAutoNum type="arabicPeriod"/>
            </a:pPr>
            <a:r>
              <a:rPr lang="es-PY" sz="1200" dirty="0">
                <a:solidFill>
                  <a:srgbClr val="3F3151"/>
                </a:solidFill>
              </a:rPr>
              <a:t>Variación de uso de tierra.</a:t>
            </a:r>
          </a:p>
          <a:p>
            <a:pPr marL="914400" lvl="1" indent="-342900">
              <a:buFont typeface="+mj-lt"/>
              <a:buAutoNum type="arabicPeriod"/>
            </a:pPr>
            <a:r>
              <a:rPr lang="es-PY" sz="1200" dirty="0">
                <a:solidFill>
                  <a:srgbClr val="3F3151"/>
                </a:solidFill>
              </a:rPr>
              <a:t>Variación de superficie cultivada de rubros de temporales, hortalizas y permanentes</a:t>
            </a:r>
          </a:p>
          <a:p>
            <a:pPr marL="914400" lvl="1" indent="-342900">
              <a:buFont typeface="+mj-lt"/>
              <a:buAutoNum type="arabicPeriod"/>
            </a:pPr>
            <a:r>
              <a:rPr lang="es-PY" sz="1200" dirty="0">
                <a:solidFill>
                  <a:srgbClr val="3F3151"/>
                </a:solidFill>
              </a:rPr>
              <a:t>Variación de ganados vacunos, equinos, ovinos, caprinos, porcinos y aves.</a:t>
            </a:r>
          </a:p>
          <a:p>
            <a:pPr marL="914400" lvl="1" indent="-342900">
              <a:buFont typeface="+mj-lt"/>
              <a:buAutoNum type="arabicPeriod"/>
            </a:pPr>
            <a:r>
              <a:rPr lang="es-PY" sz="1200" dirty="0">
                <a:solidFill>
                  <a:srgbClr val="3F3151"/>
                </a:solidFill>
              </a:rPr>
              <a:t>Variación de asistencias técnicas, créditos y asociaciones de productores</a:t>
            </a:r>
          </a:p>
          <a:p>
            <a:pPr marL="914400" lvl="1" indent="-342900">
              <a:buFont typeface="+mj-lt"/>
              <a:buAutoNum type="arabicPeriod"/>
            </a:pPr>
            <a:r>
              <a:rPr lang="es-PY" sz="1200" dirty="0">
                <a:solidFill>
                  <a:srgbClr val="3F3151"/>
                </a:solidFill>
              </a:rPr>
              <a:t>Variación de implementos y maquinarias</a:t>
            </a:r>
          </a:p>
        </p:txBody>
      </p:sp>
      <p:grpSp>
        <p:nvGrpSpPr>
          <p:cNvPr id="24" name="Grupo 23">
            <a:extLst>
              <a:ext uri="{FF2B5EF4-FFF2-40B4-BE49-F238E27FC236}">
                <a16:creationId xmlns:a16="http://schemas.microsoft.com/office/drawing/2014/main" id="{3CF25345-BB67-E823-7332-3E7C08881FE8}"/>
              </a:ext>
            </a:extLst>
          </p:cNvPr>
          <p:cNvGrpSpPr/>
          <p:nvPr/>
        </p:nvGrpSpPr>
        <p:grpSpPr>
          <a:xfrm>
            <a:off x="930068" y="-340980"/>
            <a:ext cx="1140746" cy="1135380"/>
            <a:chOff x="930068" y="-340980"/>
            <a:chExt cx="1140746" cy="1135380"/>
          </a:xfrm>
        </p:grpSpPr>
        <p:sp>
          <p:nvSpPr>
            <p:cNvPr id="9" name="Rectángulo 8">
              <a:extLst>
                <a:ext uri="{FF2B5EF4-FFF2-40B4-BE49-F238E27FC236}">
                  <a16:creationId xmlns:a16="http://schemas.microsoft.com/office/drawing/2014/main" id="{9083C064-8F97-BEEF-BCF5-D01ABDFFFDB5}"/>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2" name="CuadroTexto 11">
              <a:extLst>
                <a:ext uri="{FF2B5EF4-FFF2-40B4-BE49-F238E27FC236}">
                  <a16:creationId xmlns:a16="http://schemas.microsoft.com/office/drawing/2014/main" id="{19637A0F-A5CC-D10E-8F83-4EF7C50F3662}"/>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25" name="Grupo 24">
            <a:extLst>
              <a:ext uri="{FF2B5EF4-FFF2-40B4-BE49-F238E27FC236}">
                <a16:creationId xmlns:a16="http://schemas.microsoft.com/office/drawing/2014/main" id="{027CF21D-AA7E-1D4D-F8BF-B98BD1C870E8}"/>
              </a:ext>
            </a:extLst>
          </p:cNvPr>
          <p:cNvGrpSpPr/>
          <p:nvPr/>
        </p:nvGrpSpPr>
        <p:grpSpPr>
          <a:xfrm>
            <a:off x="2396932" y="-340980"/>
            <a:ext cx="1140746" cy="1135380"/>
            <a:chOff x="2396932" y="-340980"/>
            <a:chExt cx="1140746" cy="1135380"/>
          </a:xfrm>
        </p:grpSpPr>
        <p:sp>
          <p:nvSpPr>
            <p:cNvPr id="4" name="Rectángulo 3">
              <a:extLst>
                <a:ext uri="{FF2B5EF4-FFF2-40B4-BE49-F238E27FC236}">
                  <a16:creationId xmlns:a16="http://schemas.microsoft.com/office/drawing/2014/main" id="{997C3586-557B-9EC4-F81B-9B5FE778F21D}"/>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9" name="CuadroTexto 18">
              <a:extLst>
                <a:ext uri="{FF2B5EF4-FFF2-40B4-BE49-F238E27FC236}">
                  <a16:creationId xmlns:a16="http://schemas.microsoft.com/office/drawing/2014/main" id="{D8C5B71A-58DD-07DE-DA1B-16219789AA72}"/>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26" name="Grupo 25">
            <a:extLst>
              <a:ext uri="{FF2B5EF4-FFF2-40B4-BE49-F238E27FC236}">
                <a16:creationId xmlns:a16="http://schemas.microsoft.com/office/drawing/2014/main" id="{43392947-3D54-9B01-FCF1-5329DE6502BE}"/>
              </a:ext>
            </a:extLst>
          </p:cNvPr>
          <p:cNvGrpSpPr/>
          <p:nvPr/>
        </p:nvGrpSpPr>
        <p:grpSpPr>
          <a:xfrm>
            <a:off x="3863796" y="-340980"/>
            <a:ext cx="1140746" cy="1135380"/>
            <a:chOff x="3863796" y="-340980"/>
            <a:chExt cx="1140746" cy="1135380"/>
          </a:xfrm>
        </p:grpSpPr>
        <p:sp>
          <p:nvSpPr>
            <p:cNvPr id="5" name="Rectángulo 4">
              <a:extLst>
                <a:ext uri="{FF2B5EF4-FFF2-40B4-BE49-F238E27FC236}">
                  <a16:creationId xmlns:a16="http://schemas.microsoft.com/office/drawing/2014/main" id="{7C52F2FA-7BF2-934B-CC3B-7D389EF6F237}"/>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1" name="CuadroTexto 20">
              <a:extLst>
                <a:ext uri="{FF2B5EF4-FFF2-40B4-BE49-F238E27FC236}">
                  <a16:creationId xmlns:a16="http://schemas.microsoft.com/office/drawing/2014/main" id="{9A0136C9-DC85-B4AB-E076-122D8C914E5E}"/>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27" name="Grupo 26">
            <a:extLst>
              <a:ext uri="{FF2B5EF4-FFF2-40B4-BE49-F238E27FC236}">
                <a16:creationId xmlns:a16="http://schemas.microsoft.com/office/drawing/2014/main" id="{E64CB2FC-A8D5-46FE-331D-4FD015252181}"/>
              </a:ext>
            </a:extLst>
          </p:cNvPr>
          <p:cNvGrpSpPr/>
          <p:nvPr/>
        </p:nvGrpSpPr>
        <p:grpSpPr>
          <a:xfrm>
            <a:off x="5330660" y="-340980"/>
            <a:ext cx="1140746" cy="1135380"/>
            <a:chOff x="5330660" y="-340980"/>
            <a:chExt cx="1140746" cy="1135380"/>
          </a:xfrm>
        </p:grpSpPr>
        <p:sp>
          <p:nvSpPr>
            <p:cNvPr id="6" name="Rectángulo 5">
              <a:extLst>
                <a:ext uri="{FF2B5EF4-FFF2-40B4-BE49-F238E27FC236}">
                  <a16:creationId xmlns:a16="http://schemas.microsoft.com/office/drawing/2014/main" id="{543DAB0A-2A25-40C8-7FAF-B7535CFD0CDD}"/>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2" name="CuadroTexto 21">
              <a:extLst>
                <a:ext uri="{FF2B5EF4-FFF2-40B4-BE49-F238E27FC236}">
                  <a16:creationId xmlns:a16="http://schemas.microsoft.com/office/drawing/2014/main" id="{6DEE5DCD-2A81-D464-3DCA-74549BD6CD43}"/>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28" name="Grupo 27">
            <a:extLst>
              <a:ext uri="{FF2B5EF4-FFF2-40B4-BE49-F238E27FC236}">
                <a16:creationId xmlns:a16="http://schemas.microsoft.com/office/drawing/2014/main" id="{6F3FCD9B-7609-1CA6-2EFD-3CDE8CFE6201}"/>
              </a:ext>
            </a:extLst>
          </p:cNvPr>
          <p:cNvGrpSpPr/>
          <p:nvPr/>
        </p:nvGrpSpPr>
        <p:grpSpPr>
          <a:xfrm>
            <a:off x="6797524" y="-340980"/>
            <a:ext cx="1140746" cy="1135380"/>
            <a:chOff x="6820384" y="-340980"/>
            <a:chExt cx="1140746" cy="1135380"/>
          </a:xfrm>
        </p:grpSpPr>
        <p:sp>
          <p:nvSpPr>
            <p:cNvPr id="7" name="Rectángulo 6">
              <a:extLst>
                <a:ext uri="{FF2B5EF4-FFF2-40B4-BE49-F238E27FC236}">
                  <a16:creationId xmlns:a16="http://schemas.microsoft.com/office/drawing/2014/main" id="{EBB9F712-718C-9C43-A70E-3E7B6E35F4FF}"/>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3" name="CuadroTexto 22">
              <a:extLst>
                <a:ext uri="{FF2B5EF4-FFF2-40B4-BE49-F238E27FC236}">
                  <a16:creationId xmlns:a16="http://schemas.microsoft.com/office/drawing/2014/main" id="{CF0EFBE4-5633-F499-2E1E-001C7D73EB0D}"/>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Tree>
    <p:extLst>
      <p:ext uri="{BB962C8B-B14F-4D97-AF65-F5344CB8AC3E}">
        <p14:creationId xmlns:p14="http://schemas.microsoft.com/office/powerpoint/2010/main" val="21434116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
                                        <p:tgtEl>
                                          <p:spTgt spid="13">
                                            <p:txEl>
                                              <p:pRg st="0" end="0"/>
                                            </p:txEl>
                                          </p:spTgt>
                                        </p:tgtEl>
                                      </p:cBhvr>
                                    </p:animEffect>
                                  </p:childTnLst>
                                </p:cTn>
                              </p:par>
                            </p:childTnLst>
                          </p:cTn>
                        </p:par>
                        <p:par>
                          <p:cTn id="8" fill="hold">
                            <p:stCondLst>
                              <p:cond delay="100"/>
                            </p:stCondLst>
                            <p:childTnLst>
                              <p:par>
                                <p:cTn id="9" presetID="10" presetClass="entr" presetSubtype="0" fill="hold" grpId="0" nodeType="after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animEffect transition="in" filter="fade">
                                      <p:cBhvr>
                                        <p:cTn id="11" dur="100"/>
                                        <p:tgtEl>
                                          <p:spTgt spid="13">
                                            <p:txEl>
                                              <p:pRg st="2" end="2"/>
                                            </p:txEl>
                                          </p:spTgt>
                                        </p:tgtEl>
                                      </p:cBhvr>
                                    </p:animEffect>
                                  </p:childTnLst>
                                </p:cTn>
                              </p:par>
                            </p:childTnLst>
                          </p:cTn>
                        </p:par>
                        <p:par>
                          <p:cTn id="12" fill="hold">
                            <p:stCondLst>
                              <p:cond delay="200"/>
                            </p:stCondLst>
                            <p:childTnLst>
                              <p:par>
                                <p:cTn id="13" presetID="10" presetClass="entr" presetSubtype="0" fill="hold" grpId="0" nodeType="after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animEffect transition="in" filter="fade">
                                      <p:cBhvr>
                                        <p:cTn id="15" dur="100"/>
                                        <p:tgtEl>
                                          <p:spTgt spid="13">
                                            <p:txEl>
                                              <p:pRg st="3" end="3"/>
                                            </p:txEl>
                                          </p:spTgt>
                                        </p:tgtEl>
                                      </p:cBhvr>
                                    </p:animEffect>
                                  </p:childTnLst>
                                </p:cTn>
                              </p:par>
                            </p:childTnLst>
                          </p:cTn>
                        </p:par>
                        <p:par>
                          <p:cTn id="16" fill="hold">
                            <p:stCondLst>
                              <p:cond delay="300"/>
                            </p:stCondLst>
                            <p:childTnLst>
                              <p:par>
                                <p:cTn id="17" presetID="10" presetClass="entr" presetSubtype="0" fill="hold" grpId="0" nodeType="after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animEffect transition="in" filter="fade">
                                      <p:cBhvr>
                                        <p:cTn id="19" dur="100"/>
                                        <p:tgtEl>
                                          <p:spTgt spid="13">
                                            <p:txEl>
                                              <p:pRg st="4" end="4"/>
                                            </p:txEl>
                                          </p:spTgt>
                                        </p:tgtEl>
                                      </p:cBhvr>
                                    </p:animEffect>
                                  </p:childTnLst>
                                </p:cTn>
                              </p:par>
                            </p:childTnLst>
                          </p:cTn>
                        </p:par>
                        <p:par>
                          <p:cTn id="20" fill="hold">
                            <p:stCondLst>
                              <p:cond delay="400"/>
                            </p:stCondLst>
                            <p:childTnLst>
                              <p:par>
                                <p:cTn id="21" presetID="10" presetClass="entr" presetSubtype="0" fill="hold" grpId="0" nodeType="after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animEffect transition="in" filter="fade">
                                      <p:cBhvr>
                                        <p:cTn id="23" dur="100"/>
                                        <p:tgtEl>
                                          <p:spTgt spid="13">
                                            <p:txEl>
                                              <p:pRg st="5" end="5"/>
                                            </p:txEl>
                                          </p:spTgt>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animEffect transition="in" filter="fade">
                                      <p:cBhvr>
                                        <p:cTn id="27" dur="100"/>
                                        <p:tgtEl>
                                          <p:spTgt spid="13">
                                            <p:txEl>
                                              <p:pRg st="6" end="6"/>
                                            </p:txEl>
                                          </p:spTgt>
                                        </p:tgtEl>
                                      </p:cBhvr>
                                    </p:animEffect>
                                  </p:childTnLst>
                                </p:cTn>
                              </p:par>
                            </p:childTnLst>
                          </p:cTn>
                        </p:par>
                        <p:par>
                          <p:cTn id="28" fill="hold">
                            <p:stCondLst>
                              <p:cond delay="600"/>
                            </p:stCondLst>
                            <p:childTnLst>
                              <p:par>
                                <p:cTn id="29" presetID="10" presetClass="entr" presetSubtype="0" fill="hold" grpId="0" nodeType="afterEffect">
                                  <p:stCondLst>
                                    <p:cond delay="0"/>
                                  </p:stCondLst>
                                  <p:childTnLst>
                                    <p:set>
                                      <p:cBhvr>
                                        <p:cTn id="30" dur="1" fill="hold">
                                          <p:stCondLst>
                                            <p:cond delay="0"/>
                                          </p:stCondLst>
                                        </p:cTn>
                                        <p:tgtEl>
                                          <p:spTgt spid="13">
                                            <p:txEl>
                                              <p:pRg st="8" end="8"/>
                                            </p:txEl>
                                          </p:spTgt>
                                        </p:tgtEl>
                                        <p:attrNameLst>
                                          <p:attrName>style.visibility</p:attrName>
                                        </p:attrNameLst>
                                      </p:cBhvr>
                                      <p:to>
                                        <p:strVal val="visible"/>
                                      </p:to>
                                    </p:set>
                                    <p:animEffect transition="in" filter="fade">
                                      <p:cBhvr>
                                        <p:cTn id="31" dur="100"/>
                                        <p:tgtEl>
                                          <p:spTgt spid="13">
                                            <p:txEl>
                                              <p:pRg st="8" end="8"/>
                                            </p:txEl>
                                          </p:spTgt>
                                        </p:tgtEl>
                                      </p:cBhvr>
                                    </p:animEffect>
                                  </p:childTnLst>
                                </p:cTn>
                              </p:par>
                            </p:childTnLst>
                          </p:cTn>
                        </p:par>
                        <p:par>
                          <p:cTn id="32" fill="hold">
                            <p:stCondLst>
                              <p:cond delay="700"/>
                            </p:stCondLst>
                            <p:childTnLst>
                              <p:par>
                                <p:cTn id="33" presetID="10" presetClass="entr" presetSubtype="0" fill="hold" grpId="0" nodeType="afterEffect">
                                  <p:stCondLst>
                                    <p:cond delay="0"/>
                                  </p:stCondLst>
                                  <p:childTnLst>
                                    <p:set>
                                      <p:cBhvr>
                                        <p:cTn id="34" dur="1" fill="hold">
                                          <p:stCondLst>
                                            <p:cond delay="0"/>
                                          </p:stCondLst>
                                        </p:cTn>
                                        <p:tgtEl>
                                          <p:spTgt spid="13">
                                            <p:txEl>
                                              <p:pRg st="9" end="9"/>
                                            </p:txEl>
                                          </p:spTgt>
                                        </p:tgtEl>
                                        <p:attrNameLst>
                                          <p:attrName>style.visibility</p:attrName>
                                        </p:attrNameLst>
                                      </p:cBhvr>
                                      <p:to>
                                        <p:strVal val="visible"/>
                                      </p:to>
                                    </p:set>
                                    <p:animEffect transition="in" filter="fade">
                                      <p:cBhvr>
                                        <p:cTn id="35" dur="100"/>
                                        <p:tgtEl>
                                          <p:spTgt spid="13">
                                            <p:txEl>
                                              <p:pRg st="9" end="9"/>
                                            </p:txEl>
                                          </p:spTgt>
                                        </p:tgtEl>
                                      </p:cBhvr>
                                    </p:animEffect>
                                  </p:childTnLst>
                                </p:cTn>
                              </p:par>
                            </p:childTnLst>
                          </p:cTn>
                        </p:par>
                        <p:par>
                          <p:cTn id="36" fill="hold">
                            <p:stCondLst>
                              <p:cond delay="800"/>
                            </p:stCondLst>
                            <p:childTnLst>
                              <p:par>
                                <p:cTn id="37" presetID="10" presetClass="entr" presetSubtype="0" fill="hold" grpId="0" nodeType="afterEffect">
                                  <p:stCondLst>
                                    <p:cond delay="0"/>
                                  </p:stCondLst>
                                  <p:childTnLst>
                                    <p:set>
                                      <p:cBhvr>
                                        <p:cTn id="38" dur="1" fill="hold">
                                          <p:stCondLst>
                                            <p:cond delay="0"/>
                                          </p:stCondLst>
                                        </p:cTn>
                                        <p:tgtEl>
                                          <p:spTgt spid="13">
                                            <p:txEl>
                                              <p:pRg st="10" end="10"/>
                                            </p:txEl>
                                          </p:spTgt>
                                        </p:tgtEl>
                                        <p:attrNameLst>
                                          <p:attrName>style.visibility</p:attrName>
                                        </p:attrNameLst>
                                      </p:cBhvr>
                                      <p:to>
                                        <p:strVal val="visible"/>
                                      </p:to>
                                    </p:set>
                                    <p:animEffect transition="in" filter="fade">
                                      <p:cBhvr>
                                        <p:cTn id="39" dur="100"/>
                                        <p:tgtEl>
                                          <p:spTgt spid="13">
                                            <p:txEl>
                                              <p:pRg st="10" end="10"/>
                                            </p:txEl>
                                          </p:spTgt>
                                        </p:tgtEl>
                                      </p:cBhvr>
                                    </p:animEffect>
                                  </p:childTnLst>
                                </p:cTn>
                              </p:par>
                            </p:childTnLst>
                          </p:cTn>
                        </p:par>
                        <p:par>
                          <p:cTn id="40" fill="hold">
                            <p:stCondLst>
                              <p:cond delay="900"/>
                            </p:stCondLst>
                            <p:childTnLst>
                              <p:par>
                                <p:cTn id="41" presetID="10" presetClass="entr" presetSubtype="0" fill="hold" grpId="0" nodeType="afterEffect">
                                  <p:stCondLst>
                                    <p:cond delay="0"/>
                                  </p:stCondLst>
                                  <p:childTnLst>
                                    <p:set>
                                      <p:cBhvr>
                                        <p:cTn id="42" dur="1" fill="hold">
                                          <p:stCondLst>
                                            <p:cond delay="0"/>
                                          </p:stCondLst>
                                        </p:cTn>
                                        <p:tgtEl>
                                          <p:spTgt spid="13">
                                            <p:txEl>
                                              <p:pRg st="11" end="11"/>
                                            </p:txEl>
                                          </p:spTgt>
                                        </p:tgtEl>
                                        <p:attrNameLst>
                                          <p:attrName>style.visibility</p:attrName>
                                        </p:attrNameLst>
                                      </p:cBhvr>
                                      <p:to>
                                        <p:strVal val="visible"/>
                                      </p:to>
                                    </p:set>
                                    <p:animEffect transition="in" filter="fade">
                                      <p:cBhvr>
                                        <p:cTn id="43" dur="100"/>
                                        <p:tgtEl>
                                          <p:spTgt spid="13">
                                            <p:txEl>
                                              <p:pRg st="11" end="11"/>
                                            </p:txEl>
                                          </p:spTgt>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13">
                                            <p:txEl>
                                              <p:pRg st="12" end="12"/>
                                            </p:txEl>
                                          </p:spTgt>
                                        </p:tgtEl>
                                        <p:attrNameLst>
                                          <p:attrName>style.visibility</p:attrName>
                                        </p:attrNameLst>
                                      </p:cBhvr>
                                      <p:to>
                                        <p:strVal val="visible"/>
                                      </p:to>
                                    </p:set>
                                    <p:animEffect transition="in" filter="fade">
                                      <p:cBhvr>
                                        <p:cTn id="47" dur="100"/>
                                        <p:tgtEl>
                                          <p:spTgt spid="13">
                                            <p:txEl>
                                              <p:pRg st="12" end="12"/>
                                            </p:txEl>
                                          </p:spTgt>
                                        </p:tgtEl>
                                      </p:cBhvr>
                                    </p:animEffect>
                                  </p:childTnLst>
                                </p:cTn>
                              </p:par>
                            </p:childTnLst>
                          </p:cTn>
                        </p:par>
                        <p:par>
                          <p:cTn id="48" fill="hold">
                            <p:stCondLst>
                              <p:cond delay="1100"/>
                            </p:stCondLst>
                            <p:childTnLst>
                              <p:par>
                                <p:cTn id="49" presetID="10" presetClass="entr" presetSubtype="0" fill="hold" grpId="0" nodeType="afterEffect">
                                  <p:stCondLst>
                                    <p:cond delay="0"/>
                                  </p:stCondLst>
                                  <p:childTnLst>
                                    <p:set>
                                      <p:cBhvr>
                                        <p:cTn id="50" dur="1" fill="hold">
                                          <p:stCondLst>
                                            <p:cond delay="0"/>
                                          </p:stCondLst>
                                        </p:cTn>
                                        <p:tgtEl>
                                          <p:spTgt spid="13">
                                            <p:txEl>
                                              <p:pRg st="13" end="13"/>
                                            </p:txEl>
                                          </p:spTgt>
                                        </p:tgtEl>
                                        <p:attrNameLst>
                                          <p:attrName>style.visibility</p:attrName>
                                        </p:attrNameLst>
                                      </p:cBhvr>
                                      <p:to>
                                        <p:strVal val="visible"/>
                                      </p:to>
                                    </p:set>
                                    <p:animEffect transition="in" filter="fade">
                                      <p:cBhvr>
                                        <p:cTn id="51" dur="100"/>
                                        <p:tgtEl>
                                          <p:spTgt spid="13">
                                            <p:txEl>
                                              <p:pRg st="13" end="13"/>
                                            </p:txEl>
                                          </p:spTgt>
                                        </p:tgtEl>
                                      </p:cBhvr>
                                    </p:animEffect>
                                  </p:childTnLst>
                                </p:cTn>
                              </p:par>
                            </p:childTnLst>
                          </p:cTn>
                        </p:par>
                        <p:par>
                          <p:cTn id="52" fill="hold">
                            <p:stCondLst>
                              <p:cond delay="1200"/>
                            </p:stCondLst>
                            <p:childTnLst>
                              <p:par>
                                <p:cTn id="53" presetID="10" presetClass="entr" presetSubtype="0" fill="hold" grpId="0" nodeType="afterEffect">
                                  <p:stCondLst>
                                    <p:cond delay="0"/>
                                  </p:stCondLst>
                                  <p:childTnLst>
                                    <p:set>
                                      <p:cBhvr>
                                        <p:cTn id="54" dur="1" fill="hold">
                                          <p:stCondLst>
                                            <p:cond delay="0"/>
                                          </p:stCondLst>
                                        </p:cTn>
                                        <p:tgtEl>
                                          <p:spTgt spid="13">
                                            <p:txEl>
                                              <p:pRg st="14" end="14"/>
                                            </p:txEl>
                                          </p:spTgt>
                                        </p:tgtEl>
                                        <p:attrNameLst>
                                          <p:attrName>style.visibility</p:attrName>
                                        </p:attrNameLst>
                                      </p:cBhvr>
                                      <p:to>
                                        <p:strVal val="visible"/>
                                      </p:to>
                                    </p:set>
                                    <p:animEffect transition="in" filter="fade">
                                      <p:cBhvr>
                                        <p:cTn id="55" dur="100"/>
                                        <p:tgtEl>
                                          <p:spTgt spid="13">
                                            <p:txEl>
                                              <p:pRg st="14" end="14"/>
                                            </p:txEl>
                                          </p:spTgt>
                                        </p:tgtEl>
                                      </p:cBhvr>
                                    </p:animEffect>
                                  </p:childTnLst>
                                </p:cTn>
                              </p:par>
                            </p:childTnLst>
                          </p:cTn>
                        </p:par>
                        <p:par>
                          <p:cTn id="56" fill="hold">
                            <p:stCondLst>
                              <p:cond delay="1300"/>
                            </p:stCondLst>
                            <p:childTnLst>
                              <p:par>
                                <p:cTn id="57" presetID="10" presetClass="entr" presetSubtype="0" fill="hold" grpId="0" nodeType="afterEffect">
                                  <p:stCondLst>
                                    <p:cond delay="0"/>
                                  </p:stCondLst>
                                  <p:childTnLst>
                                    <p:set>
                                      <p:cBhvr>
                                        <p:cTn id="58" dur="1" fill="hold">
                                          <p:stCondLst>
                                            <p:cond delay="0"/>
                                          </p:stCondLst>
                                        </p:cTn>
                                        <p:tgtEl>
                                          <p:spTgt spid="13">
                                            <p:txEl>
                                              <p:pRg st="15" end="15"/>
                                            </p:txEl>
                                          </p:spTgt>
                                        </p:tgtEl>
                                        <p:attrNameLst>
                                          <p:attrName>style.visibility</p:attrName>
                                        </p:attrNameLst>
                                      </p:cBhvr>
                                      <p:to>
                                        <p:strVal val="visible"/>
                                      </p:to>
                                    </p:set>
                                    <p:animEffect transition="in" filter="fade">
                                      <p:cBhvr>
                                        <p:cTn id="59" dur="100"/>
                                        <p:tgtEl>
                                          <p:spTgt spid="13">
                                            <p:txEl>
                                              <p:pRg st="15" end="15"/>
                                            </p:txEl>
                                          </p:spTgt>
                                        </p:tgtEl>
                                      </p:cBhvr>
                                    </p:animEffect>
                                  </p:childTnLst>
                                </p:cTn>
                              </p:par>
                            </p:childTnLst>
                          </p:cTn>
                        </p:par>
                        <p:par>
                          <p:cTn id="60" fill="hold">
                            <p:stCondLst>
                              <p:cond delay="1400"/>
                            </p:stCondLst>
                            <p:childTnLst>
                              <p:par>
                                <p:cTn id="61" presetID="10" presetClass="entr" presetSubtype="0" fill="hold" grpId="0" nodeType="afterEffect">
                                  <p:stCondLst>
                                    <p:cond delay="0"/>
                                  </p:stCondLst>
                                  <p:childTnLst>
                                    <p:set>
                                      <p:cBhvr>
                                        <p:cTn id="62" dur="1" fill="hold">
                                          <p:stCondLst>
                                            <p:cond delay="0"/>
                                          </p:stCondLst>
                                        </p:cTn>
                                        <p:tgtEl>
                                          <p:spTgt spid="13">
                                            <p:txEl>
                                              <p:pRg st="16" end="16"/>
                                            </p:txEl>
                                          </p:spTgt>
                                        </p:tgtEl>
                                        <p:attrNameLst>
                                          <p:attrName>style.visibility</p:attrName>
                                        </p:attrNameLst>
                                      </p:cBhvr>
                                      <p:to>
                                        <p:strVal val="visible"/>
                                      </p:to>
                                    </p:set>
                                    <p:animEffect transition="in" filter="fade">
                                      <p:cBhvr>
                                        <p:cTn id="63" dur="100"/>
                                        <p:tgtEl>
                                          <p:spTgt spid="13">
                                            <p:txEl>
                                              <p:pRg st="16" end="16"/>
                                            </p:txEl>
                                          </p:spTgt>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13">
                                            <p:txEl>
                                              <p:pRg st="17" end="17"/>
                                            </p:txEl>
                                          </p:spTgt>
                                        </p:tgtEl>
                                        <p:attrNameLst>
                                          <p:attrName>style.visibility</p:attrName>
                                        </p:attrNameLst>
                                      </p:cBhvr>
                                      <p:to>
                                        <p:strVal val="visible"/>
                                      </p:to>
                                    </p:set>
                                    <p:animEffect transition="in" filter="fade">
                                      <p:cBhvr>
                                        <p:cTn id="67" dur="100"/>
                                        <p:tgtEl>
                                          <p:spTgt spid="1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966757" y="1974456"/>
            <a:ext cx="5739895" cy="1384995"/>
          </a:xfrm>
          <a:prstGeom prst="rect">
            <a:avLst/>
          </a:prstGeom>
          <a:noFill/>
        </p:spPr>
        <p:txBody>
          <a:bodyPr wrap="square" rtlCol="0">
            <a:spAutoFit/>
          </a:bodyPr>
          <a:lstStyle/>
          <a:p>
            <a:r>
              <a:rPr lang="es-ES" sz="2800" b="1" dirty="0">
                <a:solidFill>
                  <a:srgbClr val="3F3151"/>
                </a:solidFill>
              </a:rPr>
              <a:t>I. </a:t>
            </a:r>
            <a:r>
              <a:rPr lang="es-ES" sz="2800" dirty="0">
                <a:solidFill>
                  <a:srgbClr val="3F3151"/>
                </a:solidFill>
              </a:rPr>
              <a:t>CAMBIO DE PARADIGMA CON EL CENSO AGROPECUARIO NACIONAL 2022</a:t>
            </a:r>
          </a:p>
        </p:txBody>
      </p:sp>
      <p:sp>
        <p:nvSpPr>
          <p:cNvPr id="3" name="Rectángulo 2">
            <a:extLst>
              <a:ext uri="{FF2B5EF4-FFF2-40B4-BE49-F238E27FC236}">
                <a16:creationId xmlns:a16="http://schemas.microsoft.com/office/drawing/2014/main" id="{BB8A51D3-38BD-7D89-6D00-5F901D8A4CA6}"/>
              </a:ext>
            </a:extLst>
          </p:cNvPr>
          <p:cNvSpPr/>
          <p:nvPr/>
        </p:nvSpPr>
        <p:spPr>
          <a:xfrm>
            <a:off x="1274888" y="2387599"/>
            <a:ext cx="144964" cy="628651"/>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a:extLst>
              <a:ext uri="{FF2B5EF4-FFF2-40B4-BE49-F238E27FC236}">
                <a16:creationId xmlns:a16="http://schemas.microsoft.com/office/drawing/2014/main" id="{BCBAB799-C2D9-8779-3A7A-B35BB8B4BC1B}"/>
              </a:ext>
            </a:extLst>
          </p:cNvPr>
          <p:cNvSpPr/>
          <p:nvPr/>
        </p:nvSpPr>
        <p:spPr>
          <a:xfrm>
            <a:off x="1452557" y="1901628"/>
            <a:ext cx="144964" cy="1533125"/>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FB92FFF5-A0A0-AF3B-8E91-3CDE434EC43E}"/>
              </a:ext>
            </a:extLst>
          </p:cNvPr>
          <p:cNvSpPr/>
          <p:nvPr/>
        </p:nvSpPr>
        <p:spPr>
          <a:xfrm>
            <a:off x="1630226" y="2132011"/>
            <a:ext cx="144964" cy="1139825"/>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upo 11">
            <a:extLst>
              <a:ext uri="{FF2B5EF4-FFF2-40B4-BE49-F238E27FC236}">
                <a16:creationId xmlns:a16="http://schemas.microsoft.com/office/drawing/2014/main" id="{1C8D5A4B-FB10-911C-C5C9-E84E070448A5}"/>
              </a:ext>
            </a:extLst>
          </p:cNvPr>
          <p:cNvGrpSpPr/>
          <p:nvPr/>
        </p:nvGrpSpPr>
        <p:grpSpPr>
          <a:xfrm>
            <a:off x="930068" y="-1135380"/>
            <a:ext cx="1140746" cy="1135380"/>
            <a:chOff x="930068" y="-340980"/>
            <a:chExt cx="1140746" cy="1135380"/>
          </a:xfrm>
        </p:grpSpPr>
        <p:sp>
          <p:nvSpPr>
            <p:cNvPr id="13" name="Rectángulo 12">
              <a:extLst>
                <a:ext uri="{FF2B5EF4-FFF2-40B4-BE49-F238E27FC236}">
                  <a16:creationId xmlns:a16="http://schemas.microsoft.com/office/drawing/2014/main" id="{DCE85C0B-123A-E555-3E9B-5CC2C9D2C3C6}"/>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CuadroTexto 13">
              <a:extLst>
                <a:ext uri="{FF2B5EF4-FFF2-40B4-BE49-F238E27FC236}">
                  <a16:creationId xmlns:a16="http://schemas.microsoft.com/office/drawing/2014/main" id="{132AFB11-E8B0-47BF-CE73-635F3114B944}"/>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15" name="Grupo 14">
            <a:extLst>
              <a:ext uri="{FF2B5EF4-FFF2-40B4-BE49-F238E27FC236}">
                <a16:creationId xmlns:a16="http://schemas.microsoft.com/office/drawing/2014/main" id="{561D4EA5-11C7-CE4F-9EAE-C66960146E7D}"/>
              </a:ext>
            </a:extLst>
          </p:cNvPr>
          <p:cNvGrpSpPr/>
          <p:nvPr/>
        </p:nvGrpSpPr>
        <p:grpSpPr>
          <a:xfrm>
            <a:off x="2396932" y="-1135380"/>
            <a:ext cx="1140746" cy="1135380"/>
            <a:chOff x="2396932" y="-340980"/>
            <a:chExt cx="1140746" cy="1135380"/>
          </a:xfrm>
        </p:grpSpPr>
        <p:sp>
          <p:nvSpPr>
            <p:cNvPr id="16" name="Rectángulo 15">
              <a:extLst>
                <a:ext uri="{FF2B5EF4-FFF2-40B4-BE49-F238E27FC236}">
                  <a16:creationId xmlns:a16="http://schemas.microsoft.com/office/drawing/2014/main" id="{9E5877FB-5D80-004C-AA75-A22A52ADD708}"/>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7" name="CuadroTexto 16">
              <a:extLst>
                <a:ext uri="{FF2B5EF4-FFF2-40B4-BE49-F238E27FC236}">
                  <a16:creationId xmlns:a16="http://schemas.microsoft.com/office/drawing/2014/main" id="{E9E8BA91-9FF7-4189-276C-D04746C22C60}"/>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18" name="Grupo 17">
            <a:extLst>
              <a:ext uri="{FF2B5EF4-FFF2-40B4-BE49-F238E27FC236}">
                <a16:creationId xmlns:a16="http://schemas.microsoft.com/office/drawing/2014/main" id="{F8646F1F-AED4-085A-399E-B79B87E06214}"/>
              </a:ext>
            </a:extLst>
          </p:cNvPr>
          <p:cNvGrpSpPr/>
          <p:nvPr/>
        </p:nvGrpSpPr>
        <p:grpSpPr>
          <a:xfrm>
            <a:off x="3863796" y="-1135380"/>
            <a:ext cx="1140746" cy="1135380"/>
            <a:chOff x="3863796" y="-340980"/>
            <a:chExt cx="1140746" cy="1135380"/>
          </a:xfrm>
        </p:grpSpPr>
        <p:sp>
          <p:nvSpPr>
            <p:cNvPr id="19" name="Rectángulo 18">
              <a:extLst>
                <a:ext uri="{FF2B5EF4-FFF2-40B4-BE49-F238E27FC236}">
                  <a16:creationId xmlns:a16="http://schemas.microsoft.com/office/drawing/2014/main" id="{A4D7AB52-3B41-F54B-5764-765BD37241DE}"/>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0" name="CuadroTexto 19">
              <a:extLst>
                <a:ext uri="{FF2B5EF4-FFF2-40B4-BE49-F238E27FC236}">
                  <a16:creationId xmlns:a16="http://schemas.microsoft.com/office/drawing/2014/main" id="{7E15F27B-88BC-D720-33B9-7B2D6E7B40AF}"/>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21" name="Grupo 20">
            <a:extLst>
              <a:ext uri="{FF2B5EF4-FFF2-40B4-BE49-F238E27FC236}">
                <a16:creationId xmlns:a16="http://schemas.microsoft.com/office/drawing/2014/main" id="{A834671B-32AA-5D97-B95D-1AE647A63C5D}"/>
              </a:ext>
            </a:extLst>
          </p:cNvPr>
          <p:cNvGrpSpPr/>
          <p:nvPr/>
        </p:nvGrpSpPr>
        <p:grpSpPr>
          <a:xfrm>
            <a:off x="5330660" y="-1135380"/>
            <a:ext cx="1140746" cy="1135380"/>
            <a:chOff x="5330660" y="-340980"/>
            <a:chExt cx="1140746" cy="1135380"/>
          </a:xfrm>
        </p:grpSpPr>
        <p:sp>
          <p:nvSpPr>
            <p:cNvPr id="22" name="Rectángulo 21">
              <a:extLst>
                <a:ext uri="{FF2B5EF4-FFF2-40B4-BE49-F238E27FC236}">
                  <a16:creationId xmlns:a16="http://schemas.microsoft.com/office/drawing/2014/main" id="{92FCD7E4-1A40-A4D3-E3B3-5FCF0928EDC0}"/>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3" name="CuadroTexto 22">
              <a:extLst>
                <a:ext uri="{FF2B5EF4-FFF2-40B4-BE49-F238E27FC236}">
                  <a16:creationId xmlns:a16="http://schemas.microsoft.com/office/drawing/2014/main" id="{ACEFD3C1-1FF7-B1AA-C7C7-4315B78965E2}"/>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24" name="Grupo 23">
            <a:extLst>
              <a:ext uri="{FF2B5EF4-FFF2-40B4-BE49-F238E27FC236}">
                <a16:creationId xmlns:a16="http://schemas.microsoft.com/office/drawing/2014/main" id="{A025E036-C136-E203-19EC-1F798BA1AE1E}"/>
              </a:ext>
            </a:extLst>
          </p:cNvPr>
          <p:cNvGrpSpPr/>
          <p:nvPr/>
        </p:nvGrpSpPr>
        <p:grpSpPr>
          <a:xfrm>
            <a:off x="6797524" y="-1135380"/>
            <a:ext cx="1140746" cy="1135380"/>
            <a:chOff x="6820384" y="-340980"/>
            <a:chExt cx="1140746" cy="1135380"/>
          </a:xfrm>
        </p:grpSpPr>
        <p:sp>
          <p:nvSpPr>
            <p:cNvPr id="25" name="Rectángulo 24">
              <a:extLst>
                <a:ext uri="{FF2B5EF4-FFF2-40B4-BE49-F238E27FC236}">
                  <a16:creationId xmlns:a16="http://schemas.microsoft.com/office/drawing/2014/main" id="{36C9D38F-A1E4-6AB7-B07C-114DF6DC07D7}"/>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6" name="CuadroTexto 25">
              <a:extLst>
                <a:ext uri="{FF2B5EF4-FFF2-40B4-BE49-F238E27FC236}">
                  <a16:creationId xmlns:a16="http://schemas.microsoft.com/office/drawing/2014/main" id="{A319916A-7BFD-05ED-6C40-8D707730EDBB}"/>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Tree>
    <p:extLst>
      <p:ext uri="{BB962C8B-B14F-4D97-AF65-F5344CB8AC3E}">
        <p14:creationId xmlns:p14="http://schemas.microsoft.com/office/powerpoint/2010/main" val="2673191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par>
                                <p:cTn id="8" presetID="16" presetClass="entr" presetSubtype="42" fill="hold" grpId="0" nodeType="withEffect">
                                  <p:stCondLst>
                                    <p:cond delay="250"/>
                                  </p:stCondLst>
                                  <p:childTnLst>
                                    <p:set>
                                      <p:cBhvr>
                                        <p:cTn id="9" dur="1" fill="hold">
                                          <p:stCondLst>
                                            <p:cond delay="0"/>
                                          </p:stCondLst>
                                        </p:cTn>
                                        <p:tgtEl>
                                          <p:spTgt spid="4"/>
                                        </p:tgtEl>
                                        <p:attrNameLst>
                                          <p:attrName>style.visibility</p:attrName>
                                        </p:attrNameLst>
                                      </p:cBhvr>
                                      <p:to>
                                        <p:strVal val="visible"/>
                                      </p:to>
                                    </p:set>
                                    <p:animEffect transition="in" filter="barn(outHorizontal)">
                                      <p:cBhvr>
                                        <p:cTn id="10" dur="500"/>
                                        <p:tgtEl>
                                          <p:spTgt spid="4"/>
                                        </p:tgtEl>
                                      </p:cBhvr>
                                    </p:animEffect>
                                  </p:childTnLst>
                                </p:cTn>
                              </p:par>
                              <p:par>
                                <p:cTn id="11" presetID="16" presetClass="entr" presetSubtype="42"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barn(outHorizontal)">
                                      <p:cBhvr>
                                        <p:cTn id="13" dur="500"/>
                                        <p:tgtEl>
                                          <p:spTgt spid="5"/>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Imagen de la pantalla de un computador&#10;&#10;Descripción generada automáticamente con confianza baja">
            <a:extLst>
              <a:ext uri="{FF2B5EF4-FFF2-40B4-BE49-F238E27FC236}">
                <a16:creationId xmlns:a16="http://schemas.microsoft.com/office/drawing/2014/main" id="{B61E9C3F-9E30-EFF7-D31E-47D7FDDC7C6C}"/>
              </a:ext>
            </a:extLst>
          </p:cNvPr>
          <p:cNvPicPr>
            <a:picLocks noChangeAspect="1"/>
          </p:cNvPicPr>
          <p:nvPr/>
        </p:nvPicPr>
        <p:blipFill rotWithShape="1">
          <a:blip r:embed="rId3"/>
          <a:srcRect l="16284" t="17172" r="12617" b="17778"/>
          <a:stretch/>
        </p:blipFill>
        <p:spPr>
          <a:xfrm>
            <a:off x="346930" y="5304265"/>
            <a:ext cx="1823612" cy="1147186"/>
          </a:xfrm>
          <a:prstGeom prst="rect">
            <a:avLst/>
          </a:prstGeom>
        </p:spPr>
      </p:pic>
      <p:grpSp>
        <p:nvGrpSpPr>
          <p:cNvPr id="5" name="Grupo 4">
            <a:extLst>
              <a:ext uri="{FF2B5EF4-FFF2-40B4-BE49-F238E27FC236}">
                <a16:creationId xmlns:a16="http://schemas.microsoft.com/office/drawing/2014/main" id="{35317AA7-20B0-7DA3-0022-BEC168527F14}"/>
              </a:ext>
            </a:extLst>
          </p:cNvPr>
          <p:cNvGrpSpPr/>
          <p:nvPr/>
        </p:nvGrpSpPr>
        <p:grpSpPr>
          <a:xfrm>
            <a:off x="930068" y="-340980"/>
            <a:ext cx="1140746" cy="1135380"/>
            <a:chOff x="930068" y="-340980"/>
            <a:chExt cx="1140746" cy="1135380"/>
          </a:xfrm>
        </p:grpSpPr>
        <p:sp>
          <p:nvSpPr>
            <p:cNvPr id="6" name="Rectángulo 5">
              <a:extLst>
                <a:ext uri="{FF2B5EF4-FFF2-40B4-BE49-F238E27FC236}">
                  <a16:creationId xmlns:a16="http://schemas.microsoft.com/office/drawing/2014/main" id="{6477D645-D822-6C34-870B-93A7815D57E9}"/>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7" name="CuadroTexto 6">
              <a:extLst>
                <a:ext uri="{FF2B5EF4-FFF2-40B4-BE49-F238E27FC236}">
                  <a16:creationId xmlns:a16="http://schemas.microsoft.com/office/drawing/2014/main" id="{FDBBBC44-6305-2C7D-BB8C-43405FC5E233}"/>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9" name="Grupo 8">
            <a:extLst>
              <a:ext uri="{FF2B5EF4-FFF2-40B4-BE49-F238E27FC236}">
                <a16:creationId xmlns:a16="http://schemas.microsoft.com/office/drawing/2014/main" id="{CA0BE639-EB41-6A82-3B7A-A75A4D9482CC}"/>
              </a:ext>
            </a:extLst>
          </p:cNvPr>
          <p:cNvGrpSpPr/>
          <p:nvPr/>
        </p:nvGrpSpPr>
        <p:grpSpPr>
          <a:xfrm>
            <a:off x="2396932" y="-1135380"/>
            <a:ext cx="1140746" cy="1135380"/>
            <a:chOff x="2396932" y="-340980"/>
            <a:chExt cx="1140746" cy="1135380"/>
          </a:xfrm>
        </p:grpSpPr>
        <p:sp>
          <p:nvSpPr>
            <p:cNvPr id="10" name="Rectángulo 9">
              <a:extLst>
                <a:ext uri="{FF2B5EF4-FFF2-40B4-BE49-F238E27FC236}">
                  <a16:creationId xmlns:a16="http://schemas.microsoft.com/office/drawing/2014/main" id="{062F85A9-56E8-674E-65CD-742D902FAAF6}"/>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2" name="CuadroTexto 11">
              <a:extLst>
                <a:ext uri="{FF2B5EF4-FFF2-40B4-BE49-F238E27FC236}">
                  <a16:creationId xmlns:a16="http://schemas.microsoft.com/office/drawing/2014/main" id="{61B6D908-9EF2-8B18-6149-AA189E707649}"/>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14" name="Grupo 13">
            <a:extLst>
              <a:ext uri="{FF2B5EF4-FFF2-40B4-BE49-F238E27FC236}">
                <a16:creationId xmlns:a16="http://schemas.microsoft.com/office/drawing/2014/main" id="{98DBCA52-8AD1-21F7-53CE-3C3E5A9D0FB2}"/>
              </a:ext>
            </a:extLst>
          </p:cNvPr>
          <p:cNvGrpSpPr/>
          <p:nvPr/>
        </p:nvGrpSpPr>
        <p:grpSpPr>
          <a:xfrm>
            <a:off x="3863796" y="-1135380"/>
            <a:ext cx="1140746" cy="1135380"/>
            <a:chOff x="3863796" y="-340980"/>
            <a:chExt cx="1140746" cy="1135380"/>
          </a:xfrm>
        </p:grpSpPr>
        <p:sp>
          <p:nvSpPr>
            <p:cNvPr id="15" name="Rectángulo 14">
              <a:extLst>
                <a:ext uri="{FF2B5EF4-FFF2-40B4-BE49-F238E27FC236}">
                  <a16:creationId xmlns:a16="http://schemas.microsoft.com/office/drawing/2014/main" id="{84553443-6348-F4C8-9217-460555FDB424}"/>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6" name="CuadroTexto 15">
              <a:extLst>
                <a:ext uri="{FF2B5EF4-FFF2-40B4-BE49-F238E27FC236}">
                  <a16:creationId xmlns:a16="http://schemas.microsoft.com/office/drawing/2014/main" id="{8FD27368-A5B2-58B6-845B-C564E3820889}"/>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17" name="Grupo 16">
            <a:extLst>
              <a:ext uri="{FF2B5EF4-FFF2-40B4-BE49-F238E27FC236}">
                <a16:creationId xmlns:a16="http://schemas.microsoft.com/office/drawing/2014/main" id="{11CACAB1-35F3-259D-68A8-59C42D9D2603}"/>
              </a:ext>
            </a:extLst>
          </p:cNvPr>
          <p:cNvGrpSpPr/>
          <p:nvPr/>
        </p:nvGrpSpPr>
        <p:grpSpPr>
          <a:xfrm>
            <a:off x="5330660" y="-1135380"/>
            <a:ext cx="1140746" cy="1135380"/>
            <a:chOff x="5330660" y="-340980"/>
            <a:chExt cx="1140746" cy="1135380"/>
          </a:xfrm>
        </p:grpSpPr>
        <p:sp>
          <p:nvSpPr>
            <p:cNvPr id="18" name="Rectángulo 17">
              <a:extLst>
                <a:ext uri="{FF2B5EF4-FFF2-40B4-BE49-F238E27FC236}">
                  <a16:creationId xmlns:a16="http://schemas.microsoft.com/office/drawing/2014/main" id="{2F8E35ED-F125-1DA7-5CF3-24D847345C8F}"/>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9" name="CuadroTexto 18">
              <a:extLst>
                <a:ext uri="{FF2B5EF4-FFF2-40B4-BE49-F238E27FC236}">
                  <a16:creationId xmlns:a16="http://schemas.microsoft.com/office/drawing/2014/main" id="{DA1BFEC9-C901-66B0-2CC7-E6A658F16312}"/>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20" name="Grupo 19">
            <a:extLst>
              <a:ext uri="{FF2B5EF4-FFF2-40B4-BE49-F238E27FC236}">
                <a16:creationId xmlns:a16="http://schemas.microsoft.com/office/drawing/2014/main" id="{A0B601D2-5AE8-AAB6-EA6E-3DCB11C8A407}"/>
              </a:ext>
            </a:extLst>
          </p:cNvPr>
          <p:cNvGrpSpPr/>
          <p:nvPr/>
        </p:nvGrpSpPr>
        <p:grpSpPr>
          <a:xfrm>
            <a:off x="6797524" y="-1135380"/>
            <a:ext cx="1140746" cy="1135380"/>
            <a:chOff x="6820384" y="-340980"/>
            <a:chExt cx="1140746" cy="1135380"/>
          </a:xfrm>
        </p:grpSpPr>
        <p:sp>
          <p:nvSpPr>
            <p:cNvPr id="21" name="Rectángulo 20">
              <a:extLst>
                <a:ext uri="{FF2B5EF4-FFF2-40B4-BE49-F238E27FC236}">
                  <a16:creationId xmlns:a16="http://schemas.microsoft.com/office/drawing/2014/main" id="{B985E508-FB8E-07BE-7DA2-0E31EA9A7EC5}"/>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2" name="CuadroTexto 21">
              <a:extLst>
                <a:ext uri="{FF2B5EF4-FFF2-40B4-BE49-F238E27FC236}">
                  <a16:creationId xmlns:a16="http://schemas.microsoft.com/office/drawing/2014/main" id="{1CD88584-20E2-4C85-E55D-8B168964C869}"/>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grpSp>
        <p:nvGrpSpPr>
          <p:cNvPr id="23" name="Grupo 22">
            <a:extLst>
              <a:ext uri="{FF2B5EF4-FFF2-40B4-BE49-F238E27FC236}">
                <a16:creationId xmlns:a16="http://schemas.microsoft.com/office/drawing/2014/main" id="{26176179-4A49-6600-280B-3E105BDBBAA4}"/>
              </a:ext>
            </a:extLst>
          </p:cNvPr>
          <p:cNvGrpSpPr/>
          <p:nvPr/>
        </p:nvGrpSpPr>
        <p:grpSpPr>
          <a:xfrm>
            <a:off x="9010811" y="1002484"/>
            <a:ext cx="6869269" cy="4144619"/>
            <a:chOff x="1771171" y="1002484"/>
            <a:chExt cx="6869269" cy="4144619"/>
          </a:xfrm>
        </p:grpSpPr>
        <p:pic>
          <p:nvPicPr>
            <p:cNvPr id="24" name="Imagen 23" descr="Mapa&#10;&#10;Descripción generada automáticamente">
              <a:extLst>
                <a:ext uri="{FF2B5EF4-FFF2-40B4-BE49-F238E27FC236}">
                  <a16:creationId xmlns:a16="http://schemas.microsoft.com/office/drawing/2014/main" id="{EBC27B15-2FE0-7FA3-AF1E-B7E442D6D144}"/>
                </a:ext>
              </a:extLst>
            </p:cNvPr>
            <p:cNvPicPr>
              <a:picLocks noChangeAspect="1"/>
            </p:cNvPicPr>
            <p:nvPr/>
          </p:nvPicPr>
          <p:blipFill rotWithShape="1">
            <a:blip r:embed="rId4"/>
            <a:srcRect l="1" t="7502" r="29605" b="7502"/>
            <a:stretch/>
          </p:blipFill>
          <p:spPr>
            <a:xfrm>
              <a:off x="1771172" y="1100139"/>
              <a:ext cx="6869268" cy="4046964"/>
            </a:xfrm>
            <a:prstGeom prst="rect">
              <a:avLst/>
            </a:prstGeom>
          </p:spPr>
        </p:pic>
        <p:sp>
          <p:nvSpPr>
            <p:cNvPr id="25" name="Triángulo rectángulo 24">
              <a:extLst>
                <a:ext uri="{FF2B5EF4-FFF2-40B4-BE49-F238E27FC236}">
                  <a16:creationId xmlns:a16="http://schemas.microsoft.com/office/drawing/2014/main" id="{829B7114-43C5-8740-0D7E-279F00965809}"/>
                </a:ext>
              </a:extLst>
            </p:cNvPr>
            <p:cNvSpPr/>
            <p:nvPr/>
          </p:nvSpPr>
          <p:spPr>
            <a:xfrm rot="10800000" flipH="1">
              <a:off x="1771171" y="1002484"/>
              <a:ext cx="3397177" cy="4141016"/>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Picture 2" descr="ArcGIS Survey123 - Apps en Google Play">
            <a:extLst>
              <a:ext uri="{FF2B5EF4-FFF2-40B4-BE49-F238E27FC236}">
                <a16:creationId xmlns:a16="http://schemas.microsoft.com/office/drawing/2014/main" id="{31633831-D3F7-2502-4225-F6C4214EE8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9014" y="1806144"/>
            <a:ext cx="640220" cy="640220"/>
          </a:xfrm>
          <a:prstGeom prst="roundRect">
            <a:avLst>
              <a:gd name="adj" fmla="val 16341"/>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87B16E9C-D71B-94F1-FAC6-FAF56CE2B500}"/>
              </a:ext>
            </a:extLst>
          </p:cNvPr>
          <p:cNvSpPr txBox="1"/>
          <p:nvPr/>
        </p:nvSpPr>
        <p:spPr>
          <a:xfrm>
            <a:off x="-1098314" y="1895421"/>
            <a:ext cx="1098314" cy="461665"/>
          </a:xfrm>
          <a:prstGeom prst="rect">
            <a:avLst/>
          </a:prstGeom>
          <a:noFill/>
        </p:spPr>
        <p:txBody>
          <a:bodyPr wrap="square" rtlCol="0">
            <a:spAutoFit/>
          </a:bodyPr>
          <a:lstStyle/>
          <a:p>
            <a:r>
              <a:rPr lang="es-MX" sz="1200" b="1" dirty="0">
                <a:solidFill>
                  <a:srgbClr val="3F3151"/>
                </a:solidFill>
              </a:rPr>
              <a:t>ArcGIS</a:t>
            </a:r>
          </a:p>
          <a:p>
            <a:r>
              <a:rPr lang="es-MX" sz="1200" b="1" dirty="0">
                <a:solidFill>
                  <a:srgbClr val="3F3151"/>
                </a:solidFill>
              </a:rPr>
              <a:t>Survey123</a:t>
            </a:r>
            <a:endParaRPr lang="en-US" sz="1200" b="1" dirty="0">
              <a:solidFill>
                <a:srgbClr val="3F3151"/>
              </a:solidFill>
            </a:endParaRPr>
          </a:p>
        </p:txBody>
      </p:sp>
      <p:pic>
        <p:nvPicPr>
          <p:cNvPr id="32" name="Picture 2">
            <a:extLst>
              <a:ext uri="{FF2B5EF4-FFF2-40B4-BE49-F238E27FC236}">
                <a16:creationId xmlns:a16="http://schemas.microsoft.com/office/drawing/2014/main" id="{9E6F9C6C-DCE9-6D54-B01B-3AF2694092CF}"/>
              </a:ext>
            </a:extLst>
          </p:cNvPr>
          <p:cNvPicPr>
            <a:picLocks noChangeAspect="1" noChangeArrowheads="1"/>
          </p:cNvPicPr>
          <p:nvPr/>
        </p:nvPicPr>
        <p:blipFill>
          <a:blip r:embed="rId6"/>
          <a:srcRect/>
          <a:stretch/>
        </p:blipFill>
        <p:spPr bwMode="auto">
          <a:xfrm>
            <a:off x="-1769013" y="3541574"/>
            <a:ext cx="640220" cy="640220"/>
          </a:xfrm>
          <a:prstGeom prst="roundRect">
            <a:avLst>
              <a:gd name="adj" fmla="val 16341"/>
            </a:avLst>
          </a:prstGeom>
          <a:noFill/>
          <a:extLst>
            <a:ext uri="{909E8E84-426E-40DD-AFC4-6F175D3DCCD1}">
              <a14:hiddenFill xmlns:a14="http://schemas.microsoft.com/office/drawing/2010/main">
                <a:solidFill>
                  <a:srgbClr val="FFFFFF"/>
                </a:solidFill>
              </a14:hiddenFill>
            </a:ext>
          </a:extLst>
        </p:spPr>
      </p:pic>
      <p:sp>
        <p:nvSpPr>
          <p:cNvPr id="33" name="CuadroTexto 32">
            <a:extLst>
              <a:ext uri="{FF2B5EF4-FFF2-40B4-BE49-F238E27FC236}">
                <a16:creationId xmlns:a16="http://schemas.microsoft.com/office/drawing/2014/main" id="{FF906558-0193-A36E-5B92-F27219A74786}"/>
              </a:ext>
            </a:extLst>
          </p:cNvPr>
          <p:cNvSpPr txBox="1"/>
          <p:nvPr/>
        </p:nvSpPr>
        <p:spPr>
          <a:xfrm>
            <a:off x="-1102854" y="3630851"/>
            <a:ext cx="1098314" cy="461665"/>
          </a:xfrm>
          <a:prstGeom prst="rect">
            <a:avLst/>
          </a:prstGeom>
          <a:noFill/>
        </p:spPr>
        <p:txBody>
          <a:bodyPr wrap="square" rtlCol="0">
            <a:spAutoFit/>
          </a:bodyPr>
          <a:lstStyle/>
          <a:p>
            <a:r>
              <a:rPr lang="es-MX" sz="1200" b="1" dirty="0">
                <a:solidFill>
                  <a:srgbClr val="3F3151"/>
                </a:solidFill>
              </a:rPr>
              <a:t>ArcGIS</a:t>
            </a:r>
          </a:p>
          <a:p>
            <a:r>
              <a:rPr lang="es-MX" sz="1200" b="1" dirty="0">
                <a:solidFill>
                  <a:srgbClr val="3F3151"/>
                </a:solidFill>
              </a:rPr>
              <a:t>Field </a:t>
            </a:r>
            <a:r>
              <a:rPr lang="es-MX" sz="1200" b="1" dirty="0" err="1">
                <a:solidFill>
                  <a:srgbClr val="3F3151"/>
                </a:solidFill>
              </a:rPr>
              <a:t>Maps</a:t>
            </a:r>
            <a:endParaRPr lang="en-US" sz="1200" b="1" dirty="0">
              <a:solidFill>
                <a:srgbClr val="3F3151"/>
              </a:solidFill>
            </a:endParaRPr>
          </a:p>
        </p:txBody>
      </p:sp>
      <p:sp>
        <p:nvSpPr>
          <p:cNvPr id="34" name="Rectángulo 33">
            <a:extLst>
              <a:ext uri="{FF2B5EF4-FFF2-40B4-BE49-F238E27FC236}">
                <a16:creationId xmlns:a16="http://schemas.microsoft.com/office/drawing/2014/main" id="{D3FC9746-4805-9BD9-34C2-60653EE6AA13}"/>
              </a:ext>
            </a:extLst>
          </p:cNvPr>
          <p:cNvSpPr/>
          <p:nvPr/>
        </p:nvSpPr>
        <p:spPr>
          <a:xfrm>
            <a:off x="-609151" y="2387599"/>
            <a:ext cx="144964" cy="628651"/>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ángulo 34">
            <a:extLst>
              <a:ext uri="{FF2B5EF4-FFF2-40B4-BE49-F238E27FC236}">
                <a16:creationId xmlns:a16="http://schemas.microsoft.com/office/drawing/2014/main" id="{250C248C-540A-B852-7A8D-D5845ABB7E67}"/>
              </a:ext>
            </a:extLst>
          </p:cNvPr>
          <p:cNvSpPr/>
          <p:nvPr/>
        </p:nvSpPr>
        <p:spPr>
          <a:xfrm>
            <a:off x="-431482" y="1901628"/>
            <a:ext cx="144964" cy="1533125"/>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ángulo 35">
            <a:extLst>
              <a:ext uri="{FF2B5EF4-FFF2-40B4-BE49-F238E27FC236}">
                <a16:creationId xmlns:a16="http://schemas.microsoft.com/office/drawing/2014/main" id="{064337B9-F304-411A-236D-1F2E85C9F074}"/>
              </a:ext>
            </a:extLst>
          </p:cNvPr>
          <p:cNvSpPr/>
          <p:nvPr/>
        </p:nvSpPr>
        <p:spPr>
          <a:xfrm>
            <a:off x="-253813" y="2132011"/>
            <a:ext cx="144964" cy="1139825"/>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Google Shape;136;p6">
            <a:extLst>
              <a:ext uri="{FF2B5EF4-FFF2-40B4-BE49-F238E27FC236}">
                <a16:creationId xmlns:a16="http://schemas.microsoft.com/office/drawing/2014/main" id="{8FB757C0-8903-44BB-4CFB-01BD49EDB759}"/>
              </a:ext>
            </a:extLst>
          </p:cNvPr>
          <p:cNvSpPr/>
          <p:nvPr/>
        </p:nvSpPr>
        <p:spPr>
          <a:xfrm>
            <a:off x="663364" y="856150"/>
            <a:ext cx="8347446" cy="769401"/>
          </a:xfrm>
          <a:prstGeom prst="rect">
            <a:avLst/>
          </a:prstGeom>
          <a:noFill/>
          <a:ln>
            <a:noFill/>
          </a:ln>
        </p:spPr>
        <p:txBody>
          <a:bodyPr spcFirstLastPara="1" wrap="square" lIns="91425" tIns="45700" rIns="91425" bIns="45700">
            <a:spAutoFit/>
          </a:bodyPr>
          <a:lstStyle/>
          <a:p>
            <a:pPr algn="ctr" eaLnBrk="1" fontAlgn="auto" hangingPunct="1">
              <a:spcBef>
                <a:spcPts val="0"/>
              </a:spcBef>
              <a:spcAft>
                <a:spcPts val="0"/>
              </a:spcAft>
              <a:buClr>
                <a:schemeClr val="dk1"/>
              </a:buClr>
              <a:buSzPts val="1400"/>
              <a:defRPr/>
            </a:pPr>
            <a:r>
              <a:rPr lang="es-ES" sz="1100" kern="0" dirty="0">
                <a:solidFill>
                  <a:srgbClr val="3F3151"/>
                </a:solidFill>
                <a:latin typeface="+mj-lt"/>
                <a:ea typeface="Calibri"/>
                <a:sym typeface="Calibri"/>
              </a:rPr>
              <a:t>El </a:t>
            </a:r>
            <a:r>
              <a:rPr lang="es-ES" sz="1100" b="1" kern="0" dirty="0">
                <a:solidFill>
                  <a:srgbClr val="3F3151"/>
                </a:solidFill>
                <a:latin typeface="+mj-lt"/>
                <a:ea typeface="Calibri"/>
                <a:sym typeface="Calibri"/>
              </a:rPr>
              <a:t>periodo de referencia de levantamiento de los datos: 01 de julio del 2021 — 30 de junio del 2022</a:t>
            </a:r>
            <a:r>
              <a:rPr lang="es-ES" sz="1100" kern="0" dirty="0">
                <a:solidFill>
                  <a:srgbClr val="3F3151"/>
                </a:solidFill>
                <a:latin typeface="+mj-lt"/>
                <a:ea typeface="Calibri"/>
                <a:sym typeface="Calibri"/>
              </a:rPr>
              <a:t>. El mismo, </a:t>
            </a:r>
            <a:r>
              <a:rPr lang="es-ES" sz="1100" u="sng" kern="0" dirty="0">
                <a:solidFill>
                  <a:srgbClr val="3F3151"/>
                </a:solidFill>
                <a:latin typeface="+mj-lt"/>
                <a:ea typeface="Calibri"/>
                <a:sym typeface="Calibri"/>
              </a:rPr>
              <a:t>se caracterizó por el fenómeno de la Niña; con eventos de ola de calor, altas temperaturas y tiempos de sequías</a:t>
            </a:r>
            <a:r>
              <a:rPr lang="es-ES" sz="1100" kern="0" dirty="0">
                <a:solidFill>
                  <a:srgbClr val="3F3151"/>
                </a:solidFill>
                <a:latin typeface="+mj-lt"/>
                <a:ea typeface="Calibri"/>
                <a:sym typeface="Calibri"/>
              </a:rPr>
              <a:t> ubicando al periodo agrícola dentro de las épocas más cálidos registradas en los últimos periodos; con mermas en la producción de los principales rubros agropecuarios</a:t>
            </a:r>
            <a:endParaRPr sz="1100" kern="0" dirty="0">
              <a:solidFill>
                <a:srgbClr val="3F3151"/>
              </a:solidFill>
              <a:latin typeface="+mj-lt"/>
              <a:ea typeface="Arial"/>
              <a:cs typeface="Arial"/>
              <a:sym typeface="Arial"/>
            </a:endParaRPr>
          </a:p>
        </p:txBody>
      </p:sp>
      <p:graphicFrame>
        <p:nvGraphicFramePr>
          <p:cNvPr id="38" name="Tabla 8">
            <a:extLst>
              <a:ext uri="{FF2B5EF4-FFF2-40B4-BE49-F238E27FC236}">
                <a16:creationId xmlns:a16="http://schemas.microsoft.com/office/drawing/2014/main" id="{4E88C5FC-FF38-8174-62AB-6B1F1B7FFDAF}"/>
              </a:ext>
            </a:extLst>
          </p:cNvPr>
          <p:cNvGraphicFramePr>
            <a:graphicFrameLocks noGrp="1"/>
          </p:cNvGraphicFramePr>
          <p:nvPr>
            <p:extLst>
              <p:ext uri="{D42A27DB-BD31-4B8C-83A1-F6EECF244321}">
                <p14:modId xmlns:p14="http://schemas.microsoft.com/office/powerpoint/2010/main" val="1530223419"/>
              </p:ext>
            </p:extLst>
          </p:nvPr>
        </p:nvGraphicFramePr>
        <p:xfrm>
          <a:off x="663879" y="2735827"/>
          <a:ext cx="7536431" cy="1696064"/>
        </p:xfrm>
        <a:graphic>
          <a:graphicData uri="http://schemas.openxmlformats.org/drawingml/2006/table">
            <a:tbl>
              <a:tblPr firstRow="1" bandRow="1">
                <a:tableStyleId>{2D5ABB26-0587-4C30-8999-92F81FD0307C}</a:tableStyleId>
              </a:tblPr>
              <a:tblGrid>
                <a:gridCol w="1474637">
                  <a:extLst>
                    <a:ext uri="{9D8B030D-6E8A-4147-A177-3AD203B41FA5}">
                      <a16:colId xmlns:a16="http://schemas.microsoft.com/office/drawing/2014/main" val="1417368530"/>
                    </a:ext>
                  </a:extLst>
                </a:gridCol>
                <a:gridCol w="1010265">
                  <a:extLst>
                    <a:ext uri="{9D8B030D-6E8A-4147-A177-3AD203B41FA5}">
                      <a16:colId xmlns:a16="http://schemas.microsoft.com/office/drawing/2014/main" val="4058662122"/>
                    </a:ext>
                  </a:extLst>
                </a:gridCol>
                <a:gridCol w="929148">
                  <a:extLst>
                    <a:ext uri="{9D8B030D-6E8A-4147-A177-3AD203B41FA5}">
                      <a16:colId xmlns:a16="http://schemas.microsoft.com/office/drawing/2014/main" val="2626422684"/>
                    </a:ext>
                  </a:extLst>
                </a:gridCol>
                <a:gridCol w="1290484">
                  <a:extLst>
                    <a:ext uri="{9D8B030D-6E8A-4147-A177-3AD203B41FA5}">
                      <a16:colId xmlns:a16="http://schemas.microsoft.com/office/drawing/2014/main" val="292201826"/>
                    </a:ext>
                  </a:extLst>
                </a:gridCol>
                <a:gridCol w="678631">
                  <a:extLst>
                    <a:ext uri="{9D8B030D-6E8A-4147-A177-3AD203B41FA5}">
                      <a16:colId xmlns:a16="http://schemas.microsoft.com/office/drawing/2014/main" val="2456848455"/>
                    </a:ext>
                  </a:extLst>
                </a:gridCol>
                <a:gridCol w="1091175">
                  <a:extLst>
                    <a:ext uri="{9D8B030D-6E8A-4147-A177-3AD203B41FA5}">
                      <a16:colId xmlns:a16="http://schemas.microsoft.com/office/drawing/2014/main" val="3458608273"/>
                    </a:ext>
                  </a:extLst>
                </a:gridCol>
                <a:gridCol w="1062091">
                  <a:extLst>
                    <a:ext uri="{9D8B030D-6E8A-4147-A177-3AD203B41FA5}">
                      <a16:colId xmlns:a16="http://schemas.microsoft.com/office/drawing/2014/main" val="3429603204"/>
                    </a:ext>
                  </a:extLst>
                </a:gridCol>
              </a:tblGrid>
              <a:tr h="683003">
                <a:tc>
                  <a:txBody>
                    <a:bodyPr/>
                    <a:lstStyle/>
                    <a:p>
                      <a:pPr algn="ctr"/>
                      <a:endParaRPr lang="es-ES" sz="800" b="0" i="0" u="none" strike="noStrike" kern="0" cap="none" dirty="0">
                        <a:solidFill>
                          <a:srgbClr val="3F3151"/>
                        </a:solidFill>
                        <a:latin typeface="+mn-lt"/>
                        <a:ea typeface="Arial"/>
                        <a:cs typeface="Arial"/>
                        <a:sym typeface="Arial"/>
                      </a:endParaRPr>
                    </a:p>
                  </a:txBody>
                  <a:tcPr anchor="ctr">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800" b="0" i="0" u="none" strike="noStrike" kern="0" cap="none" dirty="0">
                        <a:solidFill>
                          <a:srgbClr val="3F3151"/>
                        </a:solidFill>
                        <a:latin typeface="+mn-lt"/>
                        <a:ea typeface="Arial"/>
                        <a:cs typeface="Arial"/>
                        <a:sym typeface="Arial"/>
                      </a:endParaRPr>
                    </a:p>
                  </a:txBody>
                  <a:tcPr anchor="ct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800" b="0" i="0" u="none" strike="noStrike" kern="0" cap="none" dirty="0">
                        <a:solidFill>
                          <a:srgbClr val="3F3151"/>
                        </a:solidFill>
                        <a:latin typeface="+mn-lt"/>
                        <a:ea typeface="Arial"/>
                        <a:cs typeface="Arial"/>
                        <a:sym typeface="Arial"/>
                      </a:endParaRPr>
                    </a:p>
                  </a:txBody>
                  <a:tcPr anchor="ct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pt-BR" sz="800" b="0" i="0" u="none" strike="noStrike" kern="0" cap="none" dirty="0">
                        <a:solidFill>
                          <a:srgbClr val="3F3151"/>
                        </a:solidFill>
                        <a:latin typeface="+mn-lt"/>
                        <a:ea typeface="Arial"/>
                        <a:cs typeface="Arial"/>
                        <a:sym typeface="Arial"/>
                      </a:endParaRPr>
                    </a:p>
                  </a:txBody>
                  <a:tcPr anchor="ct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800" b="0" i="0" u="none" strike="noStrike" kern="0" cap="none" dirty="0">
                        <a:solidFill>
                          <a:srgbClr val="3F3151"/>
                        </a:solidFill>
                        <a:latin typeface="+mn-lt"/>
                        <a:ea typeface="Arial"/>
                        <a:cs typeface="Arial"/>
                        <a:sym typeface="Arial"/>
                      </a:endParaRPr>
                    </a:p>
                  </a:txBody>
                  <a:tcPr anchor="ct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800" b="0" i="0" u="none" strike="noStrike" kern="0" cap="none" dirty="0">
                        <a:solidFill>
                          <a:srgbClr val="3F3151"/>
                        </a:solidFill>
                        <a:latin typeface="+mn-lt"/>
                        <a:ea typeface="Arial"/>
                        <a:cs typeface="Arial"/>
                        <a:sym typeface="Arial"/>
                      </a:endParaRPr>
                    </a:p>
                  </a:txBody>
                  <a:tcPr anchor="ct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pt-BR" sz="800" b="0" i="0" u="none" strike="noStrike" kern="0" cap="none" dirty="0">
                        <a:solidFill>
                          <a:srgbClr val="3F3151"/>
                        </a:solidFill>
                        <a:latin typeface="+mn-lt"/>
                        <a:ea typeface="Calibri"/>
                        <a:cs typeface="Arial" panose="020B0604020202020204" pitchFamily="34" charset="0"/>
                        <a:sym typeface="Calibri"/>
                      </a:endParaRPr>
                    </a:p>
                  </a:txBody>
                  <a:tcPr anchor="ctr">
                    <a:lnL w="6350" cap="flat" cmpd="sng" algn="ctr">
                      <a:solidFill>
                        <a:srgbClr val="9B4D0A"/>
                      </a:solidFill>
                      <a:prstDash val="solid"/>
                      <a:round/>
                      <a:headEnd type="none" w="med" len="med"/>
                      <a:tailEnd type="none" w="med" len="med"/>
                    </a:lnL>
                    <a:noFill/>
                  </a:tcPr>
                </a:tc>
                <a:extLst>
                  <a:ext uri="{0D108BD9-81ED-4DB2-BD59-A6C34878D82A}">
                    <a16:rowId xmlns:a16="http://schemas.microsoft.com/office/drawing/2014/main" val="1297424467"/>
                  </a:ext>
                </a:extLst>
              </a:tr>
              <a:tr h="1013061">
                <a:tc>
                  <a:txBody>
                    <a:bodyPr/>
                    <a:lstStyle/>
                    <a:p>
                      <a:pPr algn="ctr"/>
                      <a:r>
                        <a:rPr lang="es-ES" sz="800" b="1" i="0" u="none" strike="noStrike" kern="0" cap="none" dirty="0">
                          <a:solidFill>
                            <a:srgbClr val="3F3151"/>
                          </a:solidFill>
                          <a:latin typeface="+mn-lt"/>
                          <a:ea typeface="Calibri"/>
                          <a:cs typeface="Arial" panose="020B0604020202020204" pitchFamily="34" charset="0"/>
                          <a:sym typeface="Calibri"/>
                        </a:rPr>
                        <a:t>Mil metros cuadrados</a:t>
                      </a:r>
                    </a:p>
                    <a:p>
                      <a:pPr algn="ctr"/>
                      <a:r>
                        <a:rPr lang="es-ES" sz="800" b="1" i="0" u="none" strike="noStrike" kern="0" cap="none" dirty="0">
                          <a:solidFill>
                            <a:srgbClr val="3F3151"/>
                          </a:solidFill>
                          <a:latin typeface="+mn-lt"/>
                          <a:ea typeface="Calibri"/>
                          <a:cs typeface="Arial" panose="020B0604020202020204" pitchFamily="34" charset="0"/>
                          <a:sym typeface="Calibri"/>
                        </a:rPr>
                        <a:t>(0,1 ha) </a:t>
                      </a:r>
                      <a:r>
                        <a:rPr lang="es-ES" sz="800" b="0" i="0" u="none" strike="noStrike" kern="0" cap="none" dirty="0">
                          <a:solidFill>
                            <a:srgbClr val="3F3151"/>
                          </a:solidFill>
                          <a:latin typeface="+mn-lt"/>
                          <a:ea typeface="Calibri"/>
                          <a:cs typeface="Arial" panose="020B0604020202020204" pitchFamily="34" charset="0"/>
                          <a:sym typeface="Calibri"/>
                        </a:rPr>
                        <a:t>de cultivos temporales, huerta comercial, cultivos permanentes, flores y/o plantas ornamentales destinados para la venta.</a:t>
                      </a:r>
                      <a:endParaRPr lang="es-ES" sz="800" b="0" i="0" u="none" strike="noStrike" kern="0" cap="none" dirty="0">
                        <a:solidFill>
                          <a:srgbClr val="3F3151"/>
                        </a:solidFill>
                        <a:latin typeface="+mn-lt"/>
                        <a:ea typeface="Arial"/>
                        <a:cs typeface="Arial"/>
                        <a:sym typeface="Arial"/>
                      </a:endParaRPr>
                    </a:p>
                  </a:txBody>
                  <a:tcPr>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800" b="1" i="0" u="none" strike="noStrike" kern="0" cap="none" dirty="0">
                          <a:solidFill>
                            <a:srgbClr val="3F3151"/>
                          </a:solidFill>
                          <a:latin typeface="+mn-lt"/>
                          <a:ea typeface="Calibri"/>
                          <a:cs typeface="Arial" panose="020B0604020202020204" pitchFamily="34" charset="0"/>
                          <a:sym typeface="Calibri"/>
                        </a:rPr>
                        <a:t>Tres (3) </a:t>
                      </a:r>
                      <a:r>
                        <a:rPr lang="es-ES" sz="800" b="0" i="0" u="none" strike="noStrike" kern="0" cap="none" dirty="0">
                          <a:solidFill>
                            <a:srgbClr val="3F3151"/>
                          </a:solidFill>
                          <a:latin typeface="+mn-lt"/>
                          <a:ea typeface="Calibri"/>
                          <a:cs typeface="Arial" panose="020B0604020202020204" pitchFamily="34" charset="0"/>
                          <a:sym typeface="Calibri"/>
                        </a:rPr>
                        <a:t>animales vacunos mayores (a partir de la categoría </a:t>
                      </a:r>
                      <a:r>
                        <a:rPr lang="es-ES" sz="800" b="0" i="0" u="none" strike="noStrike" kern="0" cap="none" dirty="0" err="1">
                          <a:solidFill>
                            <a:srgbClr val="3F3151"/>
                          </a:solidFill>
                          <a:latin typeface="+mn-lt"/>
                          <a:ea typeface="Calibri"/>
                          <a:cs typeface="Arial" panose="020B0604020202020204" pitchFamily="34" charset="0"/>
                          <a:sym typeface="Calibri"/>
                        </a:rPr>
                        <a:t>desmamante</a:t>
                      </a:r>
                      <a:r>
                        <a:rPr lang="es-ES" sz="800" b="0" i="0" u="none" strike="noStrike" kern="0" cap="none" dirty="0">
                          <a:solidFill>
                            <a:srgbClr val="3F3151"/>
                          </a:solidFill>
                          <a:latin typeface="+mn-lt"/>
                          <a:ea typeface="Calibri"/>
                          <a:cs typeface="Arial" panose="020B0604020202020204" pitchFamily="34" charset="0"/>
                          <a:sym typeface="Calibri"/>
                        </a:rPr>
                        <a:t>).</a:t>
                      </a:r>
                      <a:endParaRPr lang="es-ES" sz="800" b="0" i="0" u="none" strike="noStrike" kern="0" cap="none" dirty="0">
                        <a:solidFill>
                          <a:srgbClr val="3F3151"/>
                        </a:solidFill>
                        <a:latin typeface="+mn-lt"/>
                        <a:ea typeface="Arial"/>
                        <a:cs typeface="Arial"/>
                        <a:sym typeface="Arial"/>
                      </a:endParaRPr>
                    </a:p>
                  </a:txBody>
                  <a:tcP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800" b="1" i="0" u="none" strike="noStrike" kern="0" cap="none" dirty="0">
                          <a:solidFill>
                            <a:srgbClr val="3F3151"/>
                          </a:solidFill>
                          <a:latin typeface="+mn-lt"/>
                          <a:ea typeface="Calibri"/>
                          <a:cs typeface="Arial" panose="020B0604020202020204" pitchFamily="34" charset="0"/>
                          <a:sym typeface="Calibri"/>
                        </a:rPr>
                        <a:t>Cinco (5) </a:t>
                      </a:r>
                      <a:r>
                        <a:rPr lang="es-ES" sz="800" b="0" i="0" u="none" strike="noStrike" kern="0" cap="none" dirty="0">
                          <a:solidFill>
                            <a:srgbClr val="3F3151"/>
                          </a:solidFill>
                          <a:latin typeface="+mn-lt"/>
                          <a:ea typeface="Calibri"/>
                          <a:cs typeface="Arial" panose="020B0604020202020204" pitchFamily="34" charset="0"/>
                          <a:sym typeface="Calibri"/>
                        </a:rPr>
                        <a:t>animales ya sean porcinos, caprinos u ovinos (categoría destetados).</a:t>
                      </a:r>
                      <a:endParaRPr lang="es-ES" sz="800" b="0" i="0" u="none" strike="noStrike" kern="0" cap="none" dirty="0">
                        <a:solidFill>
                          <a:srgbClr val="3F3151"/>
                        </a:solidFill>
                        <a:latin typeface="+mn-lt"/>
                        <a:ea typeface="Arial"/>
                        <a:cs typeface="Arial"/>
                        <a:sym typeface="Arial"/>
                      </a:endParaRPr>
                    </a:p>
                  </a:txBody>
                  <a:tcP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800" b="1" i="0" u="none" strike="noStrike" kern="0" cap="none" dirty="0">
                          <a:solidFill>
                            <a:srgbClr val="3F3151"/>
                          </a:solidFill>
                          <a:latin typeface="+mn-lt"/>
                          <a:ea typeface="Calibri"/>
                          <a:cs typeface="Arial" panose="020B0604020202020204" pitchFamily="34" charset="0"/>
                          <a:sym typeface="Calibri"/>
                        </a:rPr>
                        <a:t>Cien (100) </a:t>
                      </a:r>
                      <a:r>
                        <a:rPr lang="pt-BR" sz="800" b="0" i="0" u="none" strike="noStrike" kern="0" cap="none" dirty="0" err="1">
                          <a:solidFill>
                            <a:srgbClr val="3F3151"/>
                          </a:solidFill>
                          <a:latin typeface="+mn-lt"/>
                          <a:ea typeface="Calibri"/>
                          <a:cs typeface="Arial" panose="020B0604020202020204" pitchFamily="34" charset="0"/>
                          <a:sym typeface="Calibri"/>
                        </a:rPr>
                        <a:t>gallos</a:t>
                      </a:r>
                      <a:r>
                        <a:rPr lang="pt-BR" sz="800" b="0" i="0" u="none" strike="noStrike" kern="0" cap="none" dirty="0">
                          <a:solidFill>
                            <a:srgbClr val="3F3151"/>
                          </a:solidFill>
                          <a:latin typeface="+mn-lt"/>
                          <a:ea typeface="Calibri"/>
                          <a:cs typeface="Arial" panose="020B0604020202020204" pitchFamily="34" charset="0"/>
                          <a:sym typeface="Calibri"/>
                        </a:rPr>
                        <a:t>, </a:t>
                      </a:r>
                      <a:r>
                        <a:rPr lang="pt-BR" sz="800" b="0" i="0" u="none" strike="noStrike" kern="0" cap="none" dirty="0" err="1">
                          <a:solidFill>
                            <a:srgbClr val="3F3151"/>
                          </a:solidFill>
                          <a:latin typeface="+mn-lt"/>
                          <a:ea typeface="Calibri"/>
                          <a:cs typeface="Arial" panose="020B0604020202020204" pitchFamily="34" charset="0"/>
                          <a:sym typeface="Calibri"/>
                        </a:rPr>
                        <a:t>gallinas</a:t>
                      </a:r>
                      <a:r>
                        <a:rPr lang="pt-BR" sz="800" b="0" i="0" u="none" strike="noStrike" kern="0" cap="none" dirty="0">
                          <a:solidFill>
                            <a:srgbClr val="3F3151"/>
                          </a:solidFill>
                          <a:latin typeface="+mn-lt"/>
                          <a:ea typeface="Calibri"/>
                          <a:cs typeface="Arial" panose="020B0604020202020204" pitchFamily="34" charset="0"/>
                          <a:sym typeface="Calibri"/>
                        </a:rPr>
                        <a:t>, </a:t>
                      </a:r>
                      <a:r>
                        <a:rPr lang="pt-BR" sz="800" b="0" i="0" u="none" strike="noStrike" kern="0" cap="none" dirty="0" err="1">
                          <a:solidFill>
                            <a:srgbClr val="3F3151"/>
                          </a:solidFill>
                          <a:latin typeface="+mn-lt"/>
                          <a:ea typeface="Calibri"/>
                          <a:cs typeface="Arial" panose="020B0604020202020204" pitchFamily="34" charset="0"/>
                          <a:sym typeface="Calibri"/>
                        </a:rPr>
                        <a:t>pollos</a:t>
                      </a:r>
                      <a:r>
                        <a:rPr lang="pt-BR" sz="800" b="0" i="0" u="none" strike="noStrike" kern="0" cap="none" dirty="0">
                          <a:solidFill>
                            <a:srgbClr val="3F3151"/>
                          </a:solidFill>
                          <a:latin typeface="+mn-lt"/>
                          <a:ea typeface="Calibri"/>
                          <a:cs typeface="Arial" panose="020B0604020202020204" pitchFamily="34" charset="0"/>
                          <a:sym typeface="Calibri"/>
                        </a:rPr>
                        <a:t>/as, </a:t>
                      </a:r>
                      <a:r>
                        <a:rPr lang="pt-BR" sz="800" b="0" i="0" u="none" strike="noStrike" kern="0" cap="none" dirty="0" err="1">
                          <a:solidFill>
                            <a:srgbClr val="3F3151"/>
                          </a:solidFill>
                          <a:latin typeface="+mn-lt"/>
                          <a:ea typeface="Calibri"/>
                          <a:cs typeface="Arial" panose="020B0604020202020204" pitchFamily="34" charset="0"/>
                          <a:sym typeface="Calibri"/>
                        </a:rPr>
                        <a:t>pollitos</a:t>
                      </a:r>
                      <a:r>
                        <a:rPr lang="pt-BR" sz="800" b="0" i="0" u="none" strike="noStrike" kern="0" cap="none" dirty="0">
                          <a:solidFill>
                            <a:srgbClr val="3F3151"/>
                          </a:solidFill>
                          <a:latin typeface="+mn-lt"/>
                          <a:ea typeface="Calibri"/>
                          <a:cs typeface="Arial" panose="020B0604020202020204" pitchFamily="34" charset="0"/>
                          <a:sym typeface="Calibri"/>
                        </a:rPr>
                        <a:t>; o patos; o </a:t>
                      </a:r>
                      <a:r>
                        <a:rPr lang="pt-BR" sz="800" b="0" i="0" u="none" strike="noStrike" kern="0" cap="none" dirty="0" err="1">
                          <a:solidFill>
                            <a:srgbClr val="3F3151"/>
                          </a:solidFill>
                          <a:latin typeface="+mn-lt"/>
                          <a:ea typeface="Calibri"/>
                          <a:cs typeface="Arial" panose="020B0604020202020204" pitchFamily="34" charset="0"/>
                          <a:sym typeface="Calibri"/>
                        </a:rPr>
                        <a:t>guineas</a:t>
                      </a:r>
                      <a:r>
                        <a:rPr lang="pt-BR" sz="800" b="0" i="0" u="none" strike="noStrike" kern="0" cap="none" dirty="0">
                          <a:solidFill>
                            <a:srgbClr val="3F3151"/>
                          </a:solidFill>
                          <a:latin typeface="+mn-lt"/>
                          <a:ea typeface="Calibri"/>
                          <a:cs typeface="Arial" panose="020B0604020202020204" pitchFamily="34" charset="0"/>
                          <a:sym typeface="Calibri"/>
                        </a:rPr>
                        <a:t>; o </a:t>
                      </a:r>
                      <a:r>
                        <a:rPr lang="pt-BR" sz="800" b="0" i="0" u="none" strike="noStrike" kern="0" cap="none" dirty="0" err="1">
                          <a:solidFill>
                            <a:srgbClr val="3F3151"/>
                          </a:solidFill>
                          <a:latin typeface="+mn-lt"/>
                          <a:ea typeface="Calibri"/>
                          <a:cs typeface="Arial" panose="020B0604020202020204" pitchFamily="34" charset="0"/>
                          <a:sym typeface="Calibri"/>
                        </a:rPr>
                        <a:t>pavos</a:t>
                      </a:r>
                      <a:r>
                        <a:rPr lang="pt-BR" sz="800" b="0" i="0" u="none" strike="noStrike" kern="0" cap="none" dirty="0">
                          <a:solidFill>
                            <a:srgbClr val="3F3151"/>
                          </a:solidFill>
                          <a:latin typeface="+mn-lt"/>
                          <a:ea typeface="Calibri"/>
                          <a:cs typeface="Arial" panose="020B0604020202020204" pitchFamily="34" charset="0"/>
                          <a:sym typeface="Calibri"/>
                        </a:rPr>
                        <a:t>, o gansos.</a:t>
                      </a:r>
                      <a:endParaRPr lang="pt-BR" sz="800" b="0" i="0" u="none" strike="noStrike" kern="0" cap="none" dirty="0">
                        <a:solidFill>
                          <a:srgbClr val="3F3151"/>
                        </a:solidFill>
                        <a:latin typeface="+mn-lt"/>
                        <a:ea typeface="Arial"/>
                        <a:cs typeface="Arial"/>
                        <a:sym typeface="Arial"/>
                      </a:endParaRPr>
                    </a:p>
                  </a:txBody>
                  <a:tcP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800" b="1" i="0" u="none" strike="noStrike" kern="0" cap="none" dirty="0">
                          <a:solidFill>
                            <a:srgbClr val="3F3151"/>
                          </a:solidFill>
                          <a:latin typeface="+mn-lt"/>
                          <a:ea typeface="Calibri"/>
                          <a:cs typeface="Arial" panose="020B0604020202020204" pitchFamily="34" charset="0"/>
                          <a:sym typeface="Calibri"/>
                        </a:rPr>
                        <a:t>Diez (10) </a:t>
                      </a:r>
                      <a:r>
                        <a:rPr lang="es-ES" sz="800" b="0" i="0" u="none" strike="noStrike" kern="0" cap="none" dirty="0">
                          <a:solidFill>
                            <a:srgbClr val="3F3151"/>
                          </a:solidFill>
                          <a:latin typeface="+mn-lt"/>
                          <a:ea typeface="Calibri"/>
                          <a:cs typeface="Arial" panose="020B0604020202020204" pitchFamily="34" charset="0"/>
                          <a:sym typeface="Calibri"/>
                        </a:rPr>
                        <a:t>colmenas.</a:t>
                      </a:r>
                      <a:endParaRPr lang="es-ES" sz="800" b="0" i="0" u="none" strike="noStrike" kern="0" cap="none" dirty="0">
                        <a:solidFill>
                          <a:srgbClr val="3F3151"/>
                        </a:solidFill>
                        <a:latin typeface="+mn-lt"/>
                        <a:ea typeface="Arial"/>
                        <a:cs typeface="Arial"/>
                        <a:sym typeface="Arial"/>
                      </a:endParaRPr>
                    </a:p>
                  </a:txBody>
                  <a:tcP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800" b="1" i="0" u="none" strike="noStrike" kern="0" cap="none" dirty="0">
                          <a:solidFill>
                            <a:srgbClr val="3F3151"/>
                          </a:solidFill>
                          <a:latin typeface="+mn-lt"/>
                          <a:ea typeface="Calibri"/>
                          <a:cs typeface="Arial" panose="020B0604020202020204" pitchFamily="34" charset="0"/>
                          <a:sym typeface="Calibri"/>
                        </a:rPr>
                        <a:t>Quinientos (500) </a:t>
                      </a:r>
                      <a:r>
                        <a:rPr lang="es-ES" sz="800" b="0" i="0" u="none" strike="noStrike" kern="0" cap="none" dirty="0">
                          <a:solidFill>
                            <a:srgbClr val="3F3151"/>
                          </a:solidFill>
                          <a:latin typeface="+mn-lt"/>
                          <a:ea typeface="Calibri"/>
                          <a:cs typeface="Arial" panose="020B0604020202020204" pitchFamily="34" charset="0"/>
                          <a:sym typeface="Calibri"/>
                        </a:rPr>
                        <a:t>metros cuadrados de espejo de agua para producción de peces</a:t>
                      </a:r>
                      <a:r>
                        <a:rPr lang="es-ES" sz="800" b="0" i="0" u="none" strike="noStrike" kern="0" cap="none" baseline="0" dirty="0">
                          <a:solidFill>
                            <a:srgbClr val="3F3151"/>
                          </a:solidFill>
                          <a:latin typeface="+mn-lt"/>
                          <a:ea typeface="Calibri"/>
                          <a:cs typeface="Arial" panose="020B0604020202020204" pitchFamily="34" charset="0"/>
                          <a:sym typeface="Calibri"/>
                        </a:rPr>
                        <a:t> para fines comerciales.</a:t>
                      </a:r>
                      <a:endParaRPr lang="es-ES" sz="800" b="0" i="0" u="none" strike="noStrike" kern="0" cap="none" dirty="0">
                        <a:solidFill>
                          <a:srgbClr val="3F3151"/>
                        </a:solidFill>
                        <a:latin typeface="+mn-lt"/>
                        <a:ea typeface="Arial"/>
                        <a:cs typeface="Arial"/>
                        <a:sym typeface="Arial"/>
                      </a:endParaRPr>
                    </a:p>
                  </a:txBody>
                  <a:tcPr>
                    <a:lnL w="6350" cap="flat" cmpd="sng" algn="ctr">
                      <a:solidFill>
                        <a:srgbClr val="9B4D0A"/>
                      </a:solidFill>
                      <a:prstDash val="solid"/>
                      <a:round/>
                      <a:headEnd type="none" w="med" len="med"/>
                      <a:tailEnd type="none" w="med" len="med"/>
                    </a:lnL>
                    <a:lnR w="6350" cap="flat" cmpd="sng" algn="ctr">
                      <a:solidFill>
                        <a:srgbClr val="9B4D0A"/>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800" b="1" i="0" u="none" strike="noStrike" kern="0" cap="none" dirty="0">
                          <a:solidFill>
                            <a:srgbClr val="3F3151"/>
                          </a:solidFill>
                          <a:latin typeface="+mn-lt"/>
                          <a:ea typeface="Calibri"/>
                          <a:cs typeface="Arial" panose="020B0604020202020204" pitchFamily="34" charset="0"/>
                          <a:sym typeface="Calibri"/>
                        </a:rPr>
                        <a:t>Dos (2) </a:t>
                      </a:r>
                      <a:r>
                        <a:rPr lang="pt-BR" sz="800" b="0" i="0" u="none" strike="noStrike" kern="0" cap="none" dirty="0" err="1">
                          <a:solidFill>
                            <a:srgbClr val="3F3151"/>
                          </a:solidFill>
                          <a:latin typeface="+mn-lt"/>
                          <a:ea typeface="Calibri"/>
                          <a:cs typeface="Arial" panose="020B0604020202020204" pitchFamily="34" charset="0"/>
                          <a:sym typeface="Calibri"/>
                        </a:rPr>
                        <a:t>hectáreas</a:t>
                      </a:r>
                      <a:r>
                        <a:rPr lang="pt-BR" sz="800" b="0" i="0" u="none" strike="noStrike" kern="0" cap="none" dirty="0">
                          <a:solidFill>
                            <a:srgbClr val="3F3151"/>
                          </a:solidFill>
                          <a:latin typeface="+mn-lt"/>
                          <a:ea typeface="Calibri"/>
                          <a:cs typeface="Arial" panose="020B0604020202020204" pitchFamily="34" charset="0"/>
                          <a:sym typeface="Calibri"/>
                        </a:rPr>
                        <a:t> de </a:t>
                      </a:r>
                      <a:r>
                        <a:rPr lang="pt-BR" sz="800" b="0" i="0" u="none" strike="noStrike" kern="0" cap="none" dirty="0" err="1">
                          <a:solidFill>
                            <a:srgbClr val="3F3151"/>
                          </a:solidFill>
                          <a:latin typeface="+mn-lt"/>
                          <a:ea typeface="Calibri"/>
                          <a:cs typeface="Arial" panose="020B0604020202020204" pitchFamily="34" charset="0"/>
                          <a:sym typeface="Calibri"/>
                        </a:rPr>
                        <a:t>plantaciones</a:t>
                      </a:r>
                      <a:r>
                        <a:rPr lang="pt-BR" sz="800" b="0" i="0" u="none" strike="noStrike" kern="0" cap="none" dirty="0">
                          <a:solidFill>
                            <a:srgbClr val="3F3151"/>
                          </a:solidFill>
                          <a:latin typeface="+mn-lt"/>
                          <a:ea typeface="Calibri"/>
                          <a:cs typeface="Arial" panose="020B0604020202020204" pitchFamily="34" charset="0"/>
                          <a:sym typeface="Calibri"/>
                        </a:rPr>
                        <a:t> </a:t>
                      </a:r>
                      <a:r>
                        <a:rPr lang="pt-BR" sz="800" b="0" i="0" u="none" strike="noStrike" kern="0" cap="none" dirty="0" err="1">
                          <a:solidFill>
                            <a:srgbClr val="3F3151"/>
                          </a:solidFill>
                          <a:latin typeface="+mn-lt"/>
                          <a:ea typeface="Calibri"/>
                          <a:cs typeface="Arial" panose="020B0604020202020204" pitchFamily="34" charset="0"/>
                          <a:sym typeface="Calibri"/>
                        </a:rPr>
                        <a:t>forestadas</a:t>
                      </a:r>
                      <a:r>
                        <a:rPr lang="pt-BR" sz="800" b="0" i="0" u="none" strike="noStrike" kern="0" cap="none" dirty="0">
                          <a:solidFill>
                            <a:srgbClr val="3F3151"/>
                          </a:solidFill>
                          <a:latin typeface="+mn-lt"/>
                          <a:ea typeface="Calibri"/>
                          <a:cs typeface="Arial" panose="020B0604020202020204" pitchFamily="34" charset="0"/>
                          <a:sym typeface="Calibri"/>
                        </a:rPr>
                        <a:t> o </a:t>
                      </a:r>
                      <a:r>
                        <a:rPr lang="pt-BR" sz="800" b="0" i="0" u="none" strike="noStrike" kern="0" cap="none" dirty="0" err="1">
                          <a:solidFill>
                            <a:srgbClr val="3F3151"/>
                          </a:solidFill>
                          <a:latin typeface="+mn-lt"/>
                          <a:ea typeface="Calibri"/>
                          <a:cs typeface="Arial" panose="020B0604020202020204" pitchFamily="34" charset="0"/>
                          <a:sym typeface="Calibri"/>
                        </a:rPr>
                        <a:t>reforestadas</a:t>
                      </a:r>
                      <a:r>
                        <a:rPr lang="pt-BR" sz="800" b="0" i="0" u="none" strike="noStrike" kern="0" cap="none" baseline="0" dirty="0">
                          <a:solidFill>
                            <a:srgbClr val="3F3151"/>
                          </a:solidFill>
                          <a:latin typeface="+mn-lt"/>
                          <a:ea typeface="Calibri"/>
                          <a:cs typeface="Arial" panose="020B0604020202020204" pitchFamily="34" charset="0"/>
                          <a:sym typeface="Calibri"/>
                        </a:rPr>
                        <a:t> para fines </a:t>
                      </a:r>
                      <a:r>
                        <a:rPr lang="pt-BR" sz="800" b="0" i="0" u="none" strike="noStrike" kern="0" cap="none" baseline="0" dirty="0" err="1">
                          <a:solidFill>
                            <a:srgbClr val="3F3151"/>
                          </a:solidFill>
                          <a:latin typeface="+mn-lt"/>
                          <a:ea typeface="Calibri"/>
                          <a:cs typeface="Arial" panose="020B0604020202020204" pitchFamily="34" charset="0"/>
                          <a:sym typeface="Calibri"/>
                        </a:rPr>
                        <a:t>comerciales</a:t>
                      </a:r>
                      <a:r>
                        <a:rPr lang="pt-BR" sz="800" b="0" i="0" u="none" strike="noStrike" kern="0" cap="none" baseline="0" dirty="0">
                          <a:solidFill>
                            <a:srgbClr val="3F3151"/>
                          </a:solidFill>
                          <a:latin typeface="+mn-lt"/>
                          <a:ea typeface="Calibri"/>
                          <a:cs typeface="Arial" panose="020B0604020202020204" pitchFamily="34" charset="0"/>
                          <a:sym typeface="Calibri"/>
                        </a:rPr>
                        <a:t>.</a:t>
                      </a:r>
                      <a:endParaRPr lang="pt-BR" sz="800" b="0" i="0" u="none" strike="noStrike" kern="0" cap="none" dirty="0">
                        <a:solidFill>
                          <a:srgbClr val="3F3151"/>
                        </a:solidFill>
                        <a:latin typeface="+mn-lt"/>
                        <a:ea typeface="Calibri"/>
                        <a:cs typeface="Arial" panose="020B0604020202020204" pitchFamily="34" charset="0"/>
                        <a:sym typeface="Calibri"/>
                      </a:endParaRPr>
                    </a:p>
                  </a:txBody>
                  <a:tcPr>
                    <a:lnL w="6350" cap="flat" cmpd="sng" algn="ctr">
                      <a:solidFill>
                        <a:srgbClr val="9B4D0A"/>
                      </a:solidFill>
                      <a:prstDash val="solid"/>
                      <a:round/>
                      <a:headEnd type="none" w="med" len="med"/>
                      <a:tailEnd type="none" w="med" len="med"/>
                    </a:lnL>
                    <a:noFill/>
                  </a:tcPr>
                </a:tc>
                <a:extLst>
                  <a:ext uri="{0D108BD9-81ED-4DB2-BD59-A6C34878D82A}">
                    <a16:rowId xmlns:a16="http://schemas.microsoft.com/office/drawing/2014/main" val="3010234778"/>
                  </a:ext>
                </a:extLst>
              </a:tr>
            </a:tbl>
          </a:graphicData>
        </a:graphic>
      </p:graphicFrame>
      <p:sp>
        <p:nvSpPr>
          <p:cNvPr id="39" name="Google Shape;136;p6">
            <a:extLst>
              <a:ext uri="{FF2B5EF4-FFF2-40B4-BE49-F238E27FC236}">
                <a16:creationId xmlns:a16="http://schemas.microsoft.com/office/drawing/2014/main" id="{253A04B9-CEB5-DFC7-EFA6-257A9384A644}"/>
              </a:ext>
            </a:extLst>
          </p:cNvPr>
          <p:cNvSpPr/>
          <p:nvPr/>
        </p:nvSpPr>
        <p:spPr>
          <a:xfrm>
            <a:off x="931248" y="4624165"/>
            <a:ext cx="7001696" cy="261570"/>
          </a:xfrm>
          <a:prstGeom prst="rect">
            <a:avLst/>
          </a:prstGeom>
          <a:noFill/>
          <a:ln>
            <a:noFill/>
          </a:ln>
        </p:spPr>
        <p:txBody>
          <a:bodyPr spcFirstLastPara="1" wrap="square" lIns="91425" tIns="45700" rIns="91425" bIns="45700">
            <a:spAutoFit/>
          </a:bodyPr>
          <a:lstStyle/>
          <a:p>
            <a:pPr marL="171450" indent="-171450" eaLnBrk="1" fontAlgn="auto" hangingPunct="1">
              <a:spcBef>
                <a:spcPts val="0"/>
              </a:spcBef>
              <a:spcAft>
                <a:spcPts val="0"/>
              </a:spcAft>
              <a:buClr>
                <a:schemeClr val="dk1"/>
              </a:buClr>
              <a:buSzPts val="1400"/>
              <a:buFont typeface="Arial" panose="020B0604020202020204" pitchFamily="34" charset="0"/>
              <a:buChar char="•"/>
              <a:defRPr/>
            </a:pPr>
            <a:r>
              <a:rPr lang="es-ES" sz="1100" kern="0" dirty="0">
                <a:solidFill>
                  <a:srgbClr val="3F3151"/>
                </a:solidFill>
                <a:latin typeface="+mj-lt"/>
                <a:ea typeface="Calibri"/>
                <a:sym typeface="Calibri"/>
              </a:rPr>
              <a:t>La finca Agropecuaria está compuesta por la </a:t>
            </a:r>
            <a:r>
              <a:rPr lang="es-ES" sz="1100" b="1" u="sng" kern="0" dirty="0">
                <a:solidFill>
                  <a:srgbClr val="3F3151"/>
                </a:solidFill>
                <a:latin typeface="+mj-lt"/>
                <a:ea typeface="Calibri"/>
                <a:sym typeface="Calibri"/>
              </a:rPr>
              <a:t>parcela principal</a:t>
            </a:r>
            <a:r>
              <a:rPr lang="es-ES" sz="1100" kern="0" dirty="0">
                <a:solidFill>
                  <a:srgbClr val="3F3151"/>
                </a:solidFill>
                <a:latin typeface="+mj-lt"/>
                <a:ea typeface="Calibri"/>
                <a:sym typeface="Calibri"/>
              </a:rPr>
              <a:t>  + </a:t>
            </a:r>
            <a:r>
              <a:rPr lang="es-ES" sz="1100" b="1" u="sng" kern="0" dirty="0">
                <a:solidFill>
                  <a:srgbClr val="3F3151"/>
                </a:solidFill>
                <a:latin typeface="+mj-lt"/>
                <a:ea typeface="Calibri"/>
                <a:sym typeface="Calibri"/>
              </a:rPr>
              <a:t>parcelas separadas </a:t>
            </a:r>
            <a:r>
              <a:rPr lang="es-ES" sz="1100" kern="0" dirty="0">
                <a:solidFill>
                  <a:srgbClr val="3F3151"/>
                </a:solidFill>
                <a:latin typeface="+mj-lt"/>
                <a:ea typeface="Calibri"/>
                <a:sym typeface="Calibri"/>
              </a:rPr>
              <a:t>si lo tuviese. </a:t>
            </a:r>
          </a:p>
        </p:txBody>
      </p:sp>
      <p:pic>
        <p:nvPicPr>
          <p:cNvPr id="40" name="Imagen 30" descr="Forma&#10;&#10;Descripción generada automáticamente con confianza baja">
            <a:extLst>
              <a:ext uri="{FF2B5EF4-FFF2-40B4-BE49-F238E27FC236}">
                <a16:creationId xmlns:a16="http://schemas.microsoft.com/office/drawing/2014/main" id="{5FFEDDBD-8154-9546-685A-1EED691CD5AB}"/>
              </a:ext>
            </a:extLst>
          </p:cNvPr>
          <p:cNvPicPr>
            <a:picLocks noChangeAspect="1"/>
          </p:cNvPicPr>
          <p:nvPr/>
        </p:nvPicPr>
        <p:blipFill>
          <a:blip r:embed="rId7"/>
          <a:stretch>
            <a:fillRect/>
          </a:stretch>
        </p:blipFill>
        <p:spPr>
          <a:xfrm>
            <a:off x="1167425" y="2857758"/>
            <a:ext cx="468000" cy="468000"/>
          </a:xfrm>
          <a:prstGeom prst="rect">
            <a:avLst/>
          </a:prstGeom>
        </p:spPr>
      </p:pic>
      <p:pic>
        <p:nvPicPr>
          <p:cNvPr id="41" name="Imagen 32" descr="Forma&#10;&#10;Descripción generada automáticamente con confianza baja">
            <a:extLst>
              <a:ext uri="{FF2B5EF4-FFF2-40B4-BE49-F238E27FC236}">
                <a16:creationId xmlns:a16="http://schemas.microsoft.com/office/drawing/2014/main" id="{CB293B29-B521-CF3E-CC03-91DB264C1037}"/>
              </a:ext>
            </a:extLst>
          </p:cNvPr>
          <p:cNvPicPr>
            <a:picLocks noChangeAspect="1"/>
          </p:cNvPicPr>
          <p:nvPr/>
        </p:nvPicPr>
        <p:blipFill>
          <a:blip r:embed="rId8"/>
          <a:stretch>
            <a:fillRect/>
          </a:stretch>
        </p:blipFill>
        <p:spPr>
          <a:xfrm>
            <a:off x="2390107" y="2857758"/>
            <a:ext cx="468000" cy="468000"/>
          </a:xfrm>
          <a:prstGeom prst="rect">
            <a:avLst/>
          </a:prstGeom>
        </p:spPr>
      </p:pic>
      <p:pic>
        <p:nvPicPr>
          <p:cNvPr id="42" name="Imagen 34" descr="Forma&#10;&#10;Descripción generada automáticamente con confianza baja">
            <a:extLst>
              <a:ext uri="{FF2B5EF4-FFF2-40B4-BE49-F238E27FC236}">
                <a16:creationId xmlns:a16="http://schemas.microsoft.com/office/drawing/2014/main" id="{E9AE35A8-6BB1-4C2D-F56F-9CA97FE56985}"/>
              </a:ext>
            </a:extLst>
          </p:cNvPr>
          <p:cNvPicPr>
            <a:picLocks noChangeAspect="1"/>
          </p:cNvPicPr>
          <p:nvPr/>
        </p:nvPicPr>
        <p:blipFill>
          <a:blip r:embed="rId9"/>
          <a:stretch>
            <a:fillRect/>
          </a:stretch>
        </p:blipFill>
        <p:spPr>
          <a:xfrm>
            <a:off x="3349905" y="2834813"/>
            <a:ext cx="513891" cy="513891"/>
          </a:xfrm>
          <a:prstGeom prst="rect">
            <a:avLst/>
          </a:prstGeom>
        </p:spPr>
      </p:pic>
      <p:pic>
        <p:nvPicPr>
          <p:cNvPr id="43" name="Imagen 36" descr="Forma&#10;&#10;Descripción generada automáticamente con confianza baja">
            <a:extLst>
              <a:ext uri="{FF2B5EF4-FFF2-40B4-BE49-F238E27FC236}">
                <a16:creationId xmlns:a16="http://schemas.microsoft.com/office/drawing/2014/main" id="{134AED08-26F7-3C06-A29C-0F6FC10D09A8}"/>
              </a:ext>
            </a:extLst>
          </p:cNvPr>
          <p:cNvPicPr>
            <a:picLocks noChangeAspect="1"/>
          </p:cNvPicPr>
          <p:nvPr/>
        </p:nvPicPr>
        <p:blipFill>
          <a:blip r:embed="rId10"/>
          <a:stretch>
            <a:fillRect/>
          </a:stretch>
        </p:blipFill>
        <p:spPr>
          <a:xfrm>
            <a:off x="4462538" y="2857758"/>
            <a:ext cx="468000" cy="468000"/>
          </a:xfrm>
          <a:prstGeom prst="rect">
            <a:avLst/>
          </a:prstGeom>
        </p:spPr>
      </p:pic>
      <p:pic>
        <p:nvPicPr>
          <p:cNvPr id="44" name="Imagen 38" descr="Forma&#10;&#10;Descripción generada automáticamente con confianza baja">
            <a:extLst>
              <a:ext uri="{FF2B5EF4-FFF2-40B4-BE49-F238E27FC236}">
                <a16:creationId xmlns:a16="http://schemas.microsoft.com/office/drawing/2014/main" id="{0526DF97-6D6C-2595-32AC-F4F6D639E46E}"/>
              </a:ext>
            </a:extLst>
          </p:cNvPr>
          <p:cNvPicPr>
            <a:picLocks noChangeAspect="1"/>
          </p:cNvPicPr>
          <p:nvPr/>
        </p:nvPicPr>
        <p:blipFill>
          <a:blip r:embed="rId11"/>
          <a:stretch>
            <a:fillRect/>
          </a:stretch>
        </p:blipFill>
        <p:spPr>
          <a:xfrm>
            <a:off x="6359626" y="2875758"/>
            <a:ext cx="432000" cy="432000"/>
          </a:xfrm>
          <a:prstGeom prst="rect">
            <a:avLst/>
          </a:prstGeom>
        </p:spPr>
      </p:pic>
      <p:pic>
        <p:nvPicPr>
          <p:cNvPr id="45" name="Imagen 40" descr="Forma&#10;&#10;Descripción generada automáticamente con confianza baja">
            <a:extLst>
              <a:ext uri="{FF2B5EF4-FFF2-40B4-BE49-F238E27FC236}">
                <a16:creationId xmlns:a16="http://schemas.microsoft.com/office/drawing/2014/main" id="{840E978E-47A9-7D59-F5D1-AE1F25D2FD69}"/>
              </a:ext>
            </a:extLst>
          </p:cNvPr>
          <p:cNvPicPr>
            <a:picLocks noChangeAspect="1"/>
          </p:cNvPicPr>
          <p:nvPr/>
        </p:nvPicPr>
        <p:blipFill>
          <a:blip r:embed="rId12"/>
          <a:stretch>
            <a:fillRect/>
          </a:stretch>
        </p:blipFill>
        <p:spPr>
          <a:xfrm>
            <a:off x="5451832" y="2834813"/>
            <a:ext cx="513891" cy="513891"/>
          </a:xfrm>
          <a:prstGeom prst="rect">
            <a:avLst/>
          </a:prstGeom>
        </p:spPr>
      </p:pic>
      <p:pic>
        <p:nvPicPr>
          <p:cNvPr id="46" name="Imagen 42" descr="Forma&#10;&#10;Descripción generada automáticamente con confianza baja">
            <a:extLst>
              <a:ext uri="{FF2B5EF4-FFF2-40B4-BE49-F238E27FC236}">
                <a16:creationId xmlns:a16="http://schemas.microsoft.com/office/drawing/2014/main" id="{34D25CE7-8CF9-8DBA-661F-A2B0F7BF31AF}"/>
              </a:ext>
            </a:extLst>
          </p:cNvPr>
          <p:cNvPicPr>
            <a:picLocks noChangeAspect="1"/>
          </p:cNvPicPr>
          <p:nvPr/>
        </p:nvPicPr>
        <p:blipFill>
          <a:blip r:embed="rId13"/>
          <a:stretch>
            <a:fillRect/>
          </a:stretch>
        </p:blipFill>
        <p:spPr>
          <a:xfrm>
            <a:off x="7419053" y="2834813"/>
            <a:ext cx="513891" cy="513891"/>
          </a:xfrm>
          <a:prstGeom prst="rect">
            <a:avLst/>
          </a:prstGeom>
        </p:spPr>
      </p:pic>
      <p:sp>
        <p:nvSpPr>
          <p:cNvPr id="47" name="CuadroTexto 29">
            <a:extLst>
              <a:ext uri="{FF2B5EF4-FFF2-40B4-BE49-F238E27FC236}">
                <a16:creationId xmlns:a16="http://schemas.microsoft.com/office/drawing/2014/main" id="{714807F7-477B-760F-AB3D-24E2768FC557}"/>
              </a:ext>
            </a:extLst>
          </p:cNvPr>
          <p:cNvSpPr txBox="1"/>
          <p:nvPr/>
        </p:nvSpPr>
        <p:spPr>
          <a:xfrm>
            <a:off x="554515" y="1603536"/>
            <a:ext cx="7955280" cy="1015663"/>
          </a:xfrm>
          <a:prstGeom prst="rect">
            <a:avLst/>
          </a:prstGeom>
          <a:noFill/>
        </p:spPr>
        <p:txBody>
          <a:bodyPr wrap="square">
            <a:spAutoFit/>
          </a:bodyPr>
          <a:lstStyle/>
          <a:p>
            <a:pPr marL="171450" indent="-171450" eaLnBrk="1" fontAlgn="auto" hangingPunct="1">
              <a:spcBef>
                <a:spcPts val="0"/>
              </a:spcBef>
              <a:spcAft>
                <a:spcPts val="0"/>
              </a:spcAft>
              <a:buClr>
                <a:schemeClr val="dk1"/>
              </a:buClr>
              <a:buSzPts val="1400"/>
              <a:buFont typeface="Arial" panose="020B0604020202020204" pitchFamily="34" charset="0"/>
              <a:buChar char="•"/>
              <a:defRPr/>
            </a:pPr>
            <a:r>
              <a:rPr lang="es-ES" sz="1200" b="1" kern="0" dirty="0">
                <a:solidFill>
                  <a:srgbClr val="3F3151"/>
                </a:solidFill>
                <a:latin typeface="+mj-lt"/>
                <a:ea typeface="Calibri"/>
                <a:sym typeface="Calibri"/>
              </a:rPr>
              <a:t>Unidad de Observación: </a:t>
            </a:r>
            <a:r>
              <a:rPr lang="es-ES" sz="1200" kern="0" dirty="0">
                <a:solidFill>
                  <a:srgbClr val="3F3151"/>
                </a:solidFill>
                <a:latin typeface="+mj-lt"/>
                <a:ea typeface="Calibri"/>
                <a:sym typeface="Calibri"/>
              </a:rPr>
              <a:t>Es la unidad primaria de observación y de clasificación durante el barrido del Marco Censal, incluyen viviendas, lotes/parcelas sin vivienda con y sin actividad agropecuarias…comunidades indígenas, campos comunales, etc. </a:t>
            </a:r>
            <a:endParaRPr lang="es-ES" sz="1200" kern="0" dirty="0">
              <a:solidFill>
                <a:srgbClr val="3F3151"/>
              </a:solidFill>
              <a:latin typeface="+mj-lt"/>
              <a:ea typeface="Arial"/>
              <a:cs typeface="Arial"/>
              <a:sym typeface="Arial"/>
            </a:endParaRPr>
          </a:p>
          <a:p>
            <a:pPr marL="171450" indent="-171450" eaLnBrk="1" fontAlgn="auto" hangingPunct="1">
              <a:spcBef>
                <a:spcPts val="0"/>
              </a:spcBef>
              <a:spcAft>
                <a:spcPts val="0"/>
              </a:spcAft>
              <a:buClr>
                <a:schemeClr val="dk1"/>
              </a:buClr>
              <a:buSzPts val="1400"/>
              <a:buFont typeface="Arial" panose="020B0604020202020204" pitchFamily="34" charset="0"/>
              <a:buChar char="•"/>
              <a:defRPr/>
            </a:pPr>
            <a:r>
              <a:rPr lang="es-ES" sz="1200" b="1" kern="0" dirty="0">
                <a:solidFill>
                  <a:srgbClr val="3F3151"/>
                </a:solidFill>
                <a:latin typeface="+mj-lt"/>
                <a:ea typeface="Calibri"/>
                <a:sym typeface="Calibri"/>
              </a:rPr>
              <a:t>Finca Agropecuaria:  </a:t>
            </a:r>
            <a:r>
              <a:rPr lang="es-ES" sz="1200" kern="0" dirty="0">
                <a:solidFill>
                  <a:srgbClr val="3F3151"/>
                </a:solidFill>
                <a:latin typeface="+mj-lt"/>
                <a:ea typeface="Calibri"/>
                <a:sym typeface="Calibri"/>
              </a:rPr>
              <a:t>Para</a:t>
            </a:r>
            <a:r>
              <a:rPr lang="es-ES" sz="1200" b="1" kern="0" dirty="0">
                <a:solidFill>
                  <a:srgbClr val="3F3151"/>
                </a:solidFill>
                <a:latin typeface="+mj-lt"/>
                <a:ea typeface="Calibri"/>
                <a:sym typeface="Calibri"/>
              </a:rPr>
              <a:t> </a:t>
            </a:r>
            <a:r>
              <a:rPr lang="es-ES" sz="1200" kern="0" dirty="0">
                <a:solidFill>
                  <a:srgbClr val="3F3151"/>
                </a:solidFill>
                <a:latin typeface="+mj-lt"/>
                <a:ea typeface="Calibri"/>
                <a:sym typeface="Calibri"/>
              </a:rPr>
              <a:t>los fines del censo es considerada finca agropecuaria si cumple con al menos una de las siguientes condiciones:</a:t>
            </a:r>
          </a:p>
        </p:txBody>
      </p:sp>
    </p:spTree>
    <p:custDataLst>
      <p:tags r:id="rId1"/>
    </p:custDataLst>
    <p:extLst>
      <p:ext uri="{BB962C8B-B14F-4D97-AF65-F5344CB8AC3E}">
        <p14:creationId xmlns:p14="http://schemas.microsoft.com/office/powerpoint/2010/main" val="1177736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par>
                                <p:cTn id="21" presetID="10"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par>
                                <p:cTn id="24" presetID="10" presetClass="entr" presetSubtype="0" fill="hold"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500"/>
                                        <p:tgtEl>
                                          <p:spTgt spid="41"/>
                                        </p:tgtEl>
                                      </p:cBhvr>
                                    </p:animEffect>
                                  </p:childTnLst>
                                </p:cTn>
                              </p:par>
                              <p:par>
                                <p:cTn id="27" presetID="10"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par>
                                <p:cTn id="33" presetID="10"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500"/>
                                        <p:tgtEl>
                                          <p:spTgt spid="44"/>
                                        </p:tgtEl>
                                      </p:cBhvr>
                                    </p:animEffect>
                                  </p:childTnLst>
                                </p:cTn>
                              </p:par>
                              <p:par>
                                <p:cTn id="36" presetID="10" presetClass="entr" presetSubtype="0"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Imagen de la pantalla de un computador&#10;&#10;Descripción generada automáticamente con confianza baja">
            <a:extLst>
              <a:ext uri="{FF2B5EF4-FFF2-40B4-BE49-F238E27FC236}">
                <a16:creationId xmlns:a16="http://schemas.microsoft.com/office/drawing/2014/main" id="{B61E9C3F-9E30-EFF7-D31E-47D7FDDC7C6C}"/>
              </a:ext>
            </a:extLst>
          </p:cNvPr>
          <p:cNvPicPr>
            <a:picLocks noChangeAspect="1"/>
          </p:cNvPicPr>
          <p:nvPr/>
        </p:nvPicPr>
        <p:blipFill rotWithShape="1">
          <a:blip r:embed="rId4"/>
          <a:srcRect l="16284" t="17172" r="12617" b="17778"/>
          <a:stretch/>
        </p:blipFill>
        <p:spPr>
          <a:xfrm>
            <a:off x="346930" y="5304265"/>
            <a:ext cx="1823612" cy="1147186"/>
          </a:xfrm>
          <a:prstGeom prst="rect">
            <a:avLst/>
          </a:prstGeom>
        </p:spPr>
      </p:pic>
      <p:grpSp>
        <p:nvGrpSpPr>
          <p:cNvPr id="5" name="Grupo 4">
            <a:extLst>
              <a:ext uri="{FF2B5EF4-FFF2-40B4-BE49-F238E27FC236}">
                <a16:creationId xmlns:a16="http://schemas.microsoft.com/office/drawing/2014/main" id="{35317AA7-20B0-7DA3-0022-BEC168527F14}"/>
              </a:ext>
            </a:extLst>
          </p:cNvPr>
          <p:cNvGrpSpPr/>
          <p:nvPr/>
        </p:nvGrpSpPr>
        <p:grpSpPr>
          <a:xfrm>
            <a:off x="930068" y="-340980"/>
            <a:ext cx="1140746" cy="1135380"/>
            <a:chOff x="930068" y="-340980"/>
            <a:chExt cx="1140746" cy="1135380"/>
          </a:xfrm>
        </p:grpSpPr>
        <p:sp>
          <p:nvSpPr>
            <p:cNvPr id="6" name="Rectángulo 5">
              <a:extLst>
                <a:ext uri="{FF2B5EF4-FFF2-40B4-BE49-F238E27FC236}">
                  <a16:creationId xmlns:a16="http://schemas.microsoft.com/office/drawing/2014/main" id="{6477D645-D822-6C34-870B-93A7815D57E9}"/>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7" name="CuadroTexto 6">
              <a:extLst>
                <a:ext uri="{FF2B5EF4-FFF2-40B4-BE49-F238E27FC236}">
                  <a16:creationId xmlns:a16="http://schemas.microsoft.com/office/drawing/2014/main" id="{FDBBBC44-6305-2C7D-BB8C-43405FC5E233}"/>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9" name="Grupo 8">
            <a:extLst>
              <a:ext uri="{FF2B5EF4-FFF2-40B4-BE49-F238E27FC236}">
                <a16:creationId xmlns:a16="http://schemas.microsoft.com/office/drawing/2014/main" id="{CA0BE639-EB41-6A82-3B7A-A75A4D9482CC}"/>
              </a:ext>
            </a:extLst>
          </p:cNvPr>
          <p:cNvGrpSpPr/>
          <p:nvPr/>
        </p:nvGrpSpPr>
        <p:grpSpPr>
          <a:xfrm>
            <a:off x="2396932" y="-1135380"/>
            <a:ext cx="1140746" cy="1135380"/>
            <a:chOff x="2396932" y="-340980"/>
            <a:chExt cx="1140746" cy="1135380"/>
          </a:xfrm>
        </p:grpSpPr>
        <p:sp>
          <p:nvSpPr>
            <p:cNvPr id="10" name="Rectángulo 9">
              <a:extLst>
                <a:ext uri="{FF2B5EF4-FFF2-40B4-BE49-F238E27FC236}">
                  <a16:creationId xmlns:a16="http://schemas.microsoft.com/office/drawing/2014/main" id="{062F85A9-56E8-674E-65CD-742D902FAAF6}"/>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2" name="CuadroTexto 11">
              <a:extLst>
                <a:ext uri="{FF2B5EF4-FFF2-40B4-BE49-F238E27FC236}">
                  <a16:creationId xmlns:a16="http://schemas.microsoft.com/office/drawing/2014/main" id="{61B6D908-9EF2-8B18-6149-AA189E707649}"/>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14" name="Grupo 13">
            <a:extLst>
              <a:ext uri="{FF2B5EF4-FFF2-40B4-BE49-F238E27FC236}">
                <a16:creationId xmlns:a16="http://schemas.microsoft.com/office/drawing/2014/main" id="{98DBCA52-8AD1-21F7-53CE-3C3E5A9D0FB2}"/>
              </a:ext>
            </a:extLst>
          </p:cNvPr>
          <p:cNvGrpSpPr/>
          <p:nvPr/>
        </p:nvGrpSpPr>
        <p:grpSpPr>
          <a:xfrm>
            <a:off x="3863796" y="-1135380"/>
            <a:ext cx="1140746" cy="1135380"/>
            <a:chOff x="3863796" y="-340980"/>
            <a:chExt cx="1140746" cy="1135380"/>
          </a:xfrm>
        </p:grpSpPr>
        <p:sp>
          <p:nvSpPr>
            <p:cNvPr id="15" name="Rectángulo 14">
              <a:extLst>
                <a:ext uri="{FF2B5EF4-FFF2-40B4-BE49-F238E27FC236}">
                  <a16:creationId xmlns:a16="http://schemas.microsoft.com/office/drawing/2014/main" id="{84553443-6348-F4C8-9217-460555FDB424}"/>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6" name="CuadroTexto 15">
              <a:extLst>
                <a:ext uri="{FF2B5EF4-FFF2-40B4-BE49-F238E27FC236}">
                  <a16:creationId xmlns:a16="http://schemas.microsoft.com/office/drawing/2014/main" id="{8FD27368-A5B2-58B6-845B-C564E3820889}"/>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17" name="Grupo 16">
            <a:extLst>
              <a:ext uri="{FF2B5EF4-FFF2-40B4-BE49-F238E27FC236}">
                <a16:creationId xmlns:a16="http://schemas.microsoft.com/office/drawing/2014/main" id="{11CACAB1-35F3-259D-68A8-59C42D9D2603}"/>
              </a:ext>
            </a:extLst>
          </p:cNvPr>
          <p:cNvGrpSpPr/>
          <p:nvPr/>
        </p:nvGrpSpPr>
        <p:grpSpPr>
          <a:xfrm>
            <a:off x="5330660" y="-1135380"/>
            <a:ext cx="1140746" cy="1135380"/>
            <a:chOff x="5330660" y="-340980"/>
            <a:chExt cx="1140746" cy="1135380"/>
          </a:xfrm>
        </p:grpSpPr>
        <p:sp>
          <p:nvSpPr>
            <p:cNvPr id="18" name="Rectángulo 17">
              <a:extLst>
                <a:ext uri="{FF2B5EF4-FFF2-40B4-BE49-F238E27FC236}">
                  <a16:creationId xmlns:a16="http://schemas.microsoft.com/office/drawing/2014/main" id="{2F8E35ED-F125-1DA7-5CF3-24D847345C8F}"/>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9" name="CuadroTexto 18">
              <a:extLst>
                <a:ext uri="{FF2B5EF4-FFF2-40B4-BE49-F238E27FC236}">
                  <a16:creationId xmlns:a16="http://schemas.microsoft.com/office/drawing/2014/main" id="{DA1BFEC9-C901-66B0-2CC7-E6A658F16312}"/>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20" name="Grupo 19">
            <a:extLst>
              <a:ext uri="{FF2B5EF4-FFF2-40B4-BE49-F238E27FC236}">
                <a16:creationId xmlns:a16="http://schemas.microsoft.com/office/drawing/2014/main" id="{A0B601D2-5AE8-AAB6-EA6E-3DCB11C8A407}"/>
              </a:ext>
            </a:extLst>
          </p:cNvPr>
          <p:cNvGrpSpPr/>
          <p:nvPr/>
        </p:nvGrpSpPr>
        <p:grpSpPr>
          <a:xfrm>
            <a:off x="6797524" y="-1135380"/>
            <a:ext cx="1140746" cy="1135380"/>
            <a:chOff x="6820384" y="-340980"/>
            <a:chExt cx="1140746" cy="1135380"/>
          </a:xfrm>
        </p:grpSpPr>
        <p:sp>
          <p:nvSpPr>
            <p:cNvPr id="21" name="Rectángulo 20">
              <a:extLst>
                <a:ext uri="{FF2B5EF4-FFF2-40B4-BE49-F238E27FC236}">
                  <a16:creationId xmlns:a16="http://schemas.microsoft.com/office/drawing/2014/main" id="{B985E508-FB8E-07BE-7DA2-0E31EA9A7EC5}"/>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2" name="CuadroTexto 21">
              <a:extLst>
                <a:ext uri="{FF2B5EF4-FFF2-40B4-BE49-F238E27FC236}">
                  <a16:creationId xmlns:a16="http://schemas.microsoft.com/office/drawing/2014/main" id="{1CD88584-20E2-4C85-E55D-8B168964C869}"/>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grpSp>
        <p:nvGrpSpPr>
          <p:cNvPr id="23" name="Grupo 22">
            <a:extLst>
              <a:ext uri="{FF2B5EF4-FFF2-40B4-BE49-F238E27FC236}">
                <a16:creationId xmlns:a16="http://schemas.microsoft.com/office/drawing/2014/main" id="{26176179-4A49-6600-280B-3E105BDBBAA4}"/>
              </a:ext>
            </a:extLst>
          </p:cNvPr>
          <p:cNvGrpSpPr/>
          <p:nvPr/>
        </p:nvGrpSpPr>
        <p:grpSpPr>
          <a:xfrm>
            <a:off x="9010811" y="1002484"/>
            <a:ext cx="6869269" cy="4144619"/>
            <a:chOff x="1771171" y="1002484"/>
            <a:chExt cx="6869269" cy="4144619"/>
          </a:xfrm>
        </p:grpSpPr>
        <p:pic>
          <p:nvPicPr>
            <p:cNvPr id="24" name="Imagen 23" descr="Mapa&#10;&#10;Descripción generada automáticamente">
              <a:extLst>
                <a:ext uri="{FF2B5EF4-FFF2-40B4-BE49-F238E27FC236}">
                  <a16:creationId xmlns:a16="http://schemas.microsoft.com/office/drawing/2014/main" id="{EBC27B15-2FE0-7FA3-AF1E-B7E442D6D144}"/>
                </a:ext>
              </a:extLst>
            </p:cNvPr>
            <p:cNvPicPr>
              <a:picLocks noChangeAspect="1"/>
            </p:cNvPicPr>
            <p:nvPr/>
          </p:nvPicPr>
          <p:blipFill rotWithShape="1">
            <a:blip r:embed="rId5"/>
            <a:srcRect l="1" t="7502" r="29605" b="7502"/>
            <a:stretch/>
          </p:blipFill>
          <p:spPr>
            <a:xfrm>
              <a:off x="1771172" y="1100139"/>
              <a:ext cx="6869268" cy="4046964"/>
            </a:xfrm>
            <a:prstGeom prst="rect">
              <a:avLst/>
            </a:prstGeom>
          </p:spPr>
        </p:pic>
        <p:sp>
          <p:nvSpPr>
            <p:cNvPr id="25" name="Triángulo rectángulo 24">
              <a:extLst>
                <a:ext uri="{FF2B5EF4-FFF2-40B4-BE49-F238E27FC236}">
                  <a16:creationId xmlns:a16="http://schemas.microsoft.com/office/drawing/2014/main" id="{829B7114-43C5-8740-0D7E-279F00965809}"/>
                </a:ext>
              </a:extLst>
            </p:cNvPr>
            <p:cNvSpPr/>
            <p:nvPr/>
          </p:nvSpPr>
          <p:spPr>
            <a:xfrm rot="10800000" flipH="1">
              <a:off x="1771171" y="1002484"/>
              <a:ext cx="3397177" cy="4141016"/>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Picture 2" descr="ArcGIS Survey123 - Apps en Google Play">
            <a:extLst>
              <a:ext uri="{FF2B5EF4-FFF2-40B4-BE49-F238E27FC236}">
                <a16:creationId xmlns:a16="http://schemas.microsoft.com/office/drawing/2014/main" id="{31633831-D3F7-2502-4225-F6C4214EE8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9014" y="1806144"/>
            <a:ext cx="640220" cy="640220"/>
          </a:xfrm>
          <a:prstGeom prst="roundRect">
            <a:avLst>
              <a:gd name="adj" fmla="val 16341"/>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87B16E9C-D71B-94F1-FAC6-FAF56CE2B500}"/>
              </a:ext>
            </a:extLst>
          </p:cNvPr>
          <p:cNvSpPr txBox="1"/>
          <p:nvPr/>
        </p:nvSpPr>
        <p:spPr>
          <a:xfrm>
            <a:off x="-1098314" y="1895421"/>
            <a:ext cx="1098314" cy="461665"/>
          </a:xfrm>
          <a:prstGeom prst="rect">
            <a:avLst/>
          </a:prstGeom>
          <a:noFill/>
        </p:spPr>
        <p:txBody>
          <a:bodyPr wrap="square" rtlCol="0">
            <a:spAutoFit/>
          </a:bodyPr>
          <a:lstStyle/>
          <a:p>
            <a:r>
              <a:rPr lang="es-MX" sz="1200" b="1" dirty="0">
                <a:solidFill>
                  <a:srgbClr val="3F3151"/>
                </a:solidFill>
              </a:rPr>
              <a:t>ArcGIS</a:t>
            </a:r>
          </a:p>
          <a:p>
            <a:r>
              <a:rPr lang="es-MX" sz="1200" b="1" dirty="0">
                <a:solidFill>
                  <a:srgbClr val="3F3151"/>
                </a:solidFill>
              </a:rPr>
              <a:t>Survey123</a:t>
            </a:r>
            <a:endParaRPr lang="en-US" sz="1200" b="1" dirty="0">
              <a:solidFill>
                <a:srgbClr val="3F3151"/>
              </a:solidFill>
            </a:endParaRPr>
          </a:p>
        </p:txBody>
      </p:sp>
      <p:pic>
        <p:nvPicPr>
          <p:cNvPr id="32" name="Picture 2">
            <a:extLst>
              <a:ext uri="{FF2B5EF4-FFF2-40B4-BE49-F238E27FC236}">
                <a16:creationId xmlns:a16="http://schemas.microsoft.com/office/drawing/2014/main" id="{9E6F9C6C-DCE9-6D54-B01B-3AF2694092CF}"/>
              </a:ext>
            </a:extLst>
          </p:cNvPr>
          <p:cNvPicPr>
            <a:picLocks noChangeAspect="1" noChangeArrowheads="1"/>
          </p:cNvPicPr>
          <p:nvPr/>
        </p:nvPicPr>
        <p:blipFill>
          <a:blip r:embed="rId7"/>
          <a:srcRect/>
          <a:stretch/>
        </p:blipFill>
        <p:spPr bwMode="auto">
          <a:xfrm>
            <a:off x="-1769013" y="3541574"/>
            <a:ext cx="640220" cy="640220"/>
          </a:xfrm>
          <a:prstGeom prst="roundRect">
            <a:avLst>
              <a:gd name="adj" fmla="val 16341"/>
            </a:avLst>
          </a:prstGeom>
          <a:noFill/>
          <a:extLst>
            <a:ext uri="{909E8E84-426E-40DD-AFC4-6F175D3DCCD1}">
              <a14:hiddenFill xmlns:a14="http://schemas.microsoft.com/office/drawing/2010/main">
                <a:solidFill>
                  <a:srgbClr val="FFFFFF"/>
                </a:solidFill>
              </a14:hiddenFill>
            </a:ext>
          </a:extLst>
        </p:spPr>
      </p:pic>
      <p:sp>
        <p:nvSpPr>
          <p:cNvPr id="33" name="CuadroTexto 32">
            <a:extLst>
              <a:ext uri="{FF2B5EF4-FFF2-40B4-BE49-F238E27FC236}">
                <a16:creationId xmlns:a16="http://schemas.microsoft.com/office/drawing/2014/main" id="{FF906558-0193-A36E-5B92-F27219A74786}"/>
              </a:ext>
            </a:extLst>
          </p:cNvPr>
          <p:cNvSpPr txBox="1"/>
          <p:nvPr/>
        </p:nvSpPr>
        <p:spPr>
          <a:xfrm>
            <a:off x="-1102854" y="3630851"/>
            <a:ext cx="1098314" cy="461665"/>
          </a:xfrm>
          <a:prstGeom prst="rect">
            <a:avLst/>
          </a:prstGeom>
          <a:noFill/>
        </p:spPr>
        <p:txBody>
          <a:bodyPr wrap="square" rtlCol="0">
            <a:spAutoFit/>
          </a:bodyPr>
          <a:lstStyle/>
          <a:p>
            <a:r>
              <a:rPr lang="es-MX" sz="1200" b="1" dirty="0">
                <a:solidFill>
                  <a:srgbClr val="3F3151"/>
                </a:solidFill>
              </a:rPr>
              <a:t>ArcGIS</a:t>
            </a:r>
          </a:p>
          <a:p>
            <a:r>
              <a:rPr lang="es-MX" sz="1200" b="1" dirty="0">
                <a:solidFill>
                  <a:srgbClr val="3F3151"/>
                </a:solidFill>
              </a:rPr>
              <a:t>Field </a:t>
            </a:r>
            <a:r>
              <a:rPr lang="es-MX" sz="1200" b="1" dirty="0" err="1">
                <a:solidFill>
                  <a:srgbClr val="3F3151"/>
                </a:solidFill>
              </a:rPr>
              <a:t>Maps</a:t>
            </a:r>
            <a:endParaRPr lang="en-US" sz="1200" b="1" dirty="0">
              <a:solidFill>
                <a:srgbClr val="3F3151"/>
              </a:solidFill>
            </a:endParaRPr>
          </a:p>
        </p:txBody>
      </p:sp>
      <p:sp>
        <p:nvSpPr>
          <p:cNvPr id="34" name="Rectángulo 33">
            <a:extLst>
              <a:ext uri="{FF2B5EF4-FFF2-40B4-BE49-F238E27FC236}">
                <a16:creationId xmlns:a16="http://schemas.microsoft.com/office/drawing/2014/main" id="{D3FC9746-4805-9BD9-34C2-60653EE6AA13}"/>
              </a:ext>
            </a:extLst>
          </p:cNvPr>
          <p:cNvSpPr/>
          <p:nvPr/>
        </p:nvSpPr>
        <p:spPr>
          <a:xfrm>
            <a:off x="-609151" y="2387599"/>
            <a:ext cx="144964" cy="628651"/>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ángulo 34">
            <a:extLst>
              <a:ext uri="{FF2B5EF4-FFF2-40B4-BE49-F238E27FC236}">
                <a16:creationId xmlns:a16="http://schemas.microsoft.com/office/drawing/2014/main" id="{250C248C-540A-B852-7A8D-D5845ABB7E67}"/>
              </a:ext>
            </a:extLst>
          </p:cNvPr>
          <p:cNvSpPr/>
          <p:nvPr/>
        </p:nvSpPr>
        <p:spPr>
          <a:xfrm>
            <a:off x="-431482" y="1901628"/>
            <a:ext cx="144964" cy="1533125"/>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ángulo 35">
            <a:extLst>
              <a:ext uri="{FF2B5EF4-FFF2-40B4-BE49-F238E27FC236}">
                <a16:creationId xmlns:a16="http://schemas.microsoft.com/office/drawing/2014/main" id="{064337B9-F304-411A-236D-1F2E85C9F074}"/>
              </a:ext>
            </a:extLst>
          </p:cNvPr>
          <p:cNvSpPr/>
          <p:nvPr/>
        </p:nvSpPr>
        <p:spPr>
          <a:xfrm>
            <a:off x="-253813" y="2132011"/>
            <a:ext cx="144964" cy="1139825"/>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8" name="Google Shape;145;p7">
            <a:extLst>
              <a:ext uri="{FF2B5EF4-FFF2-40B4-BE49-F238E27FC236}">
                <a16:creationId xmlns:a16="http://schemas.microsoft.com/office/drawing/2014/main" id="{22399030-D0CB-8BDC-CDA2-B40EC5842F8B}"/>
              </a:ext>
            </a:extLst>
          </p:cNvPr>
          <p:cNvGraphicFramePr/>
          <p:nvPr>
            <p:extLst>
              <p:ext uri="{D42A27DB-BD31-4B8C-83A1-F6EECF244321}">
                <p14:modId xmlns:p14="http://schemas.microsoft.com/office/powerpoint/2010/main" val="3722782206"/>
              </p:ext>
            </p:extLst>
          </p:nvPr>
        </p:nvGraphicFramePr>
        <p:xfrm>
          <a:off x="970202" y="1463564"/>
          <a:ext cx="5081361" cy="2972022"/>
        </p:xfrm>
        <a:graphic>
          <a:graphicData uri="http://schemas.openxmlformats.org/drawingml/2006/table">
            <a:tbl>
              <a:tblPr>
                <a:noFill/>
                <a:tableStyleId>{3C3AD599-BD06-4DC6-A637-B449D26691F4}</a:tableStyleId>
              </a:tblPr>
              <a:tblGrid>
                <a:gridCol w="1049953">
                  <a:extLst>
                    <a:ext uri="{9D8B030D-6E8A-4147-A177-3AD203B41FA5}">
                      <a16:colId xmlns:a16="http://schemas.microsoft.com/office/drawing/2014/main" val="20000"/>
                    </a:ext>
                  </a:extLst>
                </a:gridCol>
                <a:gridCol w="2878831">
                  <a:extLst>
                    <a:ext uri="{9D8B030D-6E8A-4147-A177-3AD203B41FA5}">
                      <a16:colId xmlns:a16="http://schemas.microsoft.com/office/drawing/2014/main" val="20001"/>
                    </a:ext>
                  </a:extLst>
                </a:gridCol>
                <a:gridCol w="604458">
                  <a:extLst>
                    <a:ext uri="{9D8B030D-6E8A-4147-A177-3AD203B41FA5}">
                      <a16:colId xmlns:a16="http://schemas.microsoft.com/office/drawing/2014/main" val="20002"/>
                    </a:ext>
                  </a:extLst>
                </a:gridCol>
                <a:gridCol w="548119">
                  <a:extLst>
                    <a:ext uri="{9D8B030D-6E8A-4147-A177-3AD203B41FA5}">
                      <a16:colId xmlns:a16="http://schemas.microsoft.com/office/drawing/2014/main" val="20003"/>
                    </a:ext>
                  </a:extLst>
                </a:gridCol>
              </a:tblGrid>
              <a:tr h="265359">
                <a:tc>
                  <a:txBody>
                    <a:bodyPr/>
                    <a:lstStyle/>
                    <a:p>
                      <a:pPr marL="0" marR="0" lvl="0" indent="0" algn="ctr" rtl="0">
                        <a:spcBef>
                          <a:spcPts val="0"/>
                        </a:spcBef>
                        <a:spcAft>
                          <a:spcPts val="0"/>
                        </a:spcAft>
                        <a:buNone/>
                      </a:pPr>
                      <a:r>
                        <a:rPr lang="es-ES" sz="900" b="1" u="none" strike="noStrike" cap="none" dirty="0">
                          <a:solidFill>
                            <a:schemeClr val="bg1"/>
                          </a:solidFill>
                          <a:latin typeface="+mn-lt"/>
                          <a:cs typeface="Arial" panose="020B0604020202020204" pitchFamily="34" charset="0"/>
                        </a:rPr>
                        <a:t>Composición </a:t>
                      </a:r>
                      <a:endParaRPr sz="900" b="1" i="0" u="none" strike="noStrike" cap="none" dirty="0">
                        <a:solidFill>
                          <a:schemeClr val="bg1"/>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48611D"/>
                    </a:solidFill>
                  </a:tcPr>
                </a:tc>
                <a:tc>
                  <a:txBody>
                    <a:bodyPr/>
                    <a:lstStyle/>
                    <a:p>
                      <a:pPr marL="0" marR="0" lvl="0" indent="0" algn="ctr" rtl="0">
                        <a:spcBef>
                          <a:spcPts val="0"/>
                        </a:spcBef>
                        <a:spcAft>
                          <a:spcPts val="0"/>
                        </a:spcAft>
                        <a:buNone/>
                      </a:pPr>
                      <a:r>
                        <a:rPr lang="es-ES" sz="900" b="1" u="none" strike="noStrike" cap="none" dirty="0">
                          <a:solidFill>
                            <a:schemeClr val="bg1"/>
                          </a:solidFill>
                          <a:latin typeface="+mn-lt"/>
                          <a:cs typeface="Arial" panose="020B0604020202020204" pitchFamily="34" charset="0"/>
                        </a:rPr>
                        <a:t> Clasificación de las Unidades </a:t>
                      </a:r>
                      <a:r>
                        <a:rPr lang="es-ES" sz="900" b="1" u="none" strike="noStrike" cap="none" dirty="0">
                          <a:solidFill>
                            <a:schemeClr val="bg1"/>
                          </a:solidFill>
                          <a:latin typeface="+mn-lt"/>
                        </a:rPr>
                        <a:t>de Observación</a:t>
                      </a:r>
                      <a:endParaRPr sz="900" b="1" i="0" u="none" strike="noStrike" cap="none" dirty="0">
                        <a:solidFill>
                          <a:schemeClr val="bg1"/>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48611D"/>
                    </a:solidFill>
                  </a:tcPr>
                </a:tc>
                <a:tc>
                  <a:txBody>
                    <a:bodyPr/>
                    <a:lstStyle/>
                    <a:p>
                      <a:pPr marL="0" marR="0" lvl="0" indent="0" algn="ctr" rtl="0">
                        <a:spcBef>
                          <a:spcPts val="0"/>
                        </a:spcBef>
                        <a:spcAft>
                          <a:spcPts val="0"/>
                        </a:spcAft>
                        <a:buNone/>
                      </a:pPr>
                      <a:r>
                        <a:rPr lang="es-ES" sz="900" b="1" u="none" strike="noStrike" cap="none" dirty="0">
                          <a:solidFill>
                            <a:schemeClr val="bg1"/>
                          </a:solidFill>
                          <a:latin typeface="+mn-lt"/>
                          <a:cs typeface="Arial" panose="020B0604020202020204" pitchFamily="34" charset="0"/>
                        </a:rPr>
                        <a:t>Cantidad</a:t>
                      </a:r>
                      <a:endParaRPr sz="900" b="1" i="0" u="none" strike="noStrike" cap="none" dirty="0">
                        <a:solidFill>
                          <a:schemeClr val="bg1"/>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48611D"/>
                    </a:solidFill>
                  </a:tcPr>
                </a:tc>
                <a:tc>
                  <a:txBody>
                    <a:bodyPr/>
                    <a:lstStyle/>
                    <a:p>
                      <a:pPr marL="0" marR="0" lvl="0" indent="0" algn="ctr" rtl="0">
                        <a:spcBef>
                          <a:spcPts val="0"/>
                        </a:spcBef>
                        <a:spcAft>
                          <a:spcPts val="0"/>
                        </a:spcAft>
                        <a:buNone/>
                      </a:pPr>
                      <a:r>
                        <a:rPr lang="es-ES" sz="900" b="1" u="none" strike="noStrike" cap="none" dirty="0">
                          <a:solidFill>
                            <a:schemeClr val="bg1"/>
                          </a:solidFill>
                          <a:latin typeface="+mn-lt"/>
                          <a:cs typeface="Arial" panose="020B0604020202020204" pitchFamily="34" charset="0"/>
                        </a:rPr>
                        <a:t>%</a:t>
                      </a:r>
                      <a:endParaRPr sz="900" b="1" i="0" u="none" strike="noStrike" cap="none" dirty="0">
                        <a:solidFill>
                          <a:schemeClr val="bg1"/>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48611D"/>
                    </a:solidFill>
                  </a:tcPr>
                </a:tc>
                <a:extLst>
                  <a:ext uri="{0D108BD9-81ED-4DB2-BD59-A6C34878D82A}">
                    <a16:rowId xmlns:a16="http://schemas.microsoft.com/office/drawing/2014/main" val="10000"/>
                  </a:ext>
                </a:extLst>
              </a:tr>
              <a:tr h="265359">
                <a:tc rowSpan="2">
                  <a:txBody>
                    <a:bodyPr/>
                    <a:lstStyle/>
                    <a:p>
                      <a:pPr marL="0" marR="0" lvl="0" indent="0" algn="ctr" rtl="0">
                        <a:spcBef>
                          <a:spcPts val="0"/>
                        </a:spcBef>
                        <a:spcAft>
                          <a:spcPts val="0"/>
                        </a:spcAft>
                        <a:buNone/>
                      </a:pPr>
                      <a:r>
                        <a:rPr lang="es-ES" sz="900" u="none" strike="noStrike" cap="none" dirty="0">
                          <a:solidFill>
                            <a:schemeClr val="tx1"/>
                          </a:solidFill>
                          <a:latin typeface="+mn-lt"/>
                          <a:cs typeface="Arial" panose="020B0604020202020204" pitchFamily="34" charset="0"/>
                        </a:rPr>
                        <a:t> </a:t>
                      </a:r>
                      <a:r>
                        <a:rPr lang="es-ES" sz="900" b="1" u="none" strike="noStrike" cap="none" dirty="0">
                          <a:solidFill>
                            <a:schemeClr val="tx1"/>
                          </a:solidFill>
                          <a:latin typeface="+mn-lt"/>
                          <a:cs typeface="Arial" panose="020B0604020202020204" pitchFamily="34" charset="0"/>
                        </a:rPr>
                        <a:t>Cuestionarios Preguntas Especificas</a:t>
                      </a:r>
                    </a:p>
                  </a:txBody>
                  <a:tcPr marL="87699" marR="87699"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Parcela Principal (Fincas Agropecuarias)</a:t>
                      </a: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291.497</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1" i="0" u="none" strike="noStrike" dirty="0">
                          <a:solidFill>
                            <a:srgbClr val="000000"/>
                          </a:solidFill>
                          <a:effectLst/>
                          <a:latin typeface="+mj-lt"/>
                        </a:rPr>
                        <a:t>64,06%</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8432">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Parcelas Separadas </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45.245</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9,95%</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65359">
                <a:tc rowSpan="7">
                  <a:txBody>
                    <a:bodyPr/>
                    <a:lstStyle/>
                    <a:p>
                      <a:pPr marL="0" marR="0" lvl="0" indent="0" algn="ctr" rtl="0">
                        <a:spcBef>
                          <a:spcPts val="0"/>
                        </a:spcBef>
                        <a:spcAft>
                          <a:spcPts val="0"/>
                        </a:spcAft>
                        <a:buNone/>
                      </a:pPr>
                      <a:r>
                        <a:rPr lang="es-ES" sz="900" b="1" u="none" strike="noStrike" cap="none" dirty="0">
                          <a:solidFill>
                            <a:schemeClr val="tx1"/>
                          </a:solidFill>
                          <a:latin typeface="+mn-lt"/>
                          <a:cs typeface="Arial" panose="020B0604020202020204" pitchFamily="34" charset="0"/>
                        </a:rPr>
                        <a:t>Cuestionarios Preguntas Simplificadas </a:t>
                      </a:r>
                    </a:p>
                  </a:txBody>
                  <a:tcPr marL="87699" marR="87699"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Parcelas Separadas-sin asociar </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524</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0,12%</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65359">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Viviendas con autoconsumo familiar</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46.611</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10,25%</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65359">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Campos Comunales</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661</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0,15%</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65359">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Viviendas sin </a:t>
                      </a:r>
                      <a:r>
                        <a:rPr lang="es-ES" sz="900" u="none" strike="noStrike" cap="none" dirty="0">
                          <a:latin typeface="+mn-lt"/>
                        </a:rPr>
                        <a:t>producción agropecuaria</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52.303</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11,50%</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65359">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Rechazos Con/Sin Actividad Agropecuaria</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864</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0,19%</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65359">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Ausentes Con/Sin Actividad Agropecuaria</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4.923</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1,08%</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65359">
                <a:tc vMerge="1">
                  <a:txBody>
                    <a:bodyPr/>
                    <a:lstStyle/>
                    <a:p>
                      <a:endParaRPr lang="en-US"/>
                    </a:p>
                  </a:txBody>
                  <a:tcPr/>
                </a:tc>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Lotes sin viviendas Con/Sin Producción Agropecuaria</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900" u="none" strike="noStrike" cap="none" dirty="0">
                          <a:latin typeface="+mn-lt"/>
                          <a:cs typeface="Arial" panose="020B0604020202020204" pitchFamily="34" charset="0"/>
                        </a:rPr>
                        <a:t>12.322</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rtl="0" fontAlgn="ctr"/>
                      <a:r>
                        <a:rPr lang="es-PY" sz="900" b="0" i="0" u="none" strike="noStrike" dirty="0">
                          <a:solidFill>
                            <a:srgbClr val="000000"/>
                          </a:solidFill>
                          <a:effectLst/>
                          <a:latin typeface="+mj-lt"/>
                        </a:rPr>
                        <a:t>2,70%</a:t>
                      </a:r>
                    </a:p>
                  </a:txBody>
                  <a:tcPr marL="7620" marR="7620" marT="762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65359">
                <a:tc>
                  <a:txBody>
                    <a:bodyPr/>
                    <a:lstStyle/>
                    <a:p>
                      <a:pPr marL="0" marR="0" lvl="0" indent="0" algn="l" rtl="0">
                        <a:spcBef>
                          <a:spcPts val="0"/>
                        </a:spcBef>
                        <a:spcAft>
                          <a:spcPts val="0"/>
                        </a:spcAft>
                        <a:buNone/>
                      </a:pPr>
                      <a:r>
                        <a:rPr lang="es-ES" sz="900" u="none" strike="noStrike" cap="none" dirty="0">
                          <a:latin typeface="+mn-lt"/>
                          <a:cs typeface="Arial" panose="020B0604020202020204" pitchFamily="34" charset="0"/>
                        </a:rPr>
                        <a:t> </a:t>
                      </a:r>
                      <a:endParaRPr sz="900" b="0"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b">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C88A5C"/>
                    </a:solidFill>
                  </a:tcPr>
                </a:tc>
                <a:tc>
                  <a:txBody>
                    <a:bodyPr/>
                    <a:lstStyle/>
                    <a:p>
                      <a:pPr marL="0" marR="0" lvl="0" indent="0" algn="l" rtl="0">
                        <a:spcBef>
                          <a:spcPts val="0"/>
                        </a:spcBef>
                        <a:spcAft>
                          <a:spcPts val="0"/>
                        </a:spcAft>
                        <a:buNone/>
                      </a:pPr>
                      <a:r>
                        <a:rPr lang="es-ES" sz="900" b="1" u="none" strike="noStrike" cap="none" dirty="0">
                          <a:latin typeface="+mn-lt"/>
                          <a:cs typeface="Arial" panose="020B0604020202020204" pitchFamily="34" charset="0"/>
                        </a:rPr>
                        <a:t>Total</a:t>
                      </a:r>
                      <a:r>
                        <a:rPr lang="es-ES" sz="900" b="1" u="none" strike="noStrike" cap="none" dirty="0">
                          <a:latin typeface="+mn-lt"/>
                        </a:rPr>
                        <a:t> Cuestionarios Aplicados</a:t>
                      </a:r>
                      <a:endParaRPr sz="900" b="1"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C88A5C"/>
                    </a:solidFill>
                  </a:tcPr>
                </a:tc>
                <a:tc>
                  <a:txBody>
                    <a:bodyPr/>
                    <a:lstStyle/>
                    <a:p>
                      <a:pPr marL="0" marR="0" lvl="0" indent="0" algn="ctr" rtl="0">
                        <a:spcBef>
                          <a:spcPts val="0"/>
                        </a:spcBef>
                        <a:spcAft>
                          <a:spcPts val="0"/>
                        </a:spcAft>
                        <a:buNone/>
                      </a:pPr>
                      <a:r>
                        <a:rPr lang="es-ES" sz="900" b="1" u="none" strike="noStrike" cap="none" dirty="0">
                          <a:latin typeface="+mn-lt"/>
                          <a:cs typeface="Arial" panose="020B0604020202020204" pitchFamily="34" charset="0"/>
                        </a:rPr>
                        <a:t>454.950</a:t>
                      </a:r>
                      <a:endParaRPr sz="900" b="1" i="0" u="none" strike="noStrike" cap="none" dirty="0">
                        <a:solidFill>
                          <a:srgbClr val="000000"/>
                        </a:solidFill>
                        <a:latin typeface="+mn-lt"/>
                        <a:ea typeface="Calibri"/>
                        <a:cs typeface="Arial" panose="020B0604020202020204" pitchFamily="34" charset="0"/>
                        <a:sym typeface="Calibri"/>
                      </a:endParaRPr>
                    </a:p>
                  </a:txBody>
                  <a:tcPr marL="43850" marR="43850" marT="43850" marB="4385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C88A5C"/>
                    </a:solidFill>
                  </a:tcPr>
                </a:tc>
                <a:tc>
                  <a:txBody>
                    <a:bodyPr/>
                    <a:lstStyle/>
                    <a:p>
                      <a:pPr algn="ctr" fontAlgn="ctr"/>
                      <a:r>
                        <a:rPr lang="es-PY" sz="900" b="1" u="none" strike="noStrike" dirty="0">
                          <a:solidFill>
                            <a:sysClr val="windowText" lastClr="000000"/>
                          </a:solidFill>
                          <a:effectLst/>
                          <a:latin typeface="+mj-lt"/>
                        </a:rPr>
                        <a:t>100,0%</a:t>
                      </a:r>
                      <a:endParaRPr lang="es-PY" sz="900" b="1" i="0" u="none" strike="noStrike" dirty="0">
                        <a:solidFill>
                          <a:sysClr val="windowText" lastClr="000000"/>
                        </a:solidFill>
                        <a:effectLst/>
                        <a:latin typeface="+mj-lt"/>
                      </a:endParaRPr>
                    </a:p>
                  </a:txBody>
                  <a:tcPr marL="6970" marR="6970" marT="697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C88A5C"/>
                    </a:solidFill>
                  </a:tcPr>
                </a:tc>
                <a:extLst>
                  <a:ext uri="{0D108BD9-81ED-4DB2-BD59-A6C34878D82A}">
                    <a16:rowId xmlns:a16="http://schemas.microsoft.com/office/drawing/2014/main" val="10010"/>
                  </a:ext>
                </a:extLst>
              </a:tr>
            </a:tbl>
          </a:graphicData>
        </a:graphic>
      </p:graphicFrame>
      <p:graphicFrame>
        <p:nvGraphicFramePr>
          <p:cNvPr id="29" name="Gráfico 17">
            <a:extLst>
              <a:ext uri="{FF2B5EF4-FFF2-40B4-BE49-F238E27FC236}">
                <a16:creationId xmlns:a16="http://schemas.microsoft.com/office/drawing/2014/main" id="{1500B3F4-0D8C-2655-69D0-19E0921B0313}"/>
              </a:ext>
            </a:extLst>
          </p:cNvPr>
          <p:cNvGraphicFramePr/>
          <p:nvPr>
            <p:extLst>
              <p:ext uri="{D42A27DB-BD31-4B8C-83A1-F6EECF244321}">
                <p14:modId xmlns:p14="http://schemas.microsoft.com/office/powerpoint/2010/main" val="3239194582"/>
              </p:ext>
            </p:extLst>
          </p:nvPr>
        </p:nvGraphicFramePr>
        <p:xfrm>
          <a:off x="5899148" y="1587500"/>
          <a:ext cx="2693095" cy="2724150"/>
        </p:xfrm>
        <a:graphic>
          <a:graphicData uri="http://schemas.openxmlformats.org/drawingml/2006/chart">
            <c:chart xmlns:c="http://schemas.openxmlformats.org/drawingml/2006/chart" xmlns:r="http://schemas.openxmlformats.org/officeDocument/2006/relationships" r:id="rId8"/>
          </a:graphicData>
        </a:graphic>
      </p:graphicFrame>
      <p:sp>
        <p:nvSpPr>
          <p:cNvPr id="37" name="Rectángulo 27">
            <a:extLst>
              <a:ext uri="{FF2B5EF4-FFF2-40B4-BE49-F238E27FC236}">
                <a16:creationId xmlns:a16="http://schemas.microsoft.com/office/drawing/2014/main" id="{6971069E-9F30-311E-8D1E-018869AD01B9}"/>
              </a:ext>
            </a:extLst>
          </p:cNvPr>
          <p:cNvSpPr/>
          <p:nvPr/>
        </p:nvSpPr>
        <p:spPr>
          <a:xfrm>
            <a:off x="1996440" y="1737519"/>
            <a:ext cx="3977640" cy="220821"/>
          </a:xfrm>
          <a:prstGeom prst="rect">
            <a:avLst/>
          </a:prstGeom>
          <a:noFill/>
          <a:ln>
            <a:solidFill>
              <a:srgbClr val="9B4D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ángulo 28">
            <a:extLst>
              <a:ext uri="{FF2B5EF4-FFF2-40B4-BE49-F238E27FC236}">
                <a16:creationId xmlns:a16="http://schemas.microsoft.com/office/drawing/2014/main" id="{F172306A-EC98-AC4A-6EE1-6CCC4F36C884}"/>
              </a:ext>
            </a:extLst>
          </p:cNvPr>
          <p:cNvSpPr/>
          <p:nvPr/>
        </p:nvSpPr>
        <p:spPr>
          <a:xfrm>
            <a:off x="1996440" y="2036122"/>
            <a:ext cx="3977640" cy="220821"/>
          </a:xfrm>
          <a:prstGeom prst="rect">
            <a:avLst/>
          </a:prstGeom>
          <a:noFill/>
          <a:ln>
            <a:solidFill>
              <a:srgbClr val="9B4D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12">
            <a:extLst>
              <a:ext uri="{FF2B5EF4-FFF2-40B4-BE49-F238E27FC236}">
                <a16:creationId xmlns:a16="http://schemas.microsoft.com/office/drawing/2014/main" id="{CD6EB3A1-2944-561B-6DC1-872FF0D3C972}"/>
              </a:ext>
            </a:extLst>
          </p:cNvPr>
          <p:cNvSpPr txBox="1"/>
          <p:nvPr/>
        </p:nvSpPr>
        <p:spPr>
          <a:xfrm>
            <a:off x="9389047" y="1382986"/>
            <a:ext cx="5537595" cy="3191708"/>
          </a:xfrm>
          <a:prstGeom prst="rect">
            <a:avLst/>
          </a:prstGeom>
          <a:noFill/>
        </p:spPr>
        <p:txBody>
          <a:bodyPr wrap="square">
            <a:spAutoFit/>
          </a:bodyPr>
          <a:lstStyle/>
          <a:p>
            <a:pPr eaLnBrk="1" hangingPunct="1"/>
            <a:r>
              <a:rPr lang="es-ES" altLang="en-US" sz="1800" b="1" dirty="0">
                <a:solidFill>
                  <a:srgbClr val="3F3151"/>
                </a:solidFill>
                <a:latin typeface="+mn-lt"/>
                <a:ea typeface="Calibri"/>
                <a:sym typeface="Calibri" panose="020F0502020204030204" pitchFamily="34" charset="0"/>
              </a:rPr>
              <a:t>La Plataforma Tecnológica permitió:</a:t>
            </a:r>
          </a:p>
          <a:p>
            <a:pPr eaLnBrk="1" hangingPunct="1"/>
            <a:endParaRPr lang="en-US" altLang="en-US" sz="1800" b="1"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en la planificación censal. </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en la gestión y control  de las actividades de campo. </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en el seguimiento y control de la cobertura censal.</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de la calidad de los datos durante la captura.</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Enriquecer el análisis al integrar datos con información geoespacial.</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Mejorar la infraestructura estadística e infraestructura geoespacial.</a:t>
            </a:r>
            <a:endParaRPr lang="en-US" altLang="en-US" dirty="0">
              <a:solidFill>
                <a:srgbClr val="3F3151"/>
              </a:solidFill>
              <a:latin typeface="+mn-lt"/>
              <a:ea typeface="Calibri"/>
              <a:sym typeface="Calibri" panose="020F0502020204030204" pitchFamily="34" charset="0"/>
            </a:endParaRPr>
          </a:p>
        </p:txBody>
      </p:sp>
      <p:pic>
        <p:nvPicPr>
          <p:cNvPr id="4" name="Google Shape;104;p3">
            <a:extLst>
              <a:ext uri="{FF2B5EF4-FFF2-40B4-BE49-F238E27FC236}">
                <a16:creationId xmlns:a16="http://schemas.microsoft.com/office/drawing/2014/main" id="{44184A28-55F7-A729-D413-E4EEE5E03FFA}"/>
              </a:ext>
            </a:extLst>
          </p:cNvPr>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3188" y="1168568"/>
            <a:ext cx="2430741" cy="3620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156430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
                                            <p:graphicEl>
                                              <a:chart seriesIdx="-3" categoryIdx="-3" bldStep="gridLegend"/>
                                            </p:graphicEl>
                                          </p:spTgt>
                                        </p:tgtEl>
                                        <p:attrNameLst>
                                          <p:attrName>style.visibility</p:attrName>
                                        </p:attrNameLst>
                                      </p:cBhvr>
                                      <p:to>
                                        <p:strVal val="visible"/>
                                      </p:to>
                                    </p:set>
                                    <p:animEffect transition="in" filter="wipe(left)">
                                      <p:cBhvr>
                                        <p:cTn id="11" dur="100"/>
                                        <p:tgtEl>
                                          <p:spTgt spid="29">
                                            <p:graphicEl>
                                              <a:chart seriesIdx="-3" categoryIdx="-3" bldStep="gridLegend"/>
                                            </p:graphicEl>
                                          </p:spTgt>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29">
                                            <p:graphicEl>
                                              <a:chart seriesIdx="-4" categoryIdx="0" bldStep="category"/>
                                            </p:graphicEl>
                                          </p:spTgt>
                                        </p:tgtEl>
                                        <p:attrNameLst>
                                          <p:attrName>style.visibility</p:attrName>
                                        </p:attrNameLst>
                                      </p:cBhvr>
                                      <p:to>
                                        <p:strVal val="visible"/>
                                      </p:to>
                                    </p:set>
                                    <p:animEffect transition="in" filter="wipe(left)">
                                      <p:cBhvr>
                                        <p:cTn id="15" dur="100"/>
                                        <p:tgtEl>
                                          <p:spTgt spid="29">
                                            <p:graphicEl>
                                              <a:chart seriesIdx="-4" categoryIdx="0" bldStep="category"/>
                                            </p:graphicEl>
                                          </p:spTgt>
                                        </p:tgtEl>
                                      </p:cBhvr>
                                    </p:animEffect>
                                  </p:childTnLst>
                                </p:cTn>
                              </p:par>
                            </p:childTnLst>
                          </p:cTn>
                        </p:par>
                        <p:par>
                          <p:cTn id="16" fill="hold">
                            <p:stCondLst>
                              <p:cond delay="700"/>
                            </p:stCondLst>
                            <p:childTnLst>
                              <p:par>
                                <p:cTn id="17" presetID="22" presetClass="entr" presetSubtype="8" fill="hold" grpId="0" nodeType="afterEffect">
                                  <p:stCondLst>
                                    <p:cond delay="0"/>
                                  </p:stCondLst>
                                  <p:childTnLst>
                                    <p:set>
                                      <p:cBhvr>
                                        <p:cTn id="18" dur="1" fill="hold">
                                          <p:stCondLst>
                                            <p:cond delay="0"/>
                                          </p:stCondLst>
                                        </p:cTn>
                                        <p:tgtEl>
                                          <p:spTgt spid="29">
                                            <p:graphicEl>
                                              <a:chart seriesIdx="-4" categoryIdx="1" bldStep="category"/>
                                            </p:graphicEl>
                                          </p:spTgt>
                                        </p:tgtEl>
                                        <p:attrNameLst>
                                          <p:attrName>style.visibility</p:attrName>
                                        </p:attrNameLst>
                                      </p:cBhvr>
                                      <p:to>
                                        <p:strVal val="visible"/>
                                      </p:to>
                                    </p:set>
                                    <p:animEffect transition="in" filter="wipe(left)">
                                      <p:cBhvr>
                                        <p:cTn id="19" dur="100"/>
                                        <p:tgtEl>
                                          <p:spTgt spid="29">
                                            <p:graphicEl>
                                              <a:chart seriesIdx="-4" categoryIdx="1" bldStep="category"/>
                                            </p:graphicEl>
                                          </p:spTgt>
                                        </p:tgtEl>
                                      </p:cBhvr>
                                    </p:animEffect>
                                  </p:childTnLst>
                                </p:cTn>
                              </p:par>
                            </p:childTnLst>
                          </p:cTn>
                        </p:par>
                        <p:par>
                          <p:cTn id="20" fill="hold">
                            <p:stCondLst>
                              <p:cond delay="800"/>
                            </p:stCondLst>
                            <p:childTnLst>
                              <p:par>
                                <p:cTn id="21" presetID="22" presetClass="entr" presetSubtype="8" fill="hold" grpId="0" nodeType="afterEffect">
                                  <p:stCondLst>
                                    <p:cond delay="0"/>
                                  </p:stCondLst>
                                  <p:childTnLst>
                                    <p:set>
                                      <p:cBhvr>
                                        <p:cTn id="22" dur="1" fill="hold">
                                          <p:stCondLst>
                                            <p:cond delay="0"/>
                                          </p:stCondLst>
                                        </p:cTn>
                                        <p:tgtEl>
                                          <p:spTgt spid="29">
                                            <p:graphicEl>
                                              <a:chart seriesIdx="-4" categoryIdx="2" bldStep="category"/>
                                            </p:graphicEl>
                                          </p:spTgt>
                                        </p:tgtEl>
                                        <p:attrNameLst>
                                          <p:attrName>style.visibility</p:attrName>
                                        </p:attrNameLst>
                                      </p:cBhvr>
                                      <p:to>
                                        <p:strVal val="visible"/>
                                      </p:to>
                                    </p:set>
                                    <p:animEffect transition="in" filter="wipe(left)">
                                      <p:cBhvr>
                                        <p:cTn id="23" dur="100"/>
                                        <p:tgtEl>
                                          <p:spTgt spid="29">
                                            <p:graphicEl>
                                              <a:chart seriesIdx="-4" categoryIdx="2" bldStep="category"/>
                                            </p:graphicEl>
                                          </p:spTgt>
                                        </p:tgtEl>
                                      </p:cBhvr>
                                    </p:animEffect>
                                  </p:childTnLst>
                                </p:cTn>
                              </p:par>
                            </p:childTnLst>
                          </p:cTn>
                        </p:par>
                        <p:par>
                          <p:cTn id="24" fill="hold">
                            <p:stCondLst>
                              <p:cond delay="900"/>
                            </p:stCondLst>
                            <p:childTnLst>
                              <p:par>
                                <p:cTn id="25" presetID="22" presetClass="entr" presetSubtype="8" fill="hold" grpId="0" nodeType="afterEffect">
                                  <p:stCondLst>
                                    <p:cond delay="0"/>
                                  </p:stCondLst>
                                  <p:childTnLst>
                                    <p:set>
                                      <p:cBhvr>
                                        <p:cTn id="26" dur="1" fill="hold">
                                          <p:stCondLst>
                                            <p:cond delay="0"/>
                                          </p:stCondLst>
                                        </p:cTn>
                                        <p:tgtEl>
                                          <p:spTgt spid="29">
                                            <p:graphicEl>
                                              <a:chart seriesIdx="-4" categoryIdx="3" bldStep="category"/>
                                            </p:graphicEl>
                                          </p:spTgt>
                                        </p:tgtEl>
                                        <p:attrNameLst>
                                          <p:attrName>style.visibility</p:attrName>
                                        </p:attrNameLst>
                                      </p:cBhvr>
                                      <p:to>
                                        <p:strVal val="visible"/>
                                      </p:to>
                                    </p:set>
                                    <p:animEffect transition="in" filter="wipe(left)">
                                      <p:cBhvr>
                                        <p:cTn id="27" dur="100"/>
                                        <p:tgtEl>
                                          <p:spTgt spid="29">
                                            <p:graphicEl>
                                              <a:chart seriesIdx="-4" categoryIdx="3" bldStep="category"/>
                                            </p:graphicEl>
                                          </p:spTgt>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9">
                                            <p:graphicEl>
                                              <a:chart seriesIdx="-4" categoryIdx="4" bldStep="category"/>
                                            </p:graphicEl>
                                          </p:spTgt>
                                        </p:tgtEl>
                                        <p:attrNameLst>
                                          <p:attrName>style.visibility</p:attrName>
                                        </p:attrNameLst>
                                      </p:cBhvr>
                                      <p:to>
                                        <p:strVal val="visible"/>
                                      </p:to>
                                    </p:set>
                                    <p:animEffect transition="in" filter="wipe(left)">
                                      <p:cBhvr>
                                        <p:cTn id="31" dur="100"/>
                                        <p:tgtEl>
                                          <p:spTgt spid="29">
                                            <p:graphicEl>
                                              <a:chart seriesIdx="-4" categoryIdx="4" bldStep="category"/>
                                            </p:graphicEl>
                                          </p:spTgt>
                                        </p:tgtEl>
                                      </p:cBhvr>
                                    </p:animEffect>
                                  </p:childTnLst>
                                </p:cTn>
                              </p:par>
                            </p:childTnLst>
                          </p:cTn>
                        </p:par>
                        <p:par>
                          <p:cTn id="32" fill="hold">
                            <p:stCondLst>
                              <p:cond delay="1100"/>
                            </p:stCondLst>
                            <p:childTnLst>
                              <p:par>
                                <p:cTn id="33" presetID="22" presetClass="entr" presetSubtype="8" fill="hold" grpId="0" nodeType="afterEffect">
                                  <p:stCondLst>
                                    <p:cond delay="0"/>
                                  </p:stCondLst>
                                  <p:childTnLst>
                                    <p:set>
                                      <p:cBhvr>
                                        <p:cTn id="34" dur="1" fill="hold">
                                          <p:stCondLst>
                                            <p:cond delay="0"/>
                                          </p:stCondLst>
                                        </p:cTn>
                                        <p:tgtEl>
                                          <p:spTgt spid="29">
                                            <p:graphicEl>
                                              <a:chart seriesIdx="-4" categoryIdx="5" bldStep="category"/>
                                            </p:graphicEl>
                                          </p:spTgt>
                                        </p:tgtEl>
                                        <p:attrNameLst>
                                          <p:attrName>style.visibility</p:attrName>
                                        </p:attrNameLst>
                                      </p:cBhvr>
                                      <p:to>
                                        <p:strVal val="visible"/>
                                      </p:to>
                                    </p:set>
                                    <p:animEffect transition="in" filter="wipe(left)">
                                      <p:cBhvr>
                                        <p:cTn id="35" dur="100"/>
                                        <p:tgtEl>
                                          <p:spTgt spid="29">
                                            <p:graphicEl>
                                              <a:chart seriesIdx="-4" categoryIdx="5" bldStep="category"/>
                                            </p:graphicEl>
                                          </p:spTgt>
                                        </p:tgtEl>
                                      </p:cBhvr>
                                    </p:animEffect>
                                  </p:childTnLst>
                                </p:cTn>
                              </p:par>
                            </p:childTnLst>
                          </p:cTn>
                        </p:par>
                        <p:par>
                          <p:cTn id="36" fill="hold">
                            <p:stCondLst>
                              <p:cond delay="1200"/>
                            </p:stCondLst>
                            <p:childTnLst>
                              <p:par>
                                <p:cTn id="37" presetID="22" presetClass="entr" presetSubtype="8" fill="hold" grpId="0" nodeType="afterEffect">
                                  <p:stCondLst>
                                    <p:cond delay="0"/>
                                  </p:stCondLst>
                                  <p:childTnLst>
                                    <p:set>
                                      <p:cBhvr>
                                        <p:cTn id="38" dur="1" fill="hold">
                                          <p:stCondLst>
                                            <p:cond delay="0"/>
                                          </p:stCondLst>
                                        </p:cTn>
                                        <p:tgtEl>
                                          <p:spTgt spid="29">
                                            <p:graphicEl>
                                              <a:chart seriesIdx="-4" categoryIdx="6" bldStep="category"/>
                                            </p:graphicEl>
                                          </p:spTgt>
                                        </p:tgtEl>
                                        <p:attrNameLst>
                                          <p:attrName>style.visibility</p:attrName>
                                        </p:attrNameLst>
                                      </p:cBhvr>
                                      <p:to>
                                        <p:strVal val="visible"/>
                                      </p:to>
                                    </p:set>
                                    <p:animEffect transition="in" filter="wipe(left)">
                                      <p:cBhvr>
                                        <p:cTn id="39" dur="100"/>
                                        <p:tgtEl>
                                          <p:spTgt spid="29">
                                            <p:graphicEl>
                                              <a:chart seriesIdx="-4" categoryIdx="6" bldStep="category"/>
                                            </p:graphicEl>
                                          </p:spTgt>
                                        </p:tgtEl>
                                      </p:cBhvr>
                                    </p:animEffect>
                                  </p:childTnLst>
                                </p:cTn>
                              </p:par>
                            </p:childTnLst>
                          </p:cTn>
                        </p:par>
                        <p:par>
                          <p:cTn id="40" fill="hold">
                            <p:stCondLst>
                              <p:cond delay="1300"/>
                            </p:stCondLst>
                            <p:childTnLst>
                              <p:par>
                                <p:cTn id="41" presetID="22" presetClass="entr" presetSubtype="8" fill="hold" grpId="0" nodeType="afterEffect">
                                  <p:stCondLst>
                                    <p:cond delay="0"/>
                                  </p:stCondLst>
                                  <p:childTnLst>
                                    <p:set>
                                      <p:cBhvr>
                                        <p:cTn id="42" dur="1" fill="hold">
                                          <p:stCondLst>
                                            <p:cond delay="0"/>
                                          </p:stCondLst>
                                        </p:cTn>
                                        <p:tgtEl>
                                          <p:spTgt spid="29">
                                            <p:graphicEl>
                                              <a:chart seriesIdx="-4" categoryIdx="7" bldStep="category"/>
                                            </p:graphicEl>
                                          </p:spTgt>
                                        </p:tgtEl>
                                        <p:attrNameLst>
                                          <p:attrName>style.visibility</p:attrName>
                                        </p:attrNameLst>
                                      </p:cBhvr>
                                      <p:to>
                                        <p:strVal val="visible"/>
                                      </p:to>
                                    </p:set>
                                    <p:animEffect transition="in" filter="wipe(left)">
                                      <p:cBhvr>
                                        <p:cTn id="43" dur="100"/>
                                        <p:tgtEl>
                                          <p:spTgt spid="29">
                                            <p:graphicEl>
                                              <a:chart seriesIdx="-4" categoryIdx="7" bldStep="category"/>
                                            </p:graphicEl>
                                          </p:spTgt>
                                        </p:tgtEl>
                                      </p:cBhvr>
                                    </p:animEffect>
                                  </p:childTnLst>
                                </p:cTn>
                              </p:par>
                            </p:childTnLst>
                          </p:cTn>
                        </p:par>
                        <p:par>
                          <p:cTn id="44" fill="hold">
                            <p:stCondLst>
                              <p:cond delay="1400"/>
                            </p:stCondLst>
                            <p:childTnLst>
                              <p:par>
                                <p:cTn id="45" presetID="22" presetClass="entr" presetSubtype="8" fill="hold" grpId="0" nodeType="afterEffect">
                                  <p:stCondLst>
                                    <p:cond delay="0"/>
                                  </p:stCondLst>
                                  <p:childTnLst>
                                    <p:set>
                                      <p:cBhvr>
                                        <p:cTn id="46" dur="1" fill="hold">
                                          <p:stCondLst>
                                            <p:cond delay="0"/>
                                          </p:stCondLst>
                                        </p:cTn>
                                        <p:tgtEl>
                                          <p:spTgt spid="29">
                                            <p:graphicEl>
                                              <a:chart seriesIdx="-4" categoryIdx="8" bldStep="category"/>
                                            </p:graphicEl>
                                          </p:spTgt>
                                        </p:tgtEl>
                                        <p:attrNameLst>
                                          <p:attrName>style.visibility</p:attrName>
                                        </p:attrNameLst>
                                      </p:cBhvr>
                                      <p:to>
                                        <p:strVal val="visible"/>
                                      </p:to>
                                    </p:set>
                                    <p:animEffect transition="in" filter="wipe(left)">
                                      <p:cBhvr>
                                        <p:cTn id="47" dur="100"/>
                                        <p:tgtEl>
                                          <p:spTgt spid="29">
                                            <p:graphicEl>
                                              <a:chart seriesIdx="-4" categoryIdx="8" bldStep="category"/>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par>
                                <p:cTn id="58" presetID="22" presetClass="entr" presetSubtype="8" fill="hold" nodeType="withEffect">
                                  <p:stCondLst>
                                    <p:cond delay="50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9" grpId="0">
        <p:bldSub>
          <a:bldChart bld="category"/>
        </p:bldSub>
      </p:bldGraphic>
      <p:bldP spid="37"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upo 23">
            <a:extLst>
              <a:ext uri="{FF2B5EF4-FFF2-40B4-BE49-F238E27FC236}">
                <a16:creationId xmlns:a16="http://schemas.microsoft.com/office/drawing/2014/main" id="{5823D076-689F-AE09-A19F-0FEE7FF11E9E}"/>
              </a:ext>
            </a:extLst>
          </p:cNvPr>
          <p:cNvGrpSpPr/>
          <p:nvPr/>
        </p:nvGrpSpPr>
        <p:grpSpPr>
          <a:xfrm>
            <a:off x="930068" y="-1135380"/>
            <a:ext cx="1140746" cy="1135380"/>
            <a:chOff x="930068" y="-340980"/>
            <a:chExt cx="1140746" cy="1135380"/>
          </a:xfrm>
        </p:grpSpPr>
        <p:sp>
          <p:nvSpPr>
            <p:cNvPr id="25" name="Rectángulo 24">
              <a:extLst>
                <a:ext uri="{FF2B5EF4-FFF2-40B4-BE49-F238E27FC236}">
                  <a16:creationId xmlns:a16="http://schemas.microsoft.com/office/drawing/2014/main" id="{E6436DDB-F382-51DC-FF8A-82564B5C52BA}"/>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6" name="CuadroTexto 25">
              <a:extLst>
                <a:ext uri="{FF2B5EF4-FFF2-40B4-BE49-F238E27FC236}">
                  <a16:creationId xmlns:a16="http://schemas.microsoft.com/office/drawing/2014/main" id="{21D16F49-0E8F-7849-7E95-ED9DA0B8487F}"/>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27" name="Grupo 26">
            <a:extLst>
              <a:ext uri="{FF2B5EF4-FFF2-40B4-BE49-F238E27FC236}">
                <a16:creationId xmlns:a16="http://schemas.microsoft.com/office/drawing/2014/main" id="{5C821F92-832A-80B6-CC4C-04B3E6EF64BA}"/>
              </a:ext>
            </a:extLst>
          </p:cNvPr>
          <p:cNvGrpSpPr/>
          <p:nvPr/>
        </p:nvGrpSpPr>
        <p:grpSpPr>
          <a:xfrm>
            <a:off x="2396932" y="-340980"/>
            <a:ext cx="1140746" cy="1135380"/>
            <a:chOff x="2396932" y="-340980"/>
            <a:chExt cx="1140746" cy="1135380"/>
          </a:xfrm>
        </p:grpSpPr>
        <p:sp>
          <p:nvSpPr>
            <p:cNvPr id="28" name="Rectángulo 27">
              <a:extLst>
                <a:ext uri="{FF2B5EF4-FFF2-40B4-BE49-F238E27FC236}">
                  <a16:creationId xmlns:a16="http://schemas.microsoft.com/office/drawing/2014/main" id="{D5FE89F3-2986-856C-3043-CB5C1F6AF922}"/>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9" name="CuadroTexto 28">
              <a:extLst>
                <a:ext uri="{FF2B5EF4-FFF2-40B4-BE49-F238E27FC236}">
                  <a16:creationId xmlns:a16="http://schemas.microsoft.com/office/drawing/2014/main" id="{CDF2258C-6B3D-E1A2-46C6-81B45150D639}"/>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30" name="Grupo 29">
            <a:extLst>
              <a:ext uri="{FF2B5EF4-FFF2-40B4-BE49-F238E27FC236}">
                <a16:creationId xmlns:a16="http://schemas.microsoft.com/office/drawing/2014/main" id="{32B784FE-EF17-D645-ECF9-0692E2A46CFB}"/>
              </a:ext>
            </a:extLst>
          </p:cNvPr>
          <p:cNvGrpSpPr/>
          <p:nvPr/>
        </p:nvGrpSpPr>
        <p:grpSpPr>
          <a:xfrm>
            <a:off x="3863796" y="-1135380"/>
            <a:ext cx="1140746" cy="1135380"/>
            <a:chOff x="3863796" y="-340980"/>
            <a:chExt cx="1140746" cy="1135380"/>
          </a:xfrm>
        </p:grpSpPr>
        <p:sp>
          <p:nvSpPr>
            <p:cNvPr id="31" name="Rectángulo 30">
              <a:extLst>
                <a:ext uri="{FF2B5EF4-FFF2-40B4-BE49-F238E27FC236}">
                  <a16:creationId xmlns:a16="http://schemas.microsoft.com/office/drawing/2014/main" id="{5FC73DA8-B999-337F-9DFE-677C1CEB6878}"/>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2" name="CuadroTexto 31">
              <a:extLst>
                <a:ext uri="{FF2B5EF4-FFF2-40B4-BE49-F238E27FC236}">
                  <a16:creationId xmlns:a16="http://schemas.microsoft.com/office/drawing/2014/main" id="{61EFBA44-4458-71F0-D909-E493B53261D8}"/>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33" name="Grupo 32">
            <a:extLst>
              <a:ext uri="{FF2B5EF4-FFF2-40B4-BE49-F238E27FC236}">
                <a16:creationId xmlns:a16="http://schemas.microsoft.com/office/drawing/2014/main" id="{48FA7663-CF55-CE58-F2AD-3527B5FA339E}"/>
              </a:ext>
            </a:extLst>
          </p:cNvPr>
          <p:cNvGrpSpPr/>
          <p:nvPr/>
        </p:nvGrpSpPr>
        <p:grpSpPr>
          <a:xfrm>
            <a:off x="5330660" y="-1135380"/>
            <a:ext cx="1140746" cy="1135380"/>
            <a:chOff x="5330660" y="-340980"/>
            <a:chExt cx="1140746" cy="1135380"/>
          </a:xfrm>
        </p:grpSpPr>
        <p:sp>
          <p:nvSpPr>
            <p:cNvPr id="34" name="Rectángulo 33">
              <a:extLst>
                <a:ext uri="{FF2B5EF4-FFF2-40B4-BE49-F238E27FC236}">
                  <a16:creationId xmlns:a16="http://schemas.microsoft.com/office/drawing/2014/main" id="{A5A9A4E2-E802-7B94-06FE-6340BF7BDD37}"/>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5" name="CuadroTexto 34">
              <a:extLst>
                <a:ext uri="{FF2B5EF4-FFF2-40B4-BE49-F238E27FC236}">
                  <a16:creationId xmlns:a16="http://schemas.microsoft.com/office/drawing/2014/main" id="{8940820F-36C6-CEC1-084E-04A4DAA26671}"/>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36" name="Grupo 35">
            <a:extLst>
              <a:ext uri="{FF2B5EF4-FFF2-40B4-BE49-F238E27FC236}">
                <a16:creationId xmlns:a16="http://schemas.microsoft.com/office/drawing/2014/main" id="{5CC43E8B-BBF6-D73D-6239-A3C351127FA9}"/>
              </a:ext>
            </a:extLst>
          </p:cNvPr>
          <p:cNvGrpSpPr/>
          <p:nvPr/>
        </p:nvGrpSpPr>
        <p:grpSpPr>
          <a:xfrm>
            <a:off x="6797524" y="-1135380"/>
            <a:ext cx="1140746" cy="1135380"/>
            <a:chOff x="6820384" y="-340980"/>
            <a:chExt cx="1140746" cy="1135380"/>
          </a:xfrm>
        </p:grpSpPr>
        <p:sp>
          <p:nvSpPr>
            <p:cNvPr id="37" name="Rectángulo 36">
              <a:extLst>
                <a:ext uri="{FF2B5EF4-FFF2-40B4-BE49-F238E27FC236}">
                  <a16:creationId xmlns:a16="http://schemas.microsoft.com/office/drawing/2014/main" id="{FD4EC1A3-5ACF-C9E9-9DEB-08C7E0D366B9}"/>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8" name="CuadroTexto 37">
              <a:extLst>
                <a:ext uri="{FF2B5EF4-FFF2-40B4-BE49-F238E27FC236}">
                  <a16:creationId xmlns:a16="http://schemas.microsoft.com/office/drawing/2014/main" id="{192C2175-AED6-106E-FE23-46AF2855A062}"/>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grpSp>
        <p:nvGrpSpPr>
          <p:cNvPr id="19" name="Grupo 3">
            <a:extLst>
              <a:ext uri="{FF2B5EF4-FFF2-40B4-BE49-F238E27FC236}">
                <a16:creationId xmlns:a16="http://schemas.microsoft.com/office/drawing/2014/main" id="{A201E041-D891-B2EE-1F89-6984407D205B}"/>
              </a:ext>
            </a:extLst>
          </p:cNvPr>
          <p:cNvGrpSpPr/>
          <p:nvPr/>
        </p:nvGrpSpPr>
        <p:grpSpPr>
          <a:xfrm>
            <a:off x="2274731" y="1002484"/>
            <a:ext cx="6869269" cy="4144619"/>
            <a:chOff x="1771171" y="1002484"/>
            <a:chExt cx="6869269" cy="4144619"/>
          </a:xfrm>
        </p:grpSpPr>
        <p:pic>
          <p:nvPicPr>
            <p:cNvPr id="22" name="Imagen 8" descr="Mapa&#10;&#10;Descripción generada automáticamente">
              <a:extLst>
                <a:ext uri="{FF2B5EF4-FFF2-40B4-BE49-F238E27FC236}">
                  <a16:creationId xmlns:a16="http://schemas.microsoft.com/office/drawing/2014/main" id="{98367D2B-EDFF-2680-E5D0-05CB96A63ADA}"/>
                </a:ext>
              </a:extLst>
            </p:cNvPr>
            <p:cNvPicPr>
              <a:picLocks noChangeAspect="1"/>
            </p:cNvPicPr>
            <p:nvPr/>
          </p:nvPicPr>
          <p:blipFill rotWithShape="1">
            <a:blip r:embed="rId3"/>
            <a:srcRect l="1" t="7502" r="29605" b="7502"/>
            <a:stretch/>
          </p:blipFill>
          <p:spPr>
            <a:xfrm>
              <a:off x="1771172" y="1100139"/>
              <a:ext cx="6869268" cy="4046964"/>
            </a:xfrm>
            <a:prstGeom prst="rect">
              <a:avLst/>
            </a:prstGeom>
          </p:spPr>
        </p:pic>
        <p:sp>
          <p:nvSpPr>
            <p:cNvPr id="23" name="Triángulo rectángulo 1">
              <a:extLst>
                <a:ext uri="{FF2B5EF4-FFF2-40B4-BE49-F238E27FC236}">
                  <a16:creationId xmlns:a16="http://schemas.microsoft.com/office/drawing/2014/main" id="{67D5FEE0-D2E4-CFAF-2F26-DFDC9ED614C5}"/>
                </a:ext>
              </a:extLst>
            </p:cNvPr>
            <p:cNvSpPr/>
            <p:nvPr/>
          </p:nvSpPr>
          <p:spPr>
            <a:xfrm rot="10800000" flipH="1">
              <a:off x="1771171" y="1002484"/>
              <a:ext cx="3397177" cy="4141016"/>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oogle Shape;104;p3">
            <a:extLst>
              <a:ext uri="{FF2B5EF4-FFF2-40B4-BE49-F238E27FC236}">
                <a16:creationId xmlns:a16="http://schemas.microsoft.com/office/drawing/2014/main" id="{2CC8C069-31C4-04A9-2649-60D678C83099}"/>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261" y="1386841"/>
            <a:ext cx="1112866" cy="165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 descr="ArcGIS Survey123 - Apps en Google Play">
            <a:extLst>
              <a:ext uri="{FF2B5EF4-FFF2-40B4-BE49-F238E27FC236}">
                <a16:creationId xmlns:a16="http://schemas.microsoft.com/office/drawing/2014/main" id="{F586DE6E-2875-7458-D3E3-643DD735C3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6856" y="1806144"/>
            <a:ext cx="640220" cy="640220"/>
          </a:xfrm>
          <a:prstGeom prst="roundRect">
            <a:avLst>
              <a:gd name="adj" fmla="val 16341"/>
            </a:avLst>
          </a:prstGeom>
          <a:noFill/>
          <a:extLst>
            <a:ext uri="{909E8E84-426E-40DD-AFC4-6F175D3DCCD1}">
              <a14:hiddenFill xmlns:a14="http://schemas.microsoft.com/office/drawing/2010/main">
                <a:solidFill>
                  <a:srgbClr val="FFFFFF"/>
                </a:solidFill>
              </a14:hiddenFill>
            </a:ext>
          </a:extLst>
        </p:spPr>
      </p:pic>
      <p:sp>
        <p:nvSpPr>
          <p:cNvPr id="41" name="CuadroTexto 6">
            <a:extLst>
              <a:ext uri="{FF2B5EF4-FFF2-40B4-BE49-F238E27FC236}">
                <a16:creationId xmlns:a16="http://schemas.microsoft.com/office/drawing/2014/main" id="{D2E618D9-BF85-7F9E-0A7F-70D65BEB2266}"/>
              </a:ext>
            </a:extLst>
          </p:cNvPr>
          <p:cNvSpPr txBox="1"/>
          <p:nvPr/>
        </p:nvSpPr>
        <p:spPr>
          <a:xfrm>
            <a:off x="2127556" y="1895421"/>
            <a:ext cx="1098314" cy="461665"/>
          </a:xfrm>
          <a:prstGeom prst="rect">
            <a:avLst/>
          </a:prstGeom>
          <a:noFill/>
        </p:spPr>
        <p:txBody>
          <a:bodyPr wrap="square" rtlCol="0">
            <a:spAutoFit/>
          </a:bodyPr>
          <a:lstStyle/>
          <a:p>
            <a:r>
              <a:rPr lang="es-MX" sz="1200" b="1" dirty="0">
                <a:solidFill>
                  <a:srgbClr val="3F3151"/>
                </a:solidFill>
              </a:rPr>
              <a:t>ArcGIS</a:t>
            </a:r>
          </a:p>
          <a:p>
            <a:r>
              <a:rPr lang="es-MX" sz="1200" b="1" dirty="0">
                <a:solidFill>
                  <a:srgbClr val="3F3151"/>
                </a:solidFill>
              </a:rPr>
              <a:t>Survey123</a:t>
            </a:r>
            <a:endParaRPr lang="en-US" sz="1200" b="1" dirty="0">
              <a:solidFill>
                <a:srgbClr val="3F3151"/>
              </a:solidFill>
            </a:endParaRPr>
          </a:p>
        </p:txBody>
      </p:sp>
      <p:pic>
        <p:nvPicPr>
          <p:cNvPr id="42" name="Imagen 18" descr="Imagen de la pantalla de un computador&#10;&#10;Descripción generada automáticamente con confianza baja">
            <a:extLst>
              <a:ext uri="{FF2B5EF4-FFF2-40B4-BE49-F238E27FC236}">
                <a16:creationId xmlns:a16="http://schemas.microsoft.com/office/drawing/2014/main" id="{7FB55B45-901F-54E3-3E13-BFB92E76FDEB}"/>
              </a:ext>
            </a:extLst>
          </p:cNvPr>
          <p:cNvPicPr>
            <a:picLocks noChangeAspect="1"/>
          </p:cNvPicPr>
          <p:nvPr/>
        </p:nvPicPr>
        <p:blipFill rotWithShape="1">
          <a:blip r:embed="rId6"/>
          <a:srcRect l="16284" t="17172" r="12617" b="17778"/>
          <a:stretch/>
        </p:blipFill>
        <p:spPr>
          <a:xfrm>
            <a:off x="484090" y="3447383"/>
            <a:ext cx="1823612" cy="1147186"/>
          </a:xfrm>
          <a:prstGeom prst="rect">
            <a:avLst/>
          </a:prstGeom>
        </p:spPr>
      </p:pic>
      <p:pic>
        <p:nvPicPr>
          <p:cNvPr id="43" name="Picture 2">
            <a:extLst>
              <a:ext uri="{FF2B5EF4-FFF2-40B4-BE49-F238E27FC236}">
                <a16:creationId xmlns:a16="http://schemas.microsoft.com/office/drawing/2014/main" id="{81EA258E-3917-DC1E-4981-F7D1A04B3D8E}"/>
              </a:ext>
            </a:extLst>
          </p:cNvPr>
          <p:cNvPicPr>
            <a:picLocks noChangeAspect="1" noChangeArrowheads="1"/>
          </p:cNvPicPr>
          <p:nvPr/>
        </p:nvPicPr>
        <p:blipFill>
          <a:blip r:embed="rId7"/>
          <a:srcRect/>
          <a:stretch/>
        </p:blipFill>
        <p:spPr bwMode="auto">
          <a:xfrm>
            <a:off x="1456857" y="3541574"/>
            <a:ext cx="640220" cy="640220"/>
          </a:xfrm>
          <a:prstGeom prst="roundRect">
            <a:avLst>
              <a:gd name="adj" fmla="val 16341"/>
            </a:avLst>
          </a:prstGeom>
          <a:noFill/>
          <a:extLst>
            <a:ext uri="{909E8E84-426E-40DD-AFC4-6F175D3DCCD1}">
              <a14:hiddenFill xmlns:a14="http://schemas.microsoft.com/office/drawing/2010/main">
                <a:solidFill>
                  <a:srgbClr val="FFFFFF"/>
                </a:solidFill>
              </a14:hiddenFill>
            </a:ext>
          </a:extLst>
        </p:spPr>
      </p:pic>
      <p:sp>
        <p:nvSpPr>
          <p:cNvPr id="44" name="CuadroTexto 15">
            <a:extLst>
              <a:ext uri="{FF2B5EF4-FFF2-40B4-BE49-F238E27FC236}">
                <a16:creationId xmlns:a16="http://schemas.microsoft.com/office/drawing/2014/main" id="{1B409887-29C4-7964-D560-8C11BAE9EFA9}"/>
              </a:ext>
            </a:extLst>
          </p:cNvPr>
          <p:cNvSpPr txBox="1"/>
          <p:nvPr/>
        </p:nvSpPr>
        <p:spPr>
          <a:xfrm>
            <a:off x="2123016" y="3630851"/>
            <a:ext cx="1098314" cy="461665"/>
          </a:xfrm>
          <a:prstGeom prst="rect">
            <a:avLst/>
          </a:prstGeom>
          <a:noFill/>
        </p:spPr>
        <p:txBody>
          <a:bodyPr wrap="square" rtlCol="0">
            <a:spAutoFit/>
          </a:bodyPr>
          <a:lstStyle/>
          <a:p>
            <a:r>
              <a:rPr lang="es-MX" sz="1200" b="1" dirty="0">
                <a:solidFill>
                  <a:srgbClr val="3F3151"/>
                </a:solidFill>
              </a:rPr>
              <a:t>ArcGIS</a:t>
            </a:r>
          </a:p>
          <a:p>
            <a:r>
              <a:rPr lang="es-MX" sz="1200" b="1" dirty="0">
                <a:solidFill>
                  <a:srgbClr val="3F3151"/>
                </a:solidFill>
              </a:rPr>
              <a:t>Field </a:t>
            </a:r>
            <a:r>
              <a:rPr lang="es-MX" sz="1200" b="1" dirty="0" err="1">
                <a:solidFill>
                  <a:srgbClr val="3F3151"/>
                </a:solidFill>
              </a:rPr>
              <a:t>Maps</a:t>
            </a:r>
            <a:endParaRPr lang="en-US" sz="1200" b="1" dirty="0">
              <a:solidFill>
                <a:srgbClr val="3F3151"/>
              </a:solidFill>
            </a:endParaRPr>
          </a:p>
        </p:txBody>
      </p:sp>
      <p:pic>
        <p:nvPicPr>
          <p:cNvPr id="45" name="Picture 2">
            <a:extLst>
              <a:ext uri="{FF2B5EF4-FFF2-40B4-BE49-F238E27FC236}">
                <a16:creationId xmlns:a16="http://schemas.microsoft.com/office/drawing/2014/main" id="{2561EDA9-65B1-13DC-2C34-20F62F36ED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0469" y="2078869"/>
            <a:ext cx="1817892" cy="1551982"/>
          </a:xfrm>
          <a:prstGeom prst="roundRect">
            <a:avLst>
              <a:gd name="adj" fmla="val 2607"/>
            </a:avLst>
          </a:prstGeom>
          <a:solidFill>
            <a:srgbClr val="FFFFFF">
              <a:shade val="85000"/>
            </a:srgbClr>
          </a:solidFill>
          <a:ln w="104775">
            <a:solidFill>
              <a:schemeClr val="bg1"/>
            </a:solidFill>
            <a:miter lim="800000"/>
            <a:headEnd/>
            <a:tailEnd/>
          </a:ln>
          <a:effectLst/>
        </p:spPr>
      </p:pic>
    </p:spTree>
    <p:extLst>
      <p:ext uri="{BB962C8B-B14F-4D97-AF65-F5344CB8AC3E}">
        <p14:creationId xmlns:p14="http://schemas.microsoft.com/office/powerpoint/2010/main" val="881042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upo 23">
            <a:extLst>
              <a:ext uri="{FF2B5EF4-FFF2-40B4-BE49-F238E27FC236}">
                <a16:creationId xmlns:a16="http://schemas.microsoft.com/office/drawing/2014/main" id="{5823D076-689F-AE09-A19F-0FEE7FF11E9E}"/>
              </a:ext>
            </a:extLst>
          </p:cNvPr>
          <p:cNvGrpSpPr/>
          <p:nvPr/>
        </p:nvGrpSpPr>
        <p:grpSpPr>
          <a:xfrm>
            <a:off x="930068" y="-1135380"/>
            <a:ext cx="1140746" cy="1135380"/>
            <a:chOff x="930068" y="-340980"/>
            <a:chExt cx="1140746" cy="1135380"/>
          </a:xfrm>
        </p:grpSpPr>
        <p:sp>
          <p:nvSpPr>
            <p:cNvPr id="25" name="Rectángulo 24">
              <a:extLst>
                <a:ext uri="{FF2B5EF4-FFF2-40B4-BE49-F238E27FC236}">
                  <a16:creationId xmlns:a16="http://schemas.microsoft.com/office/drawing/2014/main" id="{E6436DDB-F382-51DC-FF8A-82564B5C52BA}"/>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6" name="CuadroTexto 25">
              <a:extLst>
                <a:ext uri="{FF2B5EF4-FFF2-40B4-BE49-F238E27FC236}">
                  <a16:creationId xmlns:a16="http://schemas.microsoft.com/office/drawing/2014/main" id="{21D16F49-0E8F-7849-7E95-ED9DA0B8487F}"/>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27" name="Grupo 26">
            <a:extLst>
              <a:ext uri="{FF2B5EF4-FFF2-40B4-BE49-F238E27FC236}">
                <a16:creationId xmlns:a16="http://schemas.microsoft.com/office/drawing/2014/main" id="{5C821F92-832A-80B6-CC4C-04B3E6EF64BA}"/>
              </a:ext>
            </a:extLst>
          </p:cNvPr>
          <p:cNvGrpSpPr/>
          <p:nvPr/>
        </p:nvGrpSpPr>
        <p:grpSpPr>
          <a:xfrm>
            <a:off x="2396932" y="-340980"/>
            <a:ext cx="1140746" cy="1135380"/>
            <a:chOff x="2396932" y="-340980"/>
            <a:chExt cx="1140746" cy="1135380"/>
          </a:xfrm>
        </p:grpSpPr>
        <p:sp>
          <p:nvSpPr>
            <p:cNvPr id="28" name="Rectángulo 27">
              <a:extLst>
                <a:ext uri="{FF2B5EF4-FFF2-40B4-BE49-F238E27FC236}">
                  <a16:creationId xmlns:a16="http://schemas.microsoft.com/office/drawing/2014/main" id="{D5FE89F3-2986-856C-3043-CB5C1F6AF922}"/>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9" name="CuadroTexto 28">
              <a:extLst>
                <a:ext uri="{FF2B5EF4-FFF2-40B4-BE49-F238E27FC236}">
                  <a16:creationId xmlns:a16="http://schemas.microsoft.com/office/drawing/2014/main" id="{CDF2258C-6B3D-E1A2-46C6-81B45150D639}"/>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30" name="Grupo 29">
            <a:extLst>
              <a:ext uri="{FF2B5EF4-FFF2-40B4-BE49-F238E27FC236}">
                <a16:creationId xmlns:a16="http://schemas.microsoft.com/office/drawing/2014/main" id="{32B784FE-EF17-D645-ECF9-0692E2A46CFB}"/>
              </a:ext>
            </a:extLst>
          </p:cNvPr>
          <p:cNvGrpSpPr/>
          <p:nvPr/>
        </p:nvGrpSpPr>
        <p:grpSpPr>
          <a:xfrm>
            <a:off x="3863796" y="-1135380"/>
            <a:ext cx="1140746" cy="1135380"/>
            <a:chOff x="3863796" y="-340980"/>
            <a:chExt cx="1140746" cy="1135380"/>
          </a:xfrm>
        </p:grpSpPr>
        <p:sp>
          <p:nvSpPr>
            <p:cNvPr id="31" name="Rectángulo 30">
              <a:extLst>
                <a:ext uri="{FF2B5EF4-FFF2-40B4-BE49-F238E27FC236}">
                  <a16:creationId xmlns:a16="http://schemas.microsoft.com/office/drawing/2014/main" id="{5FC73DA8-B999-337F-9DFE-677C1CEB6878}"/>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2" name="CuadroTexto 31">
              <a:extLst>
                <a:ext uri="{FF2B5EF4-FFF2-40B4-BE49-F238E27FC236}">
                  <a16:creationId xmlns:a16="http://schemas.microsoft.com/office/drawing/2014/main" id="{61EFBA44-4458-71F0-D909-E493B53261D8}"/>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33" name="Grupo 32">
            <a:extLst>
              <a:ext uri="{FF2B5EF4-FFF2-40B4-BE49-F238E27FC236}">
                <a16:creationId xmlns:a16="http://schemas.microsoft.com/office/drawing/2014/main" id="{48FA7663-CF55-CE58-F2AD-3527B5FA339E}"/>
              </a:ext>
            </a:extLst>
          </p:cNvPr>
          <p:cNvGrpSpPr/>
          <p:nvPr/>
        </p:nvGrpSpPr>
        <p:grpSpPr>
          <a:xfrm>
            <a:off x="5330660" y="-1135380"/>
            <a:ext cx="1140746" cy="1135380"/>
            <a:chOff x="5330660" y="-340980"/>
            <a:chExt cx="1140746" cy="1135380"/>
          </a:xfrm>
        </p:grpSpPr>
        <p:sp>
          <p:nvSpPr>
            <p:cNvPr id="34" name="Rectángulo 33">
              <a:extLst>
                <a:ext uri="{FF2B5EF4-FFF2-40B4-BE49-F238E27FC236}">
                  <a16:creationId xmlns:a16="http://schemas.microsoft.com/office/drawing/2014/main" id="{A5A9A4E2-E802-7B94-06FE-6340BF7BDD37}"/>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5" name="CuadroTexto 34">
              <a:extLst>
                <a:ext uri="{FF2B5EF4-FFF2-40B4-BE49-F238E27FC236}">
                  <a16:creationId xmlns:a16="http://schemas.microsoft.com/office/drawing/2014/main" id="{8940820F-36C6-CEC1-084E-04A4DAA26671}"/>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36" name="Grupo 35">
            <a:extLst>
              <a:ext uri="{FF2B5EF4-FFF2-40B4-BE49-F238E27FC236}">
                <a16:creationId xmlns:a16="http://schemas.microsoft.com/office/drawing/2014/main" id="{5CC43E8B-BBF6-D73D-6239-A3C351127FA9}"/>
              </a:ext>
            </a:extLst>
          </p:cNvPr>
          <p:cNvGrpSpPr/>
          <p:nvPr/>
        </p:nvGrpSpPr>
        <p:grpSpPr>
          <a:xfrm>
            <a:off x="6797524" y="-1135380"/>
            <a:ext cx="1140746" cy="1135380"/>
            <a:chOff x="6820384" y="-340980"/>
            <a:chExt cx="1140746" cy="1135380"/>
          </a:xfrm>
        </p:grpSpPr>
        <p:sp>
          <p:nvSpPr>
            <p:cNvPr id="37" name="Rectángulo 36">
              <a:extLst>
                <a:ext uri="{FF2B5EF4-FFF2-40B4-BE49-F238E27FC236}">
                  <a16:creationId xmlns:a16="http://schemas.microsoft.com/office/drawing/2014/main" id="{FD4EC1A3-5ACF-C9E9-9DEB-08C7E0D366B9}"/>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8" name="CuadroTexto 37">
              <a:extLst>
                <a:ext uri="{FF2B5EF4-FFF2-40B4-BE49-F238E27FC236}">
                  <a16:creationId xmlns:a16="http://schemas.microsoft.com/office/drawing/2014/main" id="{192C2175-AED6-106E-FE23-46AF2855A062}"/>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
        <p:nvSpPr>
          <p:cNvPr id="20" name="CuadroTexto 12">
            <a:extLst>
              <a:ext uri="{FF2B5EF4-FFF2-40B4-BE49-F238E27FC236}">
                <a16:creationId xmlns:a16="http://schemas.microsoft.com/office/drawing/2014/main" id="{B437B921-5288-95A9-0E68-1BE807F72E69}"/>
              </a:ext>
            </a:extLst>
          </p:cNvPr>
          <p:cNvSpPr txBox="1"/>
          <p:nvPr/>
        </p:nvSpPr>
        <p:spPr>
          <a:xfrm>
            <a:off x="3137103" y="1382986"/>
            <a:ext cx="5537595" cy="3191708"/>
          </a:xfrm>
          <a:prstGeom prst="rect">
            <a:avLst/>
          </a:prstGeom>
          <a:noFill/>
        </p:spPr>
        <p:txBody>
          <a:bodyPr wrap="square">
            <a:spAutoFit/>
          </a:bodyPr>
          <a:lstStyle/>
          <a:p>
            <a:pPr eaLnBrk="1" hangingPunct="1"/>
            <a:r>
              <a:rPr lang="es-ES" altLang="en-US" sz="1800" b="1" dirty="0">
                <a:solidFill>
                  <a:srgbClr val="3F3151"/>
                </a:solidFill>
                <a:latin typeface="+mn-lt"/>
                <a:ea typeface="Calibri"/>
                <a:sym typeface="Calibri" panose="020F0502020204030204" pitchFamily="34" charset="0"/>
              </a:rPr>
              <a:t>La Plataforma Tecnológica permitió:</a:t>
            </a:r>
          </a:p>
          <a:p>
            <a:pPr eaLnBrk="1" hangingPunct="1"/>
            <a:endParaRPr lang="en-US" altLang="en-US" sz="1800" b="1"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en la planificación censal. </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en la gestión y control  de las actividades de campo. </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en el seguimiento y control de la cobertura censal.</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 de la calidad de los datos durante la captura.</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Enriquecer el análisis al integrar datos con información geoespacial.</a:t>
            </a:r>
            <a:endParaRPr lang="en-US" altLang="en-US" dirty="0">
              <a:solidFill>
                <a:srgbClr val="3F3151"/>
              </a:solidFill>
              <a:latin typeface="+mn-lt"/>
              <a:ea typeface="Calibri"/>
            </a:endParaRPr>
          </a:p>
          <a:p>
            <a:pPr marL="342900" indent="-342900" eaLnBrk="1" hangingPunct="1">
              <a:lnSpc>
                <a:spcPct val="150000"/>
              </a:lnSpc>
              <a:buFont typeface="+mj-lt"/>
              <a:buAutoNum type="arabicPeriod"/>
            </a:pPr>
            <a:r>
              <a:rPr lang="es-ES" altLang="en-US" dirty="0">
                <a:solidFill>
                  <a:srgbClr val="3F3151"/>
                </a:solidFill>
                <a:latin typeface="+mn-lt"/>
                <a:ea typeface="Calibri"/>
                <a:sym typeface="Calibri" panose="020F0502020204030204" pitchFamily="34" charset="0"/>
              </a:rPr>
              <a:t>Mejorar la infraestructura estadística e infraestructura geoespacial.</a:t>
            </a:r>
            <a:endParaRPr lang="en-US" altLang="en-US" dirty="0">
              <a:solidFill>
                <a:srgbClr val="3F3151"/>
              </a:solidFill>
              <a:latin typeface="+mn-lt"/>
              <a:ea typeface="Calibri"/>
              <a:sym typeface="Calibri" panose="020F0502020204030204" pitchFamily="34" charset="0"/>
            </a:endParaRPr>
          </a:p>
        </p:txBody>
      </p:sp>
      <p:pic>
        <p:nvPicPr>
          <p:cNvPr id="21" name="Google Shape;104;p3">
            <a:extLst>
              <a:ext uri="{FF2B5EF4-FFF2-40B4-BE49-F238E27FC236}">
                <a16:creationId xmlns:a16="http://schemas.microsoft.com/office/drawing/2014/main" id="{92324DD5-A1C7-D022-6B84-FB53856B499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722" y="1168568"/>
            <a:ext cx="2430741" cy="3620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9179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42" presetClass="entr" presetSubtype="0" fill="hold" grpId="0" nodeType="withEffect">
                                  <p:stCondLst>
                                    <p:cond delay="5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anim calcmode="lin" valueType="num">
                                      <p:cBhvr>
                                        <p:cTn id="11" dur="1000" fill="hold"/>
                                        <p:tgtEl>
                                          <p:spTgt spid="20"/>
                                        </p:tgtEl>
                                        <p:attrNameLst>
                                          <p:attrName>ppt_x</p:attrName>
                                        </p:attrNameLst>
                                      </p:cBhvr>
                                      <p:tavLst>
                                        <p:tav tm="0">
                                          <p:val>
                                            <p:strVal val="#ppt_x"/>
                                          </p:val>
                                        </p:tav>
                                        <p:tav tm="100000">
                                          <p:val>
                                            <p:strVal val="#ppt_x"/>
                                          </p:val>
                                        </p:tav>
                                      </p:tavLst>
                                    </p:anim>
                                    <p:anim calcmode="lin" valueType="num">
                                      <p:cBhvr>
                                        <p:cTn id="1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9D230042-1CDD-EF69-53EE-8F4BC10F27DC}"/>
              </a:ext>
            </a:extLst>
          </p:cNvPr>
          <p:cNvGrpSpPr/>
          <p:nvPr/>
        </p:nvGrpSpPr>
        <p:grpSpPr>
          <a:xfrm>
            <a:off x="930068" y="-1135380"/>
            <a:ext cx="1140746" cy="1135380"/>
            <a:chOff x="930068" y="-340980"/>
            <a:chExt cx="1140746" cy="1135380"/>
          </a:xfrm>
        </p:grpSpPr>
        <p:sp>
          <p:nvSpPr>
            <p:cNvPr id="12" name="Rectángulo 11">
              <a:extLst>
                <a:ext uri="{FF2B5EF4-FFF2-40B4-BE49-F238E27FC236}">
                  <a16:creationId xmlns:a16="http://schemas.microsoft.com/office/drawing/2014/main" id="{DEC0CDED-BB02-F1D5-49C8-5C3D84F698DB}"/>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CuadroTexto 13">
              <a:extLst>
                <a:ext uri="{FF2B5EF4-FFF2-40B4-BE49-F238E27FC236}">
                  <a16:creationId xmlns:a16="http://schemas.microsoft.com/office/drawing/2014/main" id="{541D8D16-272B-2163-6421-A526F225C7BE}"/>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Temáticas</a:t>
              </a:r>
              <a:endParaRPr lang="en-US" sz="1000" b="1" dirty="0">
                <a:solidFill>
                  <a:schemeClr val="bg1"/>
                </a:solidFill>
              </a:endParaRPr>
            </a:p>
          </p:txBody>
        </p:sp>
      </p:grpSp>
      <p:grpSp>
        <p:nvGrpSpPr>
          <p:cNvPr id="16" name="Grupo 15">
            <a:extLst>
              <a:ext uri="{FF2B5EF4-FFF2-40B4-BE49-F238E27FC236}">
                <a16:creationId xmlns:a16="http://schemas.microsoft.com/office/drawing/2014/main" id="{9823C8FA-29DD-0896-AB78-16ED6C34D848}"/>
              </a:ext>
            </a:extLst>
          </p:cNvPr>
          <p:cNvGrpSpPr/>
          <p:nvPr/>
        </p:nvGrpSpPr>
        <p:grpSpPr>
          <a:xfrm>
            <a:off x="2396932" y="-1131510"/>
            <a:ext cx="1140746" cy="1135380"/>
            <a:chOff x="2396932" y="-340980"/>
            <a:chExt cx="1140746" cy="1135380"/>
          </a:xfrm>
        </p:grpSpPr>
        <p:sp>
          <p:nvSpPr>
            <p:cNvPr id="18" name="Rectángulo 17">
              <a:extLst>
                <a:ext uri="{FF2B5EF4-FFF2-40B4-BE49-F238E27FC236}">
                  <a16:creationId xmlns:a16="http://schemas.microsoft.com/office/drawing/2014/main" id="{C51DCEC2-7873-5BF2-2F13-C25BA31D1F46}"/>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9" name="CuadroTexto 18">
              <a:extLst>
                <a:ext uri="{FF2B5EF4-FFF2-40B4-BE49-F238E27FC236}">
                  <a16:creationId xmlns:a16="http://schemas.microsoft.com/office/drawing/2014/main" id="{18943351-D1C2-C01A-9304-D7FFCF6B18DE}"/>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20" name="Grupo 19">
            <a:extLst>
              <a:ext uri="{FF2B5EF4-FFF2-40B4-BE49-F238E27FC236}">
                <a16:creationId xmlns:a16="http://schemas.microsoft.com/office/drawing/2014/main" id="{19AA066D-4E85-8C64-B9FD-2E0D3FED7CFF}"/>
              </a:ext>
            </a:extLst>
          </p:cNvPr>
          <p:cNvGrpSpPr/>
          <p:nvPr/>
        </p:nvGrpSpPr>
        <p:grpSpPr>
          <a:xfrm>
            <a:off x="3863796" y="-340980"/>
            <a:ext cx="1140746" cy="1135380"/>
            <a:chOff x="3863796" y="-340980"/>
            <a:chExt cx="1140746" cy="1135380"/>
          </a:xfrm>
        </p:grpSpPr>
        <p:sp>
          <p:nvSpPr>
            <p:cNvPr id="22" name="Rectángulo 21">
              <a:extLst>
                <a:ext uri="{FF2B5EF4-FFF2-40B4-BE49-F238E27FC236}">
                  <a16:creationId xmlns:a16="http://schemas.microsoft.com/office/drawing/2014/main" id="{7B13E89A-108A-7DB1-C202-2514BA61796D}"/>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4" name="CuadroTexto 23">
              <a:extLst>
                <a:ext uri="{FF2B5EF4-FFF2-40B4-BE49-F238E27FC236}">
                  <a16:creationId xmlns:a16="http://schemas.microsoft.com/office/drawing/2014/main" id="{61D59D75-4046-AA25-3F1F-7C670ED9A7A1}"/>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26" name="Grupo 25">
            <a:extLst>
              <a:ext uri="{FF2B5EF4-FFF2-40B4-BE49-F238E27FC236}">
                <a16:creationId xmlns:a16="http://schemas.microsoft.com/office/drawing/2014/main" id="{6C8700E3-9553-7404-EDD1-8D18797E6653}"/>
              </a:ext>
            </a:extLst>
          </p:cNvPr>
          <p:cNvGrpSpPr/>
          <p:nvPr/>
        </p:nvGrpSpPr>
        <p:grpSpPr>
          <a:xfrm>
            <a:off x="5330660" y="-1135380"/>
            <a:ext cx="1140746" cy="1135380"/>
            <a:chOff x="5330660" y="-340980"/>
            <a:chExt cx="1140746" cy="1135380"/>
          </a:xfrm>
        </p:grpSpPr>
        <p:sp>
          <p:nvSpPr>
            <p:cNvPr id="28" name="Rectángulo 27">
              <a:extLst>
                <a:ext uri="{FF2B5EF4-FFF2-40B4-BE49-F238E27FC236}">
                  <a16:creationId xmlns:a16="http://schemas.microsoft.com/office/drawing/2014/main" id="{B725BA06-ED9B-12A8-40A8-75BA4392B907}"/>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0" name="CuadroTexto 29">
              <a:extLst>
                <a:ext uri="{FF2B5EF4-FFF2-40B4-BE49-F238E27FC236}">
                  <a16:creationId xmlns:a16="http://schemas.microsoft.com/office/drawing/2014/main" id="{C5135029-E1A0-09A8-D283-BE0AFB927F1D}"/>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31" name="Grupo 30">
            <a:extLst>
              <a:ext uri="{FF2B5EF4-FFF2-40B4-BE49-F238E27FC236}">
                <a16:creationId xmlns:a16="http://schemas.microsoft.com/office/drawing/2014/main" id="{CAFE54E6-4AB3-7AA9-37CE-24681E5585D6}"/>
              </a:ext>
            </a:extLst>
          </p:cNvPr>
          <p:cNvGrpSpPr/>
          <p:nvPr/>
        </p:nvGrpSpPr>
        <p:grpSpPr>
          <a:xfrm>
            <a:off x="6797524" y="-1135380"/>
            <a:ext cx="1140746" cy="1135380"/>
            <a:chOff x="6820384" y="-340980"/>
            <a:chExt cx="1140746" cy="1135380"/>
          </a:xfrm>
        </p:grpSpPr>
        <p:sp>
          <p:nvSpPr>
            <p:cNvPr id="32" name="Rectángulo 31">
              <a:extLst>
                <a:ext uri="{FF2B5EF4-FFF2-40B4-BE49-F238E27FC236}">
                  <a16:creationId xmlns:a16="http://schemas.microsoft.com/office/drawing/2014/main" id="{640C51F1-A6C3-10B5-C259-88A1B79CE171}"/>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3" name="CuadroTexto 32">
              <a:extLst>
                <a:ext uri="{FF2B5EF4-FFF2-40B4-BE49-F238E27FC236}">
                  <a16:creationId xmlns:a16="http://schemas.microsoft.com/office/drawing/2014/main" id="{24FC8095-5C2F-707E-AA04-DBE31449BB18}"/>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
        <p:nvSpPr>
          <p:cNvPr id="34" name="Google Shape;126;p5">
            <a:extLst>
              <a:ext uri="{FF2B5EF4-FFF2-40B4-BE49-F238E27FC236}">
                <a16:creationId xmlns:a16="http://schemas.microsoft.com/office/drawing/2014/main" id="{56D1CDE3-0B33-02F1-7C9E-532DDAE40FD5}"/>
              </a:ext>
            </a:extLst>
          </p:cNvPr>
          <p:cNvSpPr txBox="1">
            <a:spLocks noChangeArrowheads="1"/>
          </p:cNvSpPr>
          <p:nvPr/>
        </p:nvSpPr>
        <p:spPr bwMode="auto">
          <a:xfrm>
            <a:off x="931247" y="1091587"/>
            <a:ext cx="7001697" cy="774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marL="1143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buClr>
                <a:schemeClr val="accent1"/>
              </a:buClr>
              <a:buSzPts val="1800"/>
              <a:buFont typeface="Noto Sans Symbols"/>
              <a:buNone/>
            </a:pPr>
            <a:r>
              <a:rPr lang="es-ES" altLang="en-US" dirty="0">
                <a:solidFill>
                  <a:srgbClr val="3F3151"/>
                </a:solidFill>
                <a:latin typeface="+mn-lt"/>
                <a:sym typeface="Calibri" panose="020F0502020204030204" pitchFamily="34" charset="0"/>
              </a:rPr>
              <a:t>El levantamiento de los datos se desarrolló en </a:t>
            </a:r>
            <a:r>
              <a:rPr lang="es-ES" altLang="en-US" b="1" dirty="0">
                <a:solidFill>
                  <a:srgbClr val="3F3151"/>
                </a:solidFill>
                <a:latin typeface="+mn-lt"/>
                <a:sym typeface="Calibri" panose="020F0502020204030204" pitchFamily="34" charset="0"/>
              </a:rPr>
              <a:t>4 etapas</a:t>
            </a:r>
            <a:r>
              <a:rPr lang="es-ES" altLang="en-US" dirty="0">
                <a:solidFill>
                  <a:srgbClr val="3F3151"/>
                </a:solidFill>
                <a:latin typeface="+mn-lt"/>
                <a:sym typeface="Calibri" panose="020F0502020204030204" pitchFamily="34" charset="0"/>
              </a:rPr>
              <a:t>. Cada etapa de levantamiento duró aproximadamente </a:t>
            </a:r>
            <a:r>
              <a:rPr lang="es-ES" altLang="en-US" b="1" dirty="0">
                <a:solidFill>
                  <a:srgbClr val="3F3151"/>
                </a:solidFill>
                <a:latin typeface="+mn-lt"/>
                <a:sym typeface="Calibri" panose="020F0502020204030204" pitchFamily="34" charset="0"/>
              </a:rPr>
              <a:t>un mes</a:t>
            </a:r>
            <a:r>
              <a:rPr lang="es-ES" altLang="en-US" dirty="0">
                <a:solidFill>
                  <a:srgbClr val="3F3151"/>
                </a:solidFill>
                <a:latin typeface="+mn-lt"/>
                <a:sym typeface="Calibri" panose="020F0502020204030204" pitchFamily="34" charset="0"/>
              </a:rPr>
              <a:t>. (Mes de inicio: </a:t>
            </a:r>
            <a:r>
              <a:rPr lang="es-ES" altLang="en-US" b="1" dirty="0">
                <a:solidFill>
                  <a:srgbClr val="3F3151"/>
                </a:solidFill>
                <a:latin typeface="+mn-lt"/>
                <a:sym typeface="Calibri" panose="020F0502020204030204" pitchFamily="34" charset="0"/>
              </a:rPr>
              <a:t>Agosto</a:t>
            </a:r>
            <a:r>
              <a:rPr lang="es-ES" altLang="en-US" dirty="0">
                <a:solidFill>
                  <a:srgbClr val="3F3151"/>
                </a:solidFill>
                <a:latin typeface="+mn-lt"/>
                <a:sym typeface="Calibri" panose="020F0502020204030204" pitchFamily="34" charset="0"/>
              </a:rPr>
              <a:t> del 2022;  Mes de finalización: </a:t>
            </a:r>
            <a:r>
              <a:rPr lang="es-ES" altLang="en-US" b="1" dirty="0">
                <a:solidFill>
                  <a:srgbClr val="3F3151"/>
                </a:solidFill>
                <a:latin typeface="+mn-lt"/>
                <a:sym typeface="Calibri" panose="020F0502020204030204" pitchFamily="34" charset="0"/>
              </a:rPr>
              <a:t>Noviembre</a:t>
            </a:r>
            <a:r>
              <a:rPr lang="es-ES" altLang="en-US" dirty="0">
                <a:solidFill>
                  <a:srgbClr val="3F3151"/>
                </a:solidFill>
                <a:latin typeface="+mn-lt"/>
                <a:sym typeface="Calibri" panose="020F0502020204030204" pitchFamily="34" charset="0"/>
              </a:rPr>
              <a:t> del 2022). </a:t>
            </a:r>
            <a:endParaRPr lang="en-US" altLang="en-US" dirty="0">
              <a:solidFill>
                <a:srgbClr val="3F3151"/>
              </a:solidFill>
              <a:latin typeface="+mn-lt"/>
            </a:endParaRPr>
          </a:p>
        </p:txBody>
      </p:sp>
      <p:pic>
        <p:nvPicPr>
          <p:cNvPr id="35" name="Google Shape;127;p5" descr="C:\Users\DELL\Desktop\Resultados preliminares_Consultas\Imagenes CAN2022\Por etapa.jpg">
            <a:extLst>
              <a:ext uri="{FF2B5EF4-FFF2-40B4-BE49-F238E27FC236}">
                <a16:creationId xmlns:a16="http://schemas.microsoft.com/office/drawing/2014/main" id="{B82E609C-904F-139B-C977-AEDFF86022AB}"/>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234" y="1997375"/>
            <a:ext cx="3095473" cy="291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6" name="Google Shape;128;p5">
            <a:extLst>
              <a:ext uri="{FF2B5EF4-FFF2-40B4-BE49-F238E27FC236}">
                <a16:creationId xmlns:a16="http://schemas.microsoft.com/office/drawing/2014/main" id="{5DCCB702-00D2-D920-1A21-04CFEDF7B00E}"/>
              </a:ext>
            </a:extLst>
          </p:cNvPr>
          <p:cNvGraphicFramePr/>
          <p:nvPr>
            <p:extLst>
              <p:ext uri="{D42A27DB-BD31-4B8C-83A1-F6EECF244321}">
                <p14:modId xmlns:p14="http://schemas.microsoft.com/office/powerpoint/2010/main" val="2029721641"/>
              </p:ext>
            </p:extLst>
          </p:nvPr>
        </p:nvGraphicFramePr>
        <p:xfrm>
          <a:off x="4719483" y="1997374"/>
          <a:ext cx="3211461" cy="2744231"/>
        </p:xfrm>
        <a:graphic>
          <a:graphicData uri="http://schemas.openxmlformats.org/drawingml/2006/table">
            <a:tbl>
              <a:tblPr>
                <a:noFill/>
                <a:tableStyleId>{ECC5837C-2B13-4750-861C-9471ECC577D8}</a:tableStyleId>
              </a:tblPr>
              <a:tblGrid>
                <a:gridCol w="2319390">
                  <a:extLst>
                    <a:ext uri="{9D8B030D-6E8A-4147-A177-3AD203B41FA5}">
                      <a16:colId xmlns:a16="http://schemas.microsoft.com/office/drawing/2014/main" val="20000"/>
                    </a:ext>
                  </a:extLst>
                </a:gridCol>
                <a:gridCol w="892071">
                  <a:extLst>
                    <a:ext uri="{9D8B030D-6E8A-4147-A177-3AD203B41FA5}">
                      <a16:colId xmlns:a16="http://schemas.microsoft.com/office/drawing/2014/main" val="20001"/>
                    </a:ext>
                  </a:extLst>
                </a:gridCol>
              </a:tblGrid>
              <a:tr h="341897">
                <a:tc>
                  <a:txBody>
                    <a:bodyPr/>
                    <a:lstStyle/>
                    <a:p>
                      <a:pPr marL="0" marR="0" lvl="0" indent="0" algn="r" rtl="0">
                        <a:spcBef>
                          <a:spcPts val="0"/>
                        </a:spcBef>
                        <a:spcAft>
                          <a:spcPts val="0"/>
                        </a:spcAft>
                        <a:buNone/>
                      </a:pPr>
                      <a:r>
                        <a:rPr lang="es-ES" sz="1050" b="0" u="none" strike="noStrike" cap="none" dirty="0">
                          <a:solidFill>
                            <a:srgbClr val="3F3151"/>
                          </a:solidFill>
                          <a:latin typeface="Arial"/>
                          <a:ea typeface="Arial"/>
                          <a:cs typeface="Arial"/>
                          <a:sym typeface="Arial"/>
                        </a:rPr>
                        <a:t>Coordinador Nacional</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b="0" u="none" strike="noStrike" cap="none" dirty="0">
                          <a:solidFill>
                            <a:srgbClr val="3F3151"/>
                          </a:solidFill>
                          <a:latin typeface="Arial"/>
                          <a:ea typeface="Arial"/>
                          <a:cs typeface="Arial"/>
                          <a:sym typeface="Arial"/>
                        </a:rPr>
                        <a:t>1</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91108">
                <a:tc>
                  <a:txBody>
                    <a:bodyPr/>
                    <a:lstStyle/>
                    <a:p>
                      <a:pPr marL="0" marR="0" lvl="0" indent="0" algn="r" rtl="0">
                        <a:spcBef>
                          <a:spcPts val="0"/>
                        </a:spcBef>
                        <a:spcAft>
                          <a:spcPts val="0"/>
                        </a:spcAft>
                        <a:buNone/>
                      </a:pPr>
                      <a:r>
                        <a:rPr lang="es-ES" sz="1050" u="none" strike="noStrike" cap="none" dirty="0">
                          <a:solidFill>
                            <a:srgbClr val="3F3151"/>
                          </a:solidFill>
                          <a:latin typeface="Arial"/>
                          <a:ea typeface="Arial"/>
                          <a:cs typeface="Arial"/>
                          <a:sym typeface="Arial"/>
                        </a:rPr>
                        <a:t>Coordinador Operativo </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u="none" strike="noStrike" cap="none" dirty="0">
                          <a:solidFill>
                            <a:srgbClr val="3F3151"/>
                          </a:solidFill>
                          <a:latin typeface="Arial"/>
                          <a:ea typeface="Arial"/>
                          <a:cs typeface="Arial"/>
                          <a:sym typeface="Arial"/>
                        </a:rPr>
                        <a:t>1</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5660">
                <a:tc>
                  <a:txBody>
                    <a:bodyPr/>
                    <a:lstStyle/>
                    <a:p>
                      <a:pPr marL="0" marR="0" lvl="0" indent="0" algn="r" rtl="0">
                        <a:spcBef>
                          <a:spcPts val="0"/>
                        </a:spcBef>
                        <a:spcAft>
                          <a:spcPts val="0"/>
                        </a:spcAft>
                        <a:buNone/>
                      </a:pPr>
                      <a:r>
                        <a:rPr lang="es-ES" sz="1050" u="none" strike="noStrike" cap="none" dirty="0">
                          <a:solidFill>
                            <a:srgbClr val="3F3151"/>
                          </a:solidFill>
                          <a:latin typeface="Arial"/>
                          <a:ea typeface="Arial"/>
                          <a:cs typeface="Arial"/>
                          <a:sym typeface="Arial"/>
                        </a:rPr>
                        <a:t>Coordinador Departamental</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u="none" strike="noStrike" cap="none" dirty="0">
                          <a:solidFill>
                            <a:srgbClr val="3F3151"/>
                          </a:solidFill>
                          <a:latin typeface="Arial"/>
                          <a:ea typeface="Arial"/>
                          <a:cs typeface="Arial"/>
                          <a:sym typeface="Arial"/>
                        </a:rPr>
                        <a:t>17</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35166">
                <a:tc>
                  <a:txBody>
                    <a:bodyPr/>
                    <a:lstStyle/>
                    <a:p>
                      <a:pPr marL="0" marR="0" lvl="0" indent="0" algn="r" rtl="0">
                        <a:spcBef>
                          <a:spcPts val="0"/>
                        </a:spcBef>
                        <a:spcAft>
                          <a:spcPts val="0"/>
                        </a:spcAft>
                        <a:buNone/>
                      </a:pPr>
                      <a:r>
                        <a:rPr lang="es-ES" sz="1050" u="none" strike="noStrike" cap="none" dirty="0">
                          <a:solidFill>
                            <a:srgbClr val="3F3151"/>
                          </a:solidFill>
                          <a:latin typeface="Arial"/>
                          <a:ea typeface="Arial"/>
                          <a:cs typeface="Arial"/>
                          <a:sym typeface="Arial"/>
                        </a:rPr>
                        <a:t>Jefe Departamental (DEPARTAMENTO)</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u="none" strike="noStrike" cap="none" dirty="0">
                          <a:solidFill>
                            <a:srgbClr val="3F3151"/>
                          </a:solidFill>
                          <a:latin typeface="Arial"/>
                          <a:ea typeface="Arial"/>
                          <a:cs typeface="Arial"/>
                          <a:sym typeface="Arial"/>
                        </a:rPr>
                        <a:t>17</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10734">
                <a:tc>
                  <a:txBody>
                    <a:bodyPr/>
                    <a:lstStyle/>
                    <a:p>
                      <a:pPr marL="0" marR="0" lvl="0" indent="0" algn="r" rtl="0">
                        <a:spcBef>
                          <a:spcPts val="0"/>
                        </a:spcBef>
                        <a:spcAft>
                          <a:spcPts val="0"/>
                        </a:spcAft>
                        <a:buNone/>
                      </a:pPr>
                      <a:r>
                        <a:rPr lang="es-ES" sz="1050" u="none" strike="noStrike" cap="none" dirty="0">
                          <a:solidFill>
                            <a:srgbClr val="3F3151"/>
                          </a:solidFill>
                          <a:latin typeface="Arial"/>
                          <a:ea typeface="Arial"/>
                          <a:cs typeface="Arial"/>
                          <a:sym typeface="Arial"/>
                        </a:rPr>
                        <a:t>Jefe Distrital (DISTRITO)</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u="none" strike="noStrike" cap="none" dirty="0">
                          <a:solidFill>
                            <a:srgbClr val="3F3151"/>
                          </a:solidFill>
                          <a:latin typeface="Arial"/>
                          <a:ea typeface="Arial"/>
                          <a:cs typeface="Arial"/>
                          <a:sym typeface="Arial"/>
                        </a:rPr>
                        <a:t>234</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10734">
                <a:tc>
                  <a:txBody>
                    <a:bodyPr/>
                    <a:lstStyle/>
                    <a:p>
                      <a:pPr marL="0" marR="0" lvl="0" indent="0" algn="r" rtl="0">
                        <a:spcBef>
                          <a:spcPts val="0"/>
                        </a:spcBef>
                        <a:spcAft>
                          <a:spcPts val="0"/>
                        </a:spcAft>
                        <a:buNone/>
                      </a:pPr>
                      <a:r>
                        <a:rPr lang="es-ES" sz="1050" u="none" strike="noStrike" cap="none" dirty="0">
                          <a:solidFill>
                            <a:srgbClr val="3F3151"/>
                          </a:solidFill>
                          <a:latin typeface="Arial"/>
                          <a:ea typeface="Arial"/>
                          <a:cs typeface="Arial"/>
                          <a:sym typeface="Arial"/>
                        </a:rPr>
                        <a:t>Supervisor (SECTOR)</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u="none" strike="noStrike" cap="none" dirty="0">
                          <a:solidFill>
                            <a:srgbClr val="3F3151"/>
                          </a:solidFill>
                          <a:latin typeface="Arial"/>
                          <a:ea typeface="Arial"/>
                          <a:cs typeface="Arial"/>
                          <a:sym typeface="Arial"/>
                        </a:rPr>
                        <a:t>441</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6350" cap="flat" cmpd="sng" algn="ctr">
                      <a:solidFill>
                        <a:srgbClr val="9B4D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10734">
                <a:tc>
                  <a:txBody>
                    <a:bodyPr/>
                    <a:lstStyle/>
                    <a:p>
                      <a:pPr marL="0" marR="0" lvl="0" indent="0" algn="r" rtl="0">
                        <a:spcBef>
                          <a:spcPts val="0"/>
                        </a:spcBef>
                        <a:spcAft>
                          <a:spcPts val="0"/>
                        </a:spcAft>
                        <a:buNone/>
                      </a:pPr>
                      <a:r>
                        <a:rPr lang="es-ES" sz="1050" u="none" strike="noStrike" cap="none" dirty="0">
                          <a:solidFill>
                            <a:srgbClr val="3F3151"/>
                          </a:solidFill>
                          <a:latin typeface="Arial"/>
                          <a:ea typeface="Arial"/>
                          <a:cs typeface="Arial"/>
                          <a:sym typeface="Arial"/>
                        </a:rPr>
                        <a:t>Censista (AE)</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s-ES" sz="1050" u="none" strike="noStrike" cap="none" dirty="0">
                          <a:solidFill>
                            <a:srgbClr val="3F3151"/>
                          </a:solidFill>
                          <a:latin typeface="Arial"/>
                          <a:ea typeface="Arial"/>
                          <a:cs typeface="Arial"/>
                          <a:sym typeface="Arial"/>
                        </a:rPr>
                        <a:t>3.004</a:t>
                      </a:r>
                      <a:endParaRPr sz="1050" b="0"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9B4D0A"/>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8198">
                <a:tc>
                  <a:txBody>
                    <a:bodyPr/>
                    <a:lstStyle/>
                    <a:p>
                      <a:pPr marL="0" marR="0" lvl="0" indent="0" algn="ctr" rtl="0">
                        <a:spcBef>
                          <a:spcPts val="0"/>
                        </a:spcBef>
                        <a:spcAft>
                          <a:spcPts val="0"/>
                        </a:spcAft>
                        <a:buNone/>
                      </a:pPr>
                      <a:r>
                        <a:rPr lang="es-ES" sz="1050" b="1" u="none" strike="noStrike" cap="none" dirty="0">
                          <a:solidFill>
                            <a:srgbClr val="3F3151"/>
                          </a:solidFill>
                          <a:latin typeface="Arial"/>
                          <a:ea typeface="Arial"/>
                          <a:cs typeface="Arial"/>
                          <a:sym typeface="Arial"/>
                        </a:rPr>
                        <a:t>Total</a:t>
                      </a:r>
                      <a:endParaRPr sz="1050" b="1"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C1870C"/>
                    </a:solidFill>
                  </a:tcPr>
                </a:tc>
                <a:tc>
                  <a:txBody>
                    <a:bodyPr/>
                    <a:lstStyle/>
                    <a:p>
                      <a:pPr marL="0" marR="0" lvl="0" indent="0" algn="ctr" rtl="0">
                        <a:spcBef>
                          <a:spcPts val="0"/>
                        </a:spcBef>
                        <a:spcAft>
                          <a:spcPts val="0"/>
                        </a:spcAft>
                        <a:buNone/>
                      </a:pPr>
                      <a:r>
                        <a:rPr lang="es-ES" sz="1050" b="1" u="none" strike="noStrike" cap="none" dirty="0">
                          <a:solidFill>
                            <a:srgbClr val="3F3151"/>
                          </a:solidFill>
                          <a:latin typeface="Arial"/>
                          <a:ea typeface="Arial"/>
                          <a:cs typeface="Arial"/>
                          <a:sym typeface="Arial"/>
                        </a:rPr>
                        <a:t>3.715</a:t>
                      </a:r>
                      <a:endParaRPr sz="1050" b="1" i="0" u="none" strike="noStrike" cap="none" dirty="0">
                        <a:solidFill>
                          <a:srgbClr val="3F3151"/>
                        </a:solidFill>
                        <a:latin typeface="Arial"/>
                        <a:ea typeface="Arial"/>
                        <a:cs typeface="Arial"/>
                        <a:sym typeface="Arial"/>
                      </a:endParaRPr>
                    </a:p>
                  </a:txBody>
                  <a:tcPr marL="9527" marR="9527" marT="9526"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C1870C"/>
                    </a:solidFill>
                  </a:tcP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172984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9D230042-1CDD-EF69-53EE-8F4BC10F27DC}"/>
              </a:ext>
            </a:extLst>
          </p:cNvPr>
          <p:cNvGrpSpPr/>
          <p:nvPr/>
        </p:nvGrpSpPr>
        <p:grpSpPr>
          <a:xfrm>
            <a:off x="930068" y="-1135380"/>
            <a:ext cx="1140746" cy="1135380"/>
            <a:chOff x="930068" y="-340980"/>
            <a:chExt cx="1140746" cy="1135380"/>
          </a:xfrm>
        </p:grpSpPr>
        <p:sp>
          <p:nvSpPr>
            <p:cNvPr id="12" name="Rectángulo 11">
              <a:extLst>
                <a:ext uri="{FF2B5EF4-FFF2-40B4-BE49-F238E27FC236}">
                  <a16:creationId xmlns:a16="http://schemas.microsoft.com/office/drawing/2014/main" id="{DEC0CDED-BB02-F1D5-49C8-5C3D84F698DB}"/>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CuadroTexto 13">
              <a:extLst>
                <a:ext uri="{FF2B5EF4-FFF2-40B4-BE49-F238E27FC236}">
                  <a16:creationId xmlns:a16="http://schemas.microsoft.com/office/drawing/2014/main" id="{541D8D16-272B-2163-6421-A526F225C7BE}"/>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Temáticas</a:t>
              </a:r>
              <a:endParaRPr lang="en-US" sz="1000" b="1" dirty="0">
                <a:solidFill>
                  <a:schemeClr val="bg1"/>
                </a:solidFill>
              </a:endParaRPr>
            </a:p>
          </p:txBody>
        </p:sp>
      </p:grpSp>
      <p:grpSp>
        <p:nvGrpSpPr>
          <p:cNvPr id="16" name="Grupo 15">
            <a:extLst>
              <a:ext uri="{FF2B5EF4-FFF2-40B4-BE49-F238E27FC236}">
                <a16:creationId xmlns:a16="http://schemas.microsoft.com/office/drawing/2014/main" id="{9823C8FA-29DD-0896-AB78-16ED6C34D848}"/>
              </a:ext>
            </a:extLst>
          </p:cNvPr>
          <p:cNvGrpSpPr/>
          <p:nvPr/>
        </p:nvGrpSpPr>
        <p:grpSpPr>
          <a:xfrm>
            <a:off x="2396932" y="-1131510"/>
            <a:ext cx="1140746" cy="1135380"/>
            <a:chOff x="2396932" y="-340980"/>
            <a:chExt cx="1140746" cy="1135380"/>
          </a:xfrm>
        </p:grpSpPr>
        <p:sp>
          <p:nvSpPr>
            <p:cNvPr id="18" name="Rectángulo 17">
              <a:extLst>
                <a:ext uri="{FF2B5EF4-FFF2-40B4-BE49-F238E27FC236}">
                  <a16:creationId xmlns:a16="http://schemas.microsoft.com/office/drawing/2014/main" id="{C51DCEC2-7873-5BF2-2F13-C25BA31D1F46}"/>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9" name="CuadroTexto 18">
              <a:extLst>
                <a:ext uri="{FF2B5EF4-FFF2-40B4-BE49-F238E27FC236}">
                  <a16:creationId xmlns:a16="http://schemas.microsoft.com/office/drawing/2014/main" id="{18943351-D1C2-C01A-9304-D7FFCF6B18DE}"/>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20" name="Grupo 19">
            <a:extLst>
              <a:ext uri="{FF2B5EF4-FFF2-40B4-BE49-F238E27FC236}">
                <a16:creationId xmlns:a16="http://schemas.microsoft.com/office/drawing/2014/main" id="{19AA066D-4E85-8C64-B9FD-2E0D3FED7CFF}"/>
              </a:ext>
            </a:extLst>
          </p:cNvPr>
          <p:cNvGrpSpPr/>
          <p:nvPr/>
        </p:nvGrpSpPr>
        <p:grpSpPr>
          <a:xfrm>
            <a:off x="3863796" y="-340980"/>
            <a:ext cx="1140746" cy="1135380"/>
            <a:chOff x="3863796" y="-340980"/>
            <a:chExt cx="1140746" cy="1135380"/>
          </a:xfrm>
        </p:grpSpPr>
        <p:sp>
          <p:nvSpPr>
            <p:cNvPr id="22" name="Rectángulo 21">
              <a:extLst>
                <a:ext uri="{FF2B5EF4-FFF2-40B4-BE49-F238E27FC236}">
                  <a16:creationId xmlns:a16="http://schemas.microsoft.com/office/drawing/2014/main" id="{7B13E89A-108A-7DB1-C202-2514BA61796D}"/>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4" name="CuadroTexto 23">
              <a:extLst>
                <a:ext uri="{FF2B5EF4-FFF2-40B4-BE49-F238E27FC236}">
                  <a16:creationId xmlns:a16="http://schemas.microsoft.com/office/drawing/2014/main" id="{61D59D75-4046-AA25-3F1F-7C670ED9A7A1}"/>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26" name="Grupo 25">
            <a:extLst>
              <a:ext uri="{FF2B5EF4-FFF2-40B4-BE49-F238E27FC236}">
                <a16:creationId xmlns:a16="http://schemas.microsoft.com/office/drawing/2014/main" id="{6C8700E3-9553-7404-EDD1-8D18797E6653}"/>
              </a:ext>
            </a:extLst>
          </p:cNvPr>
          <p:cNvGrpSpPr/>
          <p:nvPr/>
        </p:nvGrpSpPr>
        <p:grpSpPr>
          <a:xfrm>
            <a:off x="5330660" y="-1135380"/>
            <a:ext cx="1140746" cy="1135380"/>
            <a:chOff x="5330660" y="-340980"/>
            <a:chExt cx="1140746" cy="1135380"/>
          </a:xfrm>
        </p:grpSpPr>
        <p:sp>
          <p:nvSpPr>
            <p:cNvPr id="28" name="Rectángulo 27">
              <a:extLst>
                <a:ext uri="{FF2B5EF4-FFF2-40B4-BE49-F238E27FC236}">
                  <a16:creationId xmlns:a16="http://schemas.microsoft.com/office/drawing/2014/main" id="{B725BA06-ED9B-12A8-40A8-75BA4392B907}"/>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0" name="CuadroTexto 29">
              <a:extLst>
                <a:ext uri="{FF2B5EF4-FFF2-40B4-BE49-F238E27FC236}">
                  <a16:creationId xmlns:a16="http://schemas.microsoft.com/office/drawing/2014/main" id="{C5135029-E1A0-09A8-D283-BE0AFB927F1D}"/>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31" name="Grupo 30">
            <a:extLst>
              <a:ext uri="{FF2B5EF4-FFF2-40B4-BE49-F238E27FC236}">
                <a16:creationId xmlns:a16="http://schemas.microsoft.com/office/drawing/2014/main" id="{CAFE54E6-4AB3-7AA9-37CE-24681E5585D6}"/>
              </a:ext>
            </a:extLst>
          </p:cNvPr>
          <p:cNvGrpSpPr/>
          <p:nvPr/>
        </p:nvGrpSpPr>
        <p:grpSpPr>
          <a:xfrm>
            <a:off x="6797524" y="-1135380"/>
            <a:ext cx="1140746" cy="1135380"/>
            <a:chOff x="6820384" y="-340980"/>
            <a:chExt cx="1140746" cy="1135380"/>
          </a:xfrm>
        </p:grpSpPr>
        <p:sp>
          <p:nvSpPr>
            <p:cNvPr id="32" name="Rectángulo 31">
              <a:extLst>
                <a:ext uri="{FF2B5EF4-FFF2-40B4-BE49-F238E27FC236}">
                  <a16:creationId xmlns:a16="http://schemas.microsoft.com/office/drawing/2014/main" id="{640C51F1-A6C3-10B5-C259-88A1B79CE171}"/>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3" name="CuadroTexto 32">
              <a:extLst>
                <a:ext uri="{FF2B5EF4-FFF2-40B4-BE49-F238E27FC236}">
                  <a16:creationId xmlns:a16="http://schemas.microsoft.com/office/drawing/2014/main" id="{24FC8095-5C2F-707E-AA04-DBE31449BB18}"/>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
        <p:nvSpPr>
          <p:cNvPr id="17" name="Google Shape;136;p6">
            <a:extLst>
              <a:ext uri="{FF2B5EF4-FFF2-40B4-BE49-F238E27FC236}">
                <a16:creationId xmlns:a16="http://schemas.microsoft.com/office/drawing/2014/main" id="{CD3E3A14-9B20-E12D-C89B-EF8B6ED90C72}"/>
              </a:ext>
            </a:extLst>
          </p:cNvPr>
          <p:cNvSpPr/>
          <p:nvPr/>
        </p:nvSpPr>
        <p:spPr>
          <a:xfrm>
            <a:off x="930068" y="3912536"/>
            <a:ext cx="4873518" cy="307736"/>
          </a:xfrm>
          <a:prstGeom prst="rect">
            <a:avLst/>
          </a:prstGeom>
          <a:solidFill>
            <a:schemeClr val="accent3">
              <a:lumMod val="50000"/>
            </a:schemeClr>
          </a:solidFill>
          <a:ln>
            <a:noFill/>
          </a:ln>
        </p:spPr>
        <p:txBody>
          <a:bodyPr spcFirstLastPara="1" wrap="square" lIns="91425" tIns="45700" rIns="91425" bIns="45700">
            <a:spAutoFit/>
          </a:bodyPr>
          <a:lstStyle/>
          <a:p>
            <a:pPr algn="ctr" eaLnBrk="1" fontAlgn="auto" hangingPunct="1">
              <a:spcBef>
                <a:spcPts val="0"/>
              </a:spcBef>
              <a:spcAft>
                <a:spcPts val="0"/>
              </a:spcAft>
              <a:buClr>
                <a:schemeClr val="dk1"/>
              </a:buClr>
              <a:buSzPts val="1400"/>
              <a:defRPr/>
            </a:pPr>
            <a:r>
              <a:rPr lang="es-ES" b="1" kern="0" dirty="0">
                <a:solidFill>
                  <a:schemeClr val="bg1"/>
                </a:solidFill>
                <a:ea typeface="Calibri"/>
                <a:sym typeface="Calibri"/>
              </a:rPr>
              <a:t>Sistema Integrado de Gestión y Monitoreo Censal</a:t>
            </a:r>
          </a:p>
        </p:txBody>
      </p:sp>
      <p:sp>
        <p:nvSpPr>
          <p:cNvPr id="21" name="CuadroTexto 7">
            <a:extLst>
              <a:ext uri="{FF2B5EF4-FFF2-40B4-BE49-F238E27FC236}">
                <a16:creationId xmlns:a16="http://schemas.microsoft.com/office/drawing/2014/main" id="{86B84DF6-E6F0-3724-1049-F5282622CEB3}"/>
              </a:ext>
            </a:extLst>
          </p:cNvPr>
          <p:cNvSpPr txBox="1"/>
          <p:nvPr/>
        </p:nvSpPr>
        <p:spPr>
          <a:xfrm>
            <a:off x="497567" y="2578100"/>
            <a:ext cx="1216517" cy="769441"/>
          </a:xfrm>
          <a:prstGeom prst="rect">
            <a:avLst/>
          </a:prstGeom>
          <a:noFill/>
        </p:spPr>
        <p:txBody>
          <a:bodyPr wrap="square">
            <a:spAutoFit/>
          </a:bodyPr>
          <a:lstStyle/>
          <a:p>
            <a:pPr algn="ctr" eaLnBrk="1" fontAlgn="auto" hangingPunct="1">
              <a:buSzPct val="102857"/>
              <a:defRPr/>
            </a:pPr>
            <a:r>
              <a:rPr lang="es-ES" sz="1100" kern="0" dirty="0">
                <a:solidFill>
                  <a:srgbClr val="3F3151"/>
                </a:solidFill>
                <a:latin typeface="+mj-lt"/>
                <a:ea typeface="Calibri"/>
                <a:sym typeface="Calibri"/>
              </a:rPr>
              <a:t>Gestión de RRHH: criterios de selección y capacitación</a:t>
            </a:r>
          </a:p>
        </p:txBody>
      </p:sp>
      <p:sp>
        <p:nvSpPr>
          <p:cNvPr id="23" name="CuadroTexto 9">
            <a:extLst>
              <a:ext uri="{FF2B5EF4-FFF2-40B4-BE49-F238E27FC236}">
                <a16:creationId xmlns:a16="http://schemas.microsoft.com/office/drawing/2014/main" id="{050BF22D-9752-1DDB-58F4-32F7BA1CED5C}"/>
              </a:ext>
            </a:extLst>
          </p:cNvPr>
          <p:cNvSpPr txBox="1"/>
          <p:nvPr/>
        </p:nvSpPr>
        <p:spPr>
          <a:xfrm>
            <a:off x="1884964" y="2578100"/>
            <a:ext cx="1216517" cy="938719"/>
          </a:xfrm>
          <a:prstGeom prst="rect">
            <a:avLst/>
          </a:prstGeom>
          <a:noFill/>
        </p:spPr>
        <p:txBody>
          <a:bodyPr wrap="square">
            <a:spAutoFit/>
          </a:bodyPr>
          <a:lstStyle/>
          <a:p>
            <a:pPr algn="ctr" eaLnBrk="1" fontAlgn="auto" hangingPunct="1">
              <a:buSzPct val="102857"/>
              <a:defRPr/>
            </a:pPr>
            <a:r>
              <a:rPr lang="es-ES" sz="1100" kern="0" dirty="0">
                <a:solidFill>
                  <a:srgbClr val="3F3151"/>
                </a:solidFill>
                <a:latin typeface="+mj-lt"/>
                <a:ea typeface="Calibri"/>
                <a:sym typeface="Calibri"/>
              </a:rPr>
              <a:t>Validaciones y control incorporadas en el Cuestionario electrónico  </a:t>
            </a:r>
          </a:p>
        </p:txBody>
      </p:sp>
      <p:sp>
        <p:nvSpPr>
          <p:cNvPr id="25" name="CuadroTexto 12">
            <a:extLst>
              <a:ext uri="{FF2B5EF4-FFF2-40B4-BE49-F238E27FC236}">
                <a16:creationId xmlns:a16="http://schemas.microsoft.com/office/drawing/2014/main" id="{4C29E681-4863-B4DB-03B4-A054BED1BC66}"/>
              </a:ext>
            </a:extLst>
          </p:cNvPr>
          <p:cNvSpPr txBox="1"/>
          <p:nvPr/>
        </p:nvSpPr>
        <p:spPr>
          <a:xfrm>
            <a:off x="3272361" y="2578100"/>
            <a:ext cx="1216517" cy="938719"/>
          </a:xfrm>
          <a:prstGeom prst="rect">
            <a:avLst/>
          </a:prstGeom>
          <a:noFill/>
        </p:spPr>
        <p:txBody>
          <a:bodyPr wrap="square">
            <a:spAutoFit/>
          </a:bodyPr>
          <a:lstStyle/>
          <a:p>
            <a:pPr algn="ctr" eaLnBrk="1" fontAlgn="auto" hangingPunct="1">
              <a:buSzPct val="102857"/>
              <a:defRPr/>
            </a:pPr>
            <a:r>
              <a:rPr lang="es-ES" sz="1100" kern="0" dirty="0">
                <a:solidFill>
                  <a:srgbClr val="3F3151"/>
                </a:solidFill>
                <a:latin typeface="+mj-lt"/>
                <a:ea typeface="Calibri"/>
                <a:sym typeface="Calibri"/>
              </a:rPr>
              <a:t>Seguimiento y supervisión a través de la estructura censal</a:t>
            </a:r>
          </a:p>
        </p:txBody>
      </p:sp>
      <p:sp>
        <p:nvSpPr>
          <p:cNvPr id="27" name="CuadroTexto 14">
            <a:extLst>
              <a:ext uri="{FF2B5EF4-FFF2-40B4-BE49-F238E27FC236}">
                <a16:creationId xmlns:a16="http://schemas.microsoft.com/office/drawing/2014/main" id="{835E33AF-DDE3-68A0-30E6-37A88228A469}"/>
              </a:ext>
            </a:extLst>
          </p:cNvPr>
          <p:cNvSpPr txBox="1"/>
          <p:nvPr/>
        </p:nvSpPr>
        <p:spPr>
          <a:xfrm>
            <a:off x="4572001" y="2578100"/>
            <a:ext cx="1392032" cy="938719"/>
          </a:xfrm>
          <a:prstGeom prst="rect">
            <a:avLst/>
          </a:prstGeom>
          <a:noFill/>
        </p:spPr>
        <p:txBody>
          <a:bodyPr wrap="square">
            <a:spAutoFit/>
          </a:bodyPr>
          <a:lstStyle/>
          <a:p>
            <a:pPr algn="ctr" eaLnBrk="1" fontAlgn="auto" hangingPunct="1">
              <a:buSzPct val="102857"/>
              <a:defRPr/>
            </a:pPr>
            <a:r>
              <a:rPr lang="es-ES" sz="1100" kern="0" dirty="0">
                <a:solidFill>
                  <a:srgbClr val="3F3151"/>
                </a:solidFill>
                <a:latin typeface="+mj-lt"/>
                <a:ea typeface="Calibri"/>
                <a:sym typeface="Calibri"/>
              </a:rPr>
              <a:t>Monitoreo y seguimiento en tiempo real a través del módulo del sistema</a:t>
            </a:r>
          </a:p>
        </p:txBody>
      </p:sp>
      <p:sp>
        <p:nvSpPr>
          <p:cNvPr id="29" name="CuadroTexto 16">
            <a:extLst>
              <a:ext uri="{FF2B5EF4-FFF2-40B4-BE49-F238E27FC236}">
                <a16:creationId xmlns:a16="http://schemas.microsoft.com/office/drawing/2014/main" id="{09DBD8AC-C759-FB62-B655-0E2530F61C5B}"/>
              </a:ext>
            </a:extLst>
          </p:cNvPr>
          <p:cNvSpPr txBox="1"/>
          <p:nvPr/>
        </p:nvSpPr>
        <p:spPr>
          <a:xfrm>
            <a:off x="6047156" y="2578100"/>
            <a:ext cx="1216517" cy="769441"/>
          </a:xfrm>
          <a:prstGeom prst="rect">
            <a:avLst/>
          </a:prstGeom>
          <a:noFill/>
        </p:spPr>
        <p:txBody>
          <a:bodyPr wrap="square">
            <a:spAutoFit/>
          </a:bodyPr>
          <a:lstStyle/>
          <a:p>
            <a:pPr algn="ctr" eaLnBrk="1" fontAlgn="auto" hangingPunct="1">
              <a:buSzPct val="102857"/>
              <a:defRPr/>
            </a:pPr>
            <a:r>
              <a:rPr lang="es-ES" sz="1100" kern="0" dirty="0">
                <a:solidFill>
                  <a:srgbClr val="3F3151"/>
                </a:solidFill>
                <a:latin typeface="+mj-lt"/>
                <a:ea typeface="Calibri"/>
                <a:sym typeface="Calibri"/>
              </a:rPr>
              <a:t>Verificación in situ en base a hallazgos de levantamiento</a:t>
            </a:r>
          </a:p>
        </p:txBody>
      </p:sp>
      <p:pic>
        <p:nvPicPr>
          <p:cNvPr id="34" name="Imagen 20" descr="Forma&#10;&#10;Descripción generada automáticamente con confianza baja">
            <a:extLst>
              <a:ext uri="{FF2B5EF4-FFF2-40B4-BE49-F238E27FC236}">
                <a16:creationId xmlns:a16="http://schemas.microsoft.com/office/drawing/2014/main" id="{457FEEA7-132C-BD5E-7E05-15EEC87E2B61}"/>
              </a:ext>
            </a:extLst>
          </p:cNvPr>
          <p:cNvPicPr>
            <a:picLocks noChangeAspect="1"/>
          </p:cNvPicPr>
          <p:nvPr/>
        </p:nvPicPr>
        <p:blipFill>
          <a:blip r:embed="rId4"/>
          <a:stretch>
            <a:fillRect/>
          </a:stretch>
        </p:blipFill>
        <p:spPr>
          <a:xfrm>
            <a:off x="707820" y="1720703"/>
            <a:ext cx="720000" cy="720000"/>
          </a:xfrm>
          <a:prstGeom prst="rect">
            <a:avLst/>
          </a:prstGeom>
        </p:spPr>
      </p:pic>
      <p:pic>
        <p:nvPicPr>
          <p:cNvPr id="35" name="Imagen 22" descr="Forma&#10;&#10;Descripción generada automáticamente con confianza baja">
            <a:extLst>
              <a:ext uri="{FF2B5EF4-FFF2-40B4-BE49-F238E27FC236}">
                <a16:creationId xmlns:a16="http://schemas.microsoft.com/office/drawing/2014/main" id="{73A75D3F-9C60-480A-1F8E-6C740CD85752}"/>
              </a:ext>
            </a:extLst>
          </p:cNvPr>
          <p:cNvPicPr>
            <a:picLocks noChangeAspect="1"/>
          </p:cNvPicPr>
          <p:nvPr/>
        </p:nvPicPr>
        <p:blipFill>
          <a:blip r:embed="rId5"/>
          <a:stretch>
            <a:fillRect/>
          </a:stretch>
        </p:blipFill>
        <p:spPr>
          <a:xfrm>
            <a:off x="2101358" y="1725792"/>
            <a:ext cx="720000" cy="720000"/>
          </a:xfrm>
          <a:prstGeom prst="rect">
            <a:avLst/>
          </a:prstGeom>
        </p:spPr>
      </p:pic>
      <p:pic>
        <p:nvPicPr>
          <p:cNvPr id="36" name="Imagen 24" descr="Forma&#10;&#10;Descripción generada automáticamente con confianza baja">
            <a:extLst>
              <a:ext uri="{FF2B5EF4-FFF2-40B4-BE49-F238E27FC236}">
                <a16:creationId xmlns:a16="http://schemas.microsoft.com/office/drawing/2014/main" id="{6D3F88E8-A3F8-32DA-8C78-51F2446045F7}"/>
              </a:ext>
            </a:extLst>
          </p:cNvPr>
          <p:cNvPicPr>
            <a:picLocks noChangeAspect="1"/>
          </p:cNvPicPr>
          <p:nvPr/>
        </p:nvPicPr>
        <p:blipFill>
          <a:blip r:embed="rId6"/>
          <a:stretch>
            <a:fillRect/>
          </a:stretch>
        </p:blipFill>
        <p:spPr>
          <a:xfrm>
            <a:off x="4888434" y="1720703"/>
            <a:ext cx="720000" cy="720000"/>
          </a:xfrm>
          <a:prstGeom prst="rect">
            <a:avLst/>
          </a:prstGeom>
        </p:spPr>
      </p:pic>
      <p:pic>
        <p:nvPicPr>
          <p:cNvPr id="37" name="Imagen 26" descr="Forma&#10;&#10;Descripción generada automáticamente con confianza baja">
            <a:extLst>
              <a:ext uri="{FF2B5EF4-FFF2-40B4-BE49-F238E27FC236}">
                <a16:creationId xmlns:a16="http://schemas.microsoft.com/office/drawing/2014/main" id="{F04B2806-D8E9-2CD9-FC31-754398F5AB05}"/>
              </a:ext>
            </a:extLst>
          </p:cNvPr>
          <p:cNvPicPr>
            <a:picLocks noChangeAspect="1"/>
          </p:cNvPicPr>
          <p:nvPr/>
        </p:nvPicPr>
        <p:blipFill>
          <a:blip r:embed="rId7"/>
          <a:stretch>
            <a:fillRect/>
          </a:stretch>
        </p:blipFill>
        <p:spPr>
          <a:xfrm>
            <a:off x="6281972" y="1720703"/>
            <a:ext cx="720000" cy="720000"/>
          </a:xfrm>
          <a:prstGeom prst="rect">
            <a:avLst/>
          </a:prstGeom>
        </p:spPr>
      </p:pic>
      <p:pic>
        <p:nvPicPr>
          <p:cNvPr id="38" name="Imagen 28" descr="Forma&#10;&#10;Descripción generada automáticamente con confianza baja">
            <a:extLst>
              <a:ext uri="{FF2B5EF4-FFF2-40B4-BE49-F238E27FC236}">
                <a16:creationId xmlns:a16="http://schemas.microsoft.com/office/drawing/2014/main" id="{F375F9AA-A44C-A8C4-B2A6-A9A587739AB5}"/>
              </a:ext>
            </a:extLst>
          </p:cNvPr>
          <p:cNvPicPr>
            <a:picLocks noChangeAspect="1"/>
          </p:cNvPicPr>
          <p:nvPr/>
        </p:nvPicPr>
        <p:blipFill>
          <a:blip r:embed="rId8"/>
          <a:stretch>
            <a:fillRect/>
          </a:stretch>
        </p:blipFill>
        <p:spPr>
          <a:xfrm>
            <a:off x="3494896" y="1720703"/>
            <a:ext cx="720000" cy="720000"/>
          </a:xfrm>
          <a:prstGeom prst="rect">
            <a:avLst/>
          </a:prstGeom>
        </p:spPr>
      </p:pic>
      <p:sp>
        <p:nvSpPr>
          <p:cNvPr id="39" name="38 Abrir llave"/>
          <p:cNvSpPr/>
          <p:nvPr/>
        </p:nvSpPr>
        <p:spPr>
          <a:xfrm rot="16200000">
            <a:off x="3212960" y="1020480"/>
            <a:ext cx="307735" cy="5194411"/>
          </a:xfrm>
          <a:prstGeom prst="leftBrace">
            <a:avLst>
              <a:gd name="adj1" fmla="val 8333"/>
              <a:gd name="adj2" fmla="val 49869"/>
            </a:avLst>
          </a:prstGeom>
          <a:noFill/>
          <a:ln w="38100">
            <a:solidFill>
              <a:srgbClr val="9B4D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Y"/>
          </a:p>
        </p:txBody>
      </p:sp>
      <p:pic>
        <p:nvPicPr>
          <p:cNvPr id="3" name="Imagen 2" descr="Forma&#10;&#10;Descripción generada automáticamente con confianza baja">
            <a:extLst>
              <a:ext uri="{FF2B5EF4-FFF2-40B4-BE49-F238E27FC236}">
                <a16:creationId xmlns:a16="http://schemas.microsoft.com/office/drawing/2014/main" id="{DD6A2C34-99B7-0B2D-F992-011E2DFCC05A}"/>
              </a:ext>
            </a:extLst>
          </p:cNvPr>
          <p:cNvPicPr>
            <a:picLocks noChangeAspect="1"/>
          </p:cNvPicPr>
          <p:nvPr/>
        </p:nvPicPr>
        <p:blipFill>
          <a:blip r:embed="rId9"/>
          <a:stretch>
            <a:fillRect/>
          </a:stretch>
        </p:blipFill>
        <p:spPr>
          <a:xfrm>
            <a:off x="7675511" y="1757974"/>
            <a:ext cx="645458" cy="645458"/>
          </a:xfrm>
          <a:prstGeom prst="rect">
            <a:avLst/>
          </a:prstGeom>
        </p:spPr>
      </p:pic>
      <p:sp>
        <p:nvSpPr>
          <p:cNvPr id="4" name="CuadroTexto 16">
            <a:extLst>
              <a:ext uri="{FF2B5EF4-FFF2-40B4-BE49-F238E27FC236}">
                <a16:creationId xmlns:a16="http://schemas.microsoft.com/office/drawing/2014/main" id="{1C6859ED-95E1-4ED0-381A-7A0F6A290AEE}"/>
              </a:ext>
            </a:extLst>
          </p:cNvPr>
          <p:cNvSpPr txBox="1"/>
          <p:nvPr/>
        </p:nvSpPr>
        <p:spPr>
          <a:xfrm>
            <a:off x="7330011" y="2578100"/>
            <a:ext cx="1216517" cy="430887"/>
          </a:xfrm>
          <a:prstGeom prst="rect">
            <a:avLst/>
          </a:prstGeom>
          <a:noFill/>
        </p:spPr>
        <p:txBody>
          <a:bodyPr wrap="square">
            <a:spAutoFit/>
          </a:bodyPr>
          <a:lstStyle/>
          <a:p>
            <a:pPr algn="ctr" eaLnBrk="1" fontAlgn="auto" hangingPunct="1">
              <a:buSzPct val="102857"/>
              <a:defRPr/>
            </a:pPr>
            <a:r>
              <a:rPr lang="es-ES" sz="1100" kern="0" dirty="0">
                <a:solidFill>
                  <a:srgbClr val="3F3151"/>
                </a:solidFill>
                <a:latin typeface="+mj-lt"/>
                <a:ea typeface="Calibri"/>
                <a:sym typeface="Calibri"/>
              </a:rPr>
              <a:t>Evaluación por Muestreo</a:t>
            </a:r>
          </a:p>
        </p:txBody>
      </p:sp>
    </p:spTree>
    <p:custDataLst>
      <p:tags r:id="rId1"/>
    </p:custDataLst>
    <p:extLst>
      <p:ext uri="{BB962C8B-B14F-4D97-AF65-F5344CB8AC3E}">
        <p14:creationId xmlns:p14="http://schemas.microsoft.com/office/powerpoint/2010/main" val="57881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25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25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25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25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5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25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25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par>
                                <p:cTn id="40" presetID="16" presetClass="entr" presetSubtype="37"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barn(outVertical)">
                                      <p:cBhvr>
                                        <p:cTn id="42" dur="500"/>
                                        <p:tgtEl>
                                          <p:spTgt spid="39"/>
                                        </p:tgtEl>
                                      </p:cBhvr>
                                    </p:animEffect>
                                  </p:childTnLst>
                                </p:cTn>
                              </p:par>
                            </p:childTnLst>
                          </p:cTn>
                        </p:par>
                        <p:par>
                          <p:cTn id="43" fill="hold">
                            <p:stCondLst>
                              <p:cond delay="500"/>
                            </p:stCondLst>
                            <p:childTnLst>
                              <p:par>
                                <p:cTn id="44" presetID="26" presetClass="emph" presetSubtype="0" fill="hold" grpId="1" nodeType="afterEffect">
                                  <p:stCondLst>
                                    <p:cond delay="0"/>
                                  </p:stCondLst>
                                  <p:childTnLst>
                                    <p:animEffect transition="out" filter="fade">
                                      <p:cBhvr>
                                        <p:cTn id="45" dur="500" tmFilter="0, 0; .2, .5; .8, .5; 1, 0"/>
                                        <p:tgtEl>
                                          <p:spTgt spid="17"/>
                                        </p:tgtEl>
                                      </p:cBhvr>
                                    </p:animEffect>
                                    <p:animScale>
                                      <p:cBhvr>
                                        <p:cTn id="46" dur="250" autoRev="1" fill="hold"/>
                                        <p:tgtEl>
                                          <p:spTgt spid="17"/>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250"/>
                                        <p:tgtEl>
                                          <p:spTgt spid="29"/>
                                        </p:tgtEl>
                                      </p:cBhvr>
                                    </p:animEffect>
                                  </p:childTnLst>
                                </p:cTn>
                              </p:par>
                              <p:par>
                                <p:cTn id="52" presetID="10" presetClass="entr" presetSubtype="0" fill="hold"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250"/>
                                        <p:tgtEl>
                                          <p:spTgt spid="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1" grpId="0"/>
      <p:bldP spid="23" grpId="0"/>
      <p:bldP spid="25" grpId="0"/>
      <p:bldP spid="27" grpId="0"/>
      <p:bldP spid="29" grpId="0"/>
      <p:bldP spid="39"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7" name="2 Conector recto">
            <a:extLst>
              <a:ext uri="{FF2B5EF4-FFF2-40B4-BE49-F238E27FC236}">
                <a16:creationId xmlns:a16="http://schemas.microsoft.com/office/drawing/2014/main" id="{E5C6FE8C-20A9-4301-B93F-1EFFDF55B258}"/>
              </a:ext>
            </a:extLst>
          </p:cNvPr>
          <p:cNvCxnSpPr>
            <a:cxnSpLocks/>
          </p:cNvCxnSpPr>
          <p:nvPr/>
        </p:nvCxnSpPr>
        <p:spPr>
          <a:xfrm>
            <a:off x="709693" y="1434654"/>
            <a:ext cx="7538072" cy="0"/>
          </a:xfrm>
          <a:prstGeom prst="line">
            <a:avLst/>
          </a:prstGeom>
          <a:ln w="381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5" descr="F:\Portal de Gestión del CAN 2022\Tablero para Seguimiento\Validación CAN 2022 visor de consulta\Visualización de validación.PNG">
            <a:extLst>
              <a:ext uri="{FF2B5EF4-FFF2-40B4-BE49-F238E27FC236}">
                <a16:creationId xmlns:a16="http://schemas.microsoft.com/office/drawing/2014/main" id="{6BE723B0-88AD-4EF4-B788-667466FA58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236" y="3235276"/>
            <a:ext cx="3478118" cy="1624685"/>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4" name="Picture 3">
            <a:extLst>
              <a:ext uri="{FF2B5EF4-FFF2-40B4-BE49-F238E27FC236}">
                <a16:creationId xmlns:a16="http://schemas.microsoft.com/office/drawing/2014/main" id="{A78317C5-2509-4217-BBFA-BB9027CDEA3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65" r="11946"/>
          <a:stretch/>
        </p:blipFill>
        <p:spPr bwMode="auto">
          <a:xfrm>
            <a:off x="4344527" y="1566928"/>
            <a:ext cx="3903238" cy="3293033"/>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2" descr="F:\Portal de Gestión del CAN 2022\Tablero para Seguimiento\Monitoreo de asignación de áreas\Tablero de monitoreo de asignación para Censistas.PNG">
            <a:extLst>
              <a:ext uri="{FF2B5EF4-FFF2-40B4-BE49-F238E27FC236}">
                <a16:creationId xmlns:a16="http://schemas.microsoft.com/office/drawing/2014/main" id="{407F05D2-BFF5-41AD-B7B9-63862A0CFD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693" y="1566928"/>
            <a:ext cx="3482660" cy="1606529"/>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10" name="CuadroTexto 14">
            <a:extLst>
              <a:ext uri="{FF2B5EF4-FFF2-40B4-BE49-F238E27FC236}">
                <a16:creationId xmlns:a16="http://schemas.microsoft.com/office/drawing/2014/main" id="{835E33AF-DDE3-68A0-30E6-37A88228A469}"/>
              </a:ext>
            </a:extLst>
          </p:cNvPr>
          <p:cNvSpPr txBox="1"/>
          <p:nvPr/>
        </p:nvSpPr>
        <p:spPr>
          <a:xfrm>
            <a:off x="1402006" y="916433"/>
            <a:ext cx="2606114" cy="430887"/>
          </a:xfrm>
          <a:prstGeom prst="rect">
            <a:avLst/>
          </a:prstGeom>
          <a:noFill/>
        </p:spPr>
        <p:txBody>
          <a:bodyPr wrap="square">
            <a:spAutoFit/>
          </a:bodyPr>
          <a:lstStyle/>
          <a:p>
            <a:pPr eaLnBrk="1" fontAlgn="auto" hangingPunct="1">
              <a:buSzPct val="102857"/>
              <a:defRPr/>
            </a:pPr>
            <a:r>
              <a:rPr lang="es-ES" sz="1100" kern="0" dirty="0">
                <a:solidFill>
                  <a:srgbClr val="3F3151"/>
                </a:solidFill>
                <a:latin typeface="+mj-lt"/>
                <a:ea typeface="Calibri"/>
                <a:sym typeface="Calibri"/>
              </a:rPr>
              <a:t>Monitoreo y seguimiento en tiempo real a través del módulo del sistema</a:t>
            </a:r>
          </a:p>
        </p:txBody>
      </p:sp>
      <p:pic>
        <p:nvPicPr>
          <p:cNvPr id="11" name="Imagen 24" descr="Forma&#10;&#10;Descripción generada automáticamente con confianza baja">
            <a:extLst>
              <a:ext uri="{FF2B5EF4-FFF2-40B4-BE49-F238E27FC236}">
                <a16:creationId xmlns:a16="http://schemas.microsoft.com/office/drawing/2014/main" id="{6D3F88E8-A3F8-32DA-8C78-51F2446045F7}"/>
              </a:ext>
            </a:extLst>
          </p:cNvPr>
          <p:cNvPicPr>
            <a:picLocks noChangeAspect="1"/>
          </p:cNvPicPr>
          <p:nvPr/>
        </p:nvPicPr>
        <p:blipFill>
          <a:blip r:embed="rId6"/>
          <a:stretch>
            <a:fillRect/>
          </a:stretch>
        </p:blipFill>
        <p:spPr>
          <a:xfrm>
            <a:off x="747188" y="794400"/>
            <a:ext cx="551480" cy="551480"/>
          </a:xfrm>
          <a:prstGeom prst="rect">
            <a:avLst/>
          </a:prstGeom>
        </p:spPr>
      </p:pic>
      <p:grpSp>
        <p:nvGrpSpPr>
          <p:cNvPr id="12" name="Grupo 11">
            <a:extLst>
              <a:ext uri="{FF2B5EF4-FFF2-40B4-BE49-F238E27FC236}">
                <a16:creationId xmlns:a16="http://schemas.microsoft.com/office/drawing/2014/main" id="{A75FA1AC-EBF4-B844-8305-93A8F6C7B126}"/>
              </a:ext>
            </a:extLst>
          </p:cNvPr>
          <p:cNvGrpSpPr/>
          <p:nvPr/>
        </p:nvGrpSpPr>
        <p:grpSpPr>
          <a:xfrm>
            <a:off x="930068" y="-1135380"/>
            <a:ext cx="1140746" cy="1135380"/>
            <a:chOff x="930068" y="-340980"/>
            <a:chExt cx="1140746" cy="1135380"/>
          </a:xfrm>
        </p:grpSpPr>
        <p:sp>
          <p:nvSpPr>
            <p:cNvPr id="13" name="Rectángulo 12">
              <a:extLst>
                <a:ext uri="{FF2B5EF4-FFF2-40B4-BE49-F238E27FC236}">
                  <a16:creationId xmlns:a16="http://schemas.microsoft.com/office/drawing/2014/main" id="{E28DB90A-A77D-D9F5-9B0B-01809B846D29}"/>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6" name="CuadroTexto 15">
              <a:extLst>
                <a:ext uri="{FF2B5EF4-FFF2-40B4-BE49-F238E27FC236}">
                  <a16:creationId xmlns:a16="http://schemas.microsoft.com/office/drawing/2014/main" id="{6A301D4E-ED19-F0A4-5D3F-AE627178F030}"/>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17" name="Grupo 16">
            <a:extLst>
              <a:ext uri="{FF2B5EF4-FFF2-40B4-BE49-F238E27FC236}">
                <a16:creationId xmlns:a16="http://schemas.microsoft.com/office/drawing/2014/main" id="{2F3C8383-631C-20D2-1F6D-55ED340CF4ED}"/>
              </a:ext>
            </a:extLst>
          </p:cNvPr>
          <p:cNvGrpSpPr/>
          <p:nvPr/>
        </p:nvGrpSpPr>
        <p:grpSpPr>
          <a:xfrm>
            <a:off x="2396932" y="-1131510"/>
            <a:ext cx="1140746" cy="1135380"/>
            <a:chOff x="2396932" y="-340980"/>
            <a:chExt cx="1140746" cy="1135380"/>
          </a:xfrm>
        </p:grpSpPr>
        <p:sp>
          <p:nvSpPr>
            <p:cNvPr id="18" name="Rectángulo 17">
              <a:extLst>
                <a:ext uri="{FF2B5EF4-FFF2-40B4-BE49-F238E27FC236}">
                  <a16:creationId xmlns:a16="http://schemas.microsoft.com/office/drawing/2014/main" id="{B4064244-95AB-7CB0-DB4A-4EEF9EF6B059}"/>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9" name="CuadroTexto 18">
              <a:extLst>
                <a:ext uri="{FF2B5EF4-FFF2-40B4-BE49-F238E27FC236}">
                  <a16:creationId xmlns:a16="http://schemas.microsoft.com/office/drawing/2014/main" id="{C6AAF2FC-35A2-62ED-2988-257E21ABF241}"/>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20" name="Grupo 19">
            <a:extLst>
              <a:ext uri="{FF2B5EF4-FFF2-40B4-BE49-F238E27FC236}">
                <a16:creationId xmlns:a16="http://schemas.microsoft.com/office/drawing/2014/main" id="{33F7BC5F-8535-9AB0-A9E1-413D6E1E7D68}"/>
              </a:ext>
            </a:extLst>
          </p:cNvPr>
          <p:cNvGrpSpPr/>
          <p:nvPr/>
        </p:nvGrpSpPr>
        <p:grpSpPr>
          <a:xfrm>
            <a:off x="3863796" y="-1135380"/>
            <a:ext cx="1140746" cy="1135380"/>
            <a:chOff x="3863796" y="-340980"/>
            <a:chExt cx="1140746" cy="1135380"/>
          </a:xfrm>
        </p:grpSpPr>
        <p:sp>
          <p:nvSpPr>
            <p:cNvPr id="21" name="Rectángulo 20">
              <a:extLst>
                <a:ext uri="{FF2B5EF4-FFF2-40B4-BE49-F238E27FC236}">
                  <a16:creationId xmlns:a16="http://schemas.microsoft.com/office/drawing/2014/main" id="{E7B8E43E-A4C6-3954-D179-DCA43F34274E}"/>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2" name="CuadroTexto 21">
              <a:extLst>
                <a:ext uri="{FF2B5EF4-FFF2-40B4-BE49-F238E27FC236}">
                  <a16:creationId xmlns:a16="http://schemas.microsoft.com/office/drawing/2014/main" id="{745B6488-45D3-A49A-8D34-A49019DB0140}"/>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23" name="Grupo 22">
            <a:extLst>
              <a:ext uri="{FF2B5EF4-FFF2-40B4-BE49-F238E27FC236}">
                <a16:creationId xmlns:a16="http://schemas.microsoft.com/office/drawing/2014/main" id="{D121B955-0FF2-F94E-1669-006DE23B3C6F}"/>
              </a:ext>
            </a:extLst>
          </p:cNvPr>
          <p:cNvGrpSpPr/>
          <p:nvPr/>
        </p:nvGrpSpPr>
        <p:grpSpPr>
          <a:xfrm>
            <a:off x="5330660" y="-340980"/>
            <a:ext cx="1140746" cy="1135380"/>
            <a:chOff x="5330660" y="-340980"/>
            <a:chExt cx="1140746" cy="1135380"/>
          </a:xfrm>
        </p:grpSpPr>
        <p:sp>
          <p:nvSpPr>
            <p:cNvPr id="24" name="Rectángulo 23">
              <a:extLst>
                <a:ext uri="{FF2B5EF4-FFF2-40B4-BE49-F238E27FC236}">
                  <a16:creationId xmlns:a16="http://schemas.microsoft.com/office/drawing/2014/main" id="{AE1F133F-F9A8-B06D-34A0-8F3120CBCCBE}"/>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5" name="CuadroTexto 24">
              <a:extLst>
                <a:ext uri="{FF2B5EF4-FFF2-40B4-BE49-F238E27FC236}">
                  <a16:creationId xmlns:a16="http://schemas.microsoft.com/office/drawing/2014/main" id="{9C2A95F7-5924-1881-753C-305680094A65}"/>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26" name="Grupo 25">
            <a:extLst>
              <a:ext uri="{FF2B5EF4-FFF2-40B4-BE49-F238E27FC236}">
                <a16:creationId xmlns:a16="http://schemas.microsoft.com/office/drawing/2014/main" id="{A5F5BBFE-EEA0-4842-0C23-9F124F8D687B}"/>
              </a:ext>
            </a:extLst>
          </p:cNvPr>
          <p:cNvGrpSpPr/>
          <p:nvPr/>
        </p:nvGrpSpPr>
        <p:grpSpPr>
          <a:xfrm>
            <a:off x="6797524" y="-1135380"/>
            <a:ext cx="1140746" cy="1135380"/>
            <a:chOff x="6820384" y="-340980"/>
            <a:chExt cx="1140746" cy="1135380"/>
          </a:xfrm>
        </p:grpSpPr>
        <p:sp>
          <p:nvSpPr>
            <p:cNvPr id="27" name="Rectángulo 26">
              <a:extLst>
                <a:ext uri="{FF2B5EF4-FFF2-40B4-BE49-F238E27FC236}">
                  <a16:creationId xmlns:a16="http://schemas.microsoft.com/office/drawing/2014/main" id="{B371926E-F87F-F09C-C455-1279D15C1BE7}"/>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8" name="CuadroTexto 27">
              <a:extLst>
                <a:ext uri="{FF2B5EF4-FFF2-40B4-BE49-F238E27FC236}">
                  <a16:creationId xmlns:a16="http://schemas.microsoft.com/office/drawing/2014/main" id="{254BE519-F957-58ED-59E5-D9459DF6F3A6}"/>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Tree>
    <p:extLst>
      <p:ext uri="{BB962C8B-B14F-4D97-AF65-F5344CB8AC3E}">
        <p14:creationId xmlns:p14="http://schemas.microsoft.com/office/powerpoint/2010/main" val="1383075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925944" y="2221721"/>
            <a:ext cx="6183516" cy="307777"/>
          </a:xfrm>
          <a:prstGeom prst="rect">
            <a:avLst/>
          </a:prstGeom>
        </p:spPr>
        <p:txBody>
          <a:bodyPr wrap="square">
            <a:spAutoFit/>
          </a:bodyPr>
          <a:lstStyle/>
          <a:p>
            <a:pPr eaLnBrk="1" fontAlgn="auto" hangingPunct="1">
              <a:buSzPct val="102857"/>
              <a:defRPr/>
            </a:pPr>
            <a:r>
              <a:rPr lang="es-ES" kern="0" dirty="0">
                <a:solidFill>
                  <a:srgbClr val="3F3151"/>
                </a:solidFill>
                <a:ea typeface="Calibri"/>
                <a:sym typeface="Calibri"/>
              </a:rPr>
              <a:t>Evaluación por Muestreo de calidad y cobertura de los datos del CAN (EPE)</a:t>
            </a:r>
          </a:p>
        </p:txBody>
      </p:sp>
      <p:sp>
        <p:nvSpPr>
          <p:cNvPr id="3" name="CuadroTexto 15">
            <a:extLst>
              <a:ext uri="{FF2B5EF4-FFF2-40B4-BE49-F238E27FC236}">
                <a16:creationId xmlns:a16="http://schemas.microsoft.com/office/drawing/2014/main" id="{739BC1ED-6478-4F0D-8324-6D09AFA2007E}"/>
              </a:ext>
            </a:extLst>
          </p:cNvPr>
          <p:cNvSpPr txBox="1"/>
          <p:nvPr/>
        </p:nvSpPr>
        <p:spPr>
          <a:xfrm>
            <a:off x="930068" y="1702565"/>
            <a:ext cx="4074474" cy="307777"/>
          </a:xfrm>
          <a:prstGeom prst="rect">
            <a:avLst/>
          </a:prstGeom>
          <a:noFill/>
        </p:spPr>
        <p:txBody>
          <a:bodyPr wrap="square" rtlCol="0">
            <a:spAutoFit/>
          </a:bodyPr>
          <a:lstStyle/>
          <a:p>
            <a:r>
              <a:rPr lang="es-PY" sz="1400" b="1" dirty="0">
                <a:solidFill>
                  <a:srgbClr val="3F3151"/>
                </a:solidFill>
              </a:rPr>
              <a:t>INDICADORES DE PRECISIÓN DEL CAN2022</a:t>
            </a:r>
          </a:p>
        </p:txBody>
      </p:sp>
      <p:sp>
        <p:nvSpPr>
          <p:cNvPr id="4" name="CuadroTexto 16">
            <a:extLst>
              <a:ext uri="{FF2B5EF4-FFF2-40B4-BE49-F238E27FC236}">
                <a16:creationId xmlns:a16="http://schemas.microsoft.com/office/drawing/2014/main" id="{9CF436AF-3B7B-4F00-B9B1-5CB21CED07E9}"/>
              </a:ext>
            </a:extLst>
          </p:cNvPr>
          <p:cNvSpPr txBox="1"/>
          <p:nvPr/>
        </p:nvSpPr>
        <p:spPr>
          <a:xfrm>
            <a:off x="2006599" y="2865439"/>
            <a:ext cx="5413896" cy="1754326"/>
          </a:xfrm>
          <a:prstGeom prst="rect">
            <a:avLst/>
          </a:prstGeom>
          <a:noFill/>
        </p:spPr>
        <p:txBody>
          <a:bodyPr wrap="square" rtlCol="0">
            <a:spAutoFit/>
          </a:bodyPr>
          <a:lstStyle/>
          <a:p>
            <a:r>
              <a:rPr lang="es-PY" sz="1200" b="1" dirty="0">
                <a:solidFill>
                  <a:srgbClr val="3F3151"/>
                </a:solidFill>
              </a:rPr>
              <a:t>Error Global de Cobertura</a:t>
            </a:r>
            <a:r>
              <a:rPr lang="es-PY" sz="1200" dirty="0">
                <a:solidFill>
                  <a:srgbClr val="3F3151"/>
                </a:solidFill>
              </a:rPr>
              <a:t>: 5%</a:t>
            </a:r>
          </a:p>
          <a:p>
            <a:endParaRPr lang="es-PY" sz="1200" i="1" dirty="0">
              <a:solidFill>
                <a:srgbClr val="3F3151"/>
              </a:solidFill>
            </a:endParaRPr>
          </a:p>
          <a:p>
            <a:pPr marL="171450" indent="-171450">
              <a:buFont typeface="Arial" panose="020B0604020202020204" pitchFamily="34" charset="0"/>
              <a:buChar char="•"/>
            </a:pPr>
            <a:r>
              <a:rPr lang="es-PY" sz="1200" i="1" dirty="0">
                <a:solidFill>
                  <a:srgbClr val="3F3151"/>
                </a:solidFill>
              </a:rPr>
              <a:t>(</a:t>
            </a:r>
            <a:r>
              <a:rPr lang="es-PY" sz="1200" b="1" i="1" dirty="0">
                <a:solidFill>
                  <a:srgbClr val="3F3151"/>
                </a:solidFill>
              </a:rPr>
              <a:t>Error de inclusión </a:t>
            </a:r>
            <a:r>
              <a:rPr lang="es-PY" sz="1200" i="1" dirty="0">
                <a:solidFill>
                  <a:srgbClr val="3F3151"/>
                </a:solidFill>
              </a:rPr>
              <a:t>= 4%) +  (</a:t>
            </a:r>
            <a:r>
              <a:rPr lang="es-PY" sz="1200" b="1" i="1" dirty="0">
                <a:solidFill>
                  <a:srgbClr val="3F3151"/>
                </a:solidFill>
              </a:rPr>
              <a:t>Error de omisión </a:t>
            </a:r>
            <a:r>
              <a:rPr lang="es-PY" sz="1200" i="1" dirty="0">
                <a:solidFill>
                  <a:srgbClr val="3F3151"/>
                </a:solidFill>
              </a:rPr>
              <a:t>= 1%</a:t>
            </a:r>
            <a:r>
              <a:rPr lang="es-PY" sz="1200" b="1" i="1" dirty="0">
                <a:solidFill>
                  <a:srgbClr val="3F3151"/>
                </a:solidFill>
              </a:rPr>
              <a:t>)</a:t>
            </a:r>
          </a:p>
          <a:p>
            <a:pPr marL="171450" indent="-171450">
              <a:buFont typeface="Arial" panose="020B0604020202020204" pitchFamily="34" charset="0"/>
              <a:buChar char="•"/>
            </a:pPr>
            <a:endParaRPr lang="es-PY" sz="1200" b="1" i="1" dirty="0">
              <a:solidFill>
                <a:srgbClr val="3F3151"/>
              </a:solidFill>
            </a:endParaRPr>
          </a:p>
          <a:p>
            <a:pPr marL="171450" indent="-171450">
              <a:buFont typeface="Arial" panose="020B0604020202020204" pitchFamily="34" charset="0"/>
              <a:buChar char="•"/>
            </a:pPr>
            <a:endParaRPr lang="es-PY" sz="1200" b="1" i="1" dirty="0">
              <a:solidFill>
                <a:srgbClr val="3F3151"/>
              </a:solidFill>
            </a:endParaRPr>
          </a:p>
          <a:p>
            <a:r>
              <a:rPr lang="es-ES" sz="1200" b="1" i="1" dirty="0">
                <a:solidFill>
                  <a:srgbClr val="3F3151"/>
                </a:solidFill>
              </a:rPr>
              <a:t>CAN 2022</a:t>
            </a:r>
            <a:endParaRPr lang="es-PY" sz="1200" b="1" i="1" dirty="0">
              <a:solidFill>
                <a:srgbClr val="3F3151"/>
              </a:solidFill>
            </a:endParaRPr>
          </a:p>
          <a:p>
            <a:endParaRPr lang="es-PY" sz="1200" b="1" i="1" dirty="0">
              <a:solidFill>
                <a:srgbClr val="3F3151"/>
              </a:solidFill>
            </a:endParaRPr>
          </a:p>
          <a:p>
            <a:pPr marL="171450" indent="-171450">
              <a:buFont typeface="Arial" panose="020B0604020202020204" pitchFamily="34" charset="0"/>
              <a:buChar char="•"/>
            </a:pPr>
            <a:r>
              <a:rPr lang="es-PY" sz="1200" b="1" dirty="0">
                <a:solidFill>
                  <a:srgbClr val="3F3151"/>
                </a:solidFill>
              </a:rPr>
              <a:t>Tasa de Rechazo: </a:t>
            </a:r>
            <a:r>
              <a:rPr lang="es-PY" sz="1200" dirty="0">
                <a:solidFill>
                  <a:srgbClr val="3F3151"/>
                </a:solidFill>
              </a:rPr>
              <a:t>0.15%</a:t>
            </a:r>
          </a:p>
          <a:p>
            <a:endParaRPr lang="es-PY" sz="1200" b="1" i="1" dirty="0">
              <a:solidFill>
                <a:srgbClr val="3F3151"/>
              </a:solidFill>
            </a:endParaRPr>
          </a:p>
        </p:txBody>
      </p:sp>
      <p:grpSp>
        <p:nvGrpSpPr>
          <p:cNvPr id="6" name="Grupo 5">
            <a:extLst>
              <a:ext uri="{FF2B5EF4-FFF2-40B4-BE49-F238E27FC236}">
                <a16:creationId xmlns:a16="http://schemas.microsoft.com/office/drawing/2014/main" id="{212567AF-8BB3-409D-66F2-C01E7AF21DCC}"/>
              </a:ext>
            </a:extLst>
          </p:cNvPr>
          <p:cNvGrpSpPr/>
          <p:nvPr/>
        </p:nvGrpSpPr>
        <p:grpSpPr>
          <a:xfrm>
            <a:off x="930068" y="-1135380"/>
            <a:ext cx="1140746" cy="1135380"/>
            <a:chOff x="930068" y="-340980"/>
            <a:chExt cx="1140746" cy="1135380"/>
          </a:xfrm>
        </p:grpSpPr>
        <p:sp>
          <p:nvSpPr>
            <p:cNvPr id="7" name="Rectángulo 6">
              <a:extLst>
                <a:ext uri="{FF2B5EF4-FFF2-40B4-BE49-F238E27FC236}">
                  <a16:creationId xmlns:a16="http://schemas.microsoft.com/office/drawing/2014/main" id="{3B90E83E-5DFD-4DF2-8AE8-B5E6E17DAE0B}"/>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8" name="CuadroTexto 7">
              <a:extLst>
                <a:ext uri="{FF2B5EF4-FFF2-40B4-BE49-F238E27FC236}">
                  <a16:creationId xmlns:a16="http://schemas.microsoft.com/office/drawing/2014/main" id="{7C1220AE-7011-864F-0A73-9E1D4367BA5C}"/>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Temática</a:t>
              </a:r>
              <a:endParaRPr lang="en-US" sz="1000" b="1" dirty="0">
                <a:solidFill>
                  <a:schemeClr val="bg1"/>
                </a:solidFill>
              </a:endParaRPr>
            </a:p>
          </p:txBody>
        </p:sp>
      </p:grpSp>
      <p:grpSp>
        <p:nvGrpSpPr>
          <p:cNvPr id="9" name="Grupo 8">
            <a:extLst>
              <a:ext uri="{FF2B5EF4-FFF2-40B4-BE49-F238E27FC236}">
                <a16:creationId xmlns:a16="http://schemas.microsoft.com/office/drawing/2014/main" id="{A9BC3AEB-5DA3-DC3F-3CA9-E42DB3CC4AEA}"/>
              </a:ext>
            </a:extLst>
          </p:cNvPr>
          <p:cNvGrpSpPr/>
          <p:nvPr/>
        </p:nvGrpSpPr>
        <p:grpSpPr>
          <a:xfrm>
            <a:off x="2396932" y="-1131510"/>
            <a:ext cx="1140746" cy="1135380"/>
            <a:chOff x="2396932" y="-340980"/>
            <a:chExt cx="1140746" cy="1135380"/>
          </a:xfrm>
        </p:grpSpPr>
        <p:sp>
          <p:nvSpPr>
            <p:cNvPr id="10" name="Rectángulo 9">
              <a:extLst>
                <a:ext uri="{FF2B5EF4-FFF2-40B4-BE49-F238E27FC236}">
                  <a16:creationId xmlns:a16="http://schemas.microsoft.com/office/drawing/2014/main" id="{7D1A23A8-3C6E-9178-134B-F86720F24C16}"/>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1" name="CuadroTexto 10">
              <a:extLst>
                <a:ext uri="{FF2B5EF4-FFF2-40B4-BE49-F238E27FC236}">
                  <a16:creationId xmlns:a16="http://schemas.microsoft.com/office/drawing/2014/main" id="{C341A178-A786-CB83-0E4F-98D79A7E609A}"/>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Innovación Tecnológica</a:t>
              </a:r>
              <a:endParaRPr lang="en-US" sz="1000" b="1" dirty="0">
                <a:solidFill>
                  <a:srgbClr val="3F3151"/>
                </a:solidFill>
              </a:endParaRPr>
            </a:p>
          </p:txBody>
        </p:sp>
      </p:grpSp>
      <p:grpSp>
        <p:nvGrpSpPr>
          <p:cNvPr id="12" name="Grupo 11">
            <a:extLst>
              <a:ext uri="{FF2B5EF4-FFF2-40B4-BE49-F238E27FC236}">
                <a16:creationId xmlns:a16="http://schemas.microsoft.com/office/drawing/2014/main" id="{6291E7E7-4F82-A849-2B72-6BEB9AF5EC79}"/>
              </a:ext>
            </a:extLst>
          </p:cNvPr>
          <p:cNvGrpSpPr/>
          <p:nvPr/>
        </p:nvGrpSpPr>
        <p:grpSpPr>
          <a:xfrm>
            <a:off x="3863796" y="-1135380"/>
            <a:ext cx="1140746" cy="1135380"/>
            <a:chOff x="3863796" y="-340980"/>
            <a:chExt cx="1140746" cy="1135380"/>
          </a:xfrm>
        </p:grpSpPr>
        <p:sp>
          <p:nvSpPr>
            <p:cNvPr id="13" name="Rectángulo 12">
              <a:extLst>
                <a:ext uri="{FF2B5EF4-FFF2-40B4-BE49-F238E27FC236}">
                  <a16:creationId xmlns:a16="http://schemas.microsoft.com/office/drawing/2014/main" id="{EDC7911D-2502-6CBE-ACC8-F450344134BE}"/>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CuadroTexto 13">
              <a:extLst>
                <a:ext uri="{FF2B5EF4-FFF2-40B4-BE49-F238E27FC236}">
                  <a16:creationId xmlns:a16="http://schemas.microsoft.com/office/drawing/2014/main" id="{610CC765-4A65-E33C-B86F-1FD792B028AE}"/>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Estrategia Operativa</a:t>
              </a:r>
              <a:endParaRPr lang="en-US" sz="1000" b="1" dirty="0">
                <a:solidFill>
                  <a:schemeClr val="bg1"/>
                </a:solidFill>
              </a:endParaRPr>
            </a:p>
          </p:txBody>
        </p:sp>
      </p:grpSp>
      <p:grpSp>
        <p:nvGrpSpPr>
          <p:cNvPr id="15" name="Grupo 14">
            <a:extLst>
              <a:ext uri="{FF2B5EF4-FFF2-40B4-BE49-F238E27FC236}">
                <a16:creationId xmlns:a16="http://schemas.microsoft.com/office/drawing/2014/main" id="{324A5C07-92F1-8334-2F0C-8849E92E8FEB}"/>
              </a:ext>
            </a:extLst>
          </p:cNvPr>
          <p:cNvGrpSpPr/>
          <p:nvPr/>
        </p:nvGrpSpPr>
        <p:grpSpPr>
          <a:xfrm>
            <a:off x="5330660" y="-340980"/>
            <a:ext cx="1140746" cy="1135380"/>
            <a:chOff x="5330660" y="-340980"/>
            <a:chExt cx="1140746" cy="1135380"/>
          </a:xfrm>
        </p:grpSpPr>
        <p:sp>
          <p:nvSpPr>
            <p:cNvPr id="16" name="Rectángulo 15">
              <a:extLst>
                <a:ext uri="{FF2B5EF4-FFF2-40B4-BE49-F238E27FC236}">
                  <a16:creationId xmlns:a16="http://schemas.microsoft.com/office/drawing/2014/main" id="{50047A5F-B764-DF21-8231-E827C6DB6905}"/>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7" name="CuadroTexto 16">
              <a:extLst>
                <a:ext uri="{FF2B5EF4-FFF2-40B4-BE49-F238E27FC236}">
                  <a16:creationId xmlns:a16="http://schemas.microsoft.com/office/drawing/2014/main" id="{B7FFD484-296A-F3E2-4FA0-435C5E06124B}"/>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18" name="Grupo 17">
            <a:extLst>
              <a:ext uri="{FF2B5EF4-FFF2-40B4-BE49-F238E27FC236}">
                <a16:creationId xmlns:a16="http://schemas.microsoft.com/office/drawing/2014/main" id="{194E912B-FC7C-0CF7-9ADE-D7A559060307}"/>
              </a:ext>
            </a:extLst>
          </p:cNvPr>
          <p:cNvGrpSpPr/>
          <p:nvPr/>
        </p:nvGrpSpPr>
        <p:grpSpPr>
          <a:xfrm>
            <a:off x="6797524" y="-1135380"/>
            <a:ext cx="1140746" cy="1135380"/>
            <a:chOff x="6820384" y="-340980"/>
            <a:chExt cx="1140746" cy="1135380"/>
          </a:xfrm>
        </p:grpSpPr>
        <p:sp>
          <p:nvSpPr>
            <p:cNvPr id="19" name="Rectángulo 18">
              <a:extLst>
                <a:ext uri="{FF2B5EF4-FFF2-40B4-BE49-F238E27FC236}">
                  <a16:creationId xmlns:a16="http://schemas.microsoft.com/office/drawing/2014/main" id="{EF05878D-D253-1846-1A09-2036ADD9DE07}"/>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0" name="CuadroTexto 19">
              <a:extLst>
                <a:ext uri="{FF2B5EF4-FFF2-40B4-BE49-F238E27FC236}">
                  <a16:creationId xmlns:a16="http://schemas.microsoft.com/office/drawing/2014/main" id="{F61A12AF-C4CC-C928-63F7-03C999433396}"/>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cxnSp>
        <p:nvCxnSpPr>
          <p:cNvPr id="5" name="2 Conector recto">
            <a:extLst>
              <a:ext uri="{FF2B5EF4-FFF2-40B4-BE49-F238E27FC236}">
                <a16:creationId xmlns:a16="http://schemas.microsoft.com/office/drawing/2014/main" id="{60C2A5A9-803E-9D7B-764A-3ABD24711E79}"/>
              </a:ext>
            </a:extLst>
          </p:cNvPr>
          <p:cNvCxnSpPr>
            <a:cxnSpLocks/>
          </p:cNvCxnSpPr>
          <p:nvPr/>
        </p:nvCxnSpPr>
        <p:spPr>
          <a:xfrm>
            <a:off x="709693" y="1434654"/>
            <a:ext cx="7538072" cy="0"/>
          </a:xfrm>
          <a:prstGeom prst="line">
            <a:avLst/>
          </a:prstGeom>
          <a:ln w="381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pic>
        <p:nvPicPr>
          <p:cNvPr id="24" name="Imagen 23" descr="Forma&#10;&#10;Descripción generada automáticamente con confianza baja">
            <a:extLst>
              <a:ext uri="{FF2B5EF4-FFF2-40B4-BE49-F238E27FC236}">
                <a16:creationId xmlns:a16="http://schemas.microsoft.com/office/drawing/2014/main" id="{7970ABC4-DB76-3835-1768-F0BEF342258F}"/>
              </a:ext>
            </a:extLst>
          </p:cNvPr>
          <p:cNvPicPr>
            <a:picLocks noChangeAspect="1"/>
          </p:cNvPicPr>
          <p:nvPr/>
        </p:nvPicPr>
        <p:blipFill>
          <a:blip r:embed="rId4"/>
          <a:stretch>
            <a:fillRect/>
          </a:stretch>
        </p:blipFill>
        <p:spPr>
          <a:xfrm>
            <a:off x="1329147" y="2950262"/>
            <a:ext cx="517423" cy="517423"/>
          </a:xfrm>
          <a:prstGeom prst="rect">
            <a:avLst/>
          </a:prstGeom>
        </p:spPr>
      </p:pic>
      <p:pic>
        <p:nvPicPr>
          <p:cNvPr id="26" name="Imagen 25" descr="Forma&#10;&#10;Descripción generada automáticamente con confianza baja">
            <a:extLst>
              <a:ext uri="{FF2B5EF4-FFF2-40B4-BE49-F238E27FC236}">
                <a16:creationId xmlns:a16="http://schemas.microsoft.com/office/drawing/2014/main" id="{9636AF35-8CBD-FF70-ED06-935BDCCFC66E}"/>
              </a:ext>
            </a:extLst>
          </p:cNvPr>
          <p:cNvPicPr>
            <a:picLocks noChangeAspect="1"/>
          </p:cNvPicPr>
          <p:nvPr/>
        </p:nvPicPr>
        <p:blipFill>
          <a:blip r:embed="rId5"/>
          <a:stretch>
            <a:fillRect/>
          </a:stretch>
        </p:blipFill>
        <p:spPr>
          <a:xfrm>
            <a:off x="1378446" y="3877364"/>
            <a:ext cx="517423" cy="517423"/>
          </a:xfrm>
          <a:prstGeom prst="rect">
            <a:avLst/>
          </a:prstGeom>
        </p:spPr>
      </p:pic>
      <p:sp>
        <p:nvSpPr>
          <p:cNvPr id="23" name="CuadroTexto 16">
            <a:extLst>
              <a:ext uri="{FF2B5EF4-FFF2-40B4-BE49-F238E27FC236}">
                <a16:creationId xmlns:a16="http://schemas.microsoft.com/office/drawing/2014/main" id="{81D8E13D-6D4D-91A7-7DAB-4943C8C07A6C}"/>
              </a:ext>
            </a:extLst>
          </p:cNvPr>
          <p:cNvSpPr txBox="1"/>
          <p:nvPr/>
        </p:nvSpPr>
        <p:spPr>
          <a:xfrm>
            <a:off x="1431071" y="912447"/>
            <a:ext cx="1871292" cy="430887"/>
          </a:xfrm>
          <a:prstGeom prst="rect">
            <a:avLst/>
          </a:prstGeom>
          <a:noFill/>
        </p:spPr>
        <p:txBody>
          <a:bodyPr wrap="square">
            <a:spAutoFit/>
          </a:bodyPr>
          <a:lstStyle/>
          <a:p>
            <a:pPr eaLnBrk="1" fontAlgn="auto" hangingPunct="1">
              <a:buSzPct val="102857"/>
              <a:defRPr/>
            </a:pPr>
            <a:r>
              <a:rPr lang="es-ES" sz="1100" kern="0" dirty="0">
                <a:solidFill>
                  <a:srgbClr val="3F3151"/>
                </a:solidFill>
                <a:latin typeface="+mj-lt"/>
                <a:ea typeface="Calibri"/>
                <a:sym typeface="Calibri"/>
              </a:rPr>
              <a:t>Evaluación por Muestreo de Calidad</a:t>
            </a:r>
          </a:p>
        </p:txBody>
      </p:sp>
      <p:pic>
        <p:nvPicPr>
          <p:cNvPr id="25" name="Imagen 2" descr="Forma&#10;&#10;Descripción generada automáticamente con confianza baja">
            <a:extLst>
              <a:ext uri="{FF2B5EF4-FFF2-40B4-BE49-F238E27FC236}">
                <a16:creationId xmlns:a16="http://schemas.microsoft.com/office/drawing/2014/main" id="{D796B26A-A589-B809-62B6-91A375E71420}"/>
              </a:ext>
            </a:extLst>
          </p:cNvPr>
          <p:cNvPicPr>
            <a:picLocks noChangeAspect="1"/>
          </p:cNvPicPr>
          <p:nvPr/>
        </p:nvPicPr>
        <p:blipFill>
          <a:blip r:embed="rId6"/>
          <a:stretch>
            <a:fillRect/>
          </a:stretch>
        </p:blipFill>
        <p:spPr>
          <a:xfrm>
            <a:off x="794486" y="697876"/>
            <a:ext cx="645458" cy="645458"/>
          </a:xfrm>
          <a:prstGeom prst="rect">
            <a:avLst/>
          </a:prstGeom>
        </p:spPr>
      </p:pic>
    </p:spTree>
    <p:custDataLst>
      <p:tags r:id="rId1"/>
    </p:custDataLst>
    <p:extLst>
      <p:ext uri="{BB962C8B-B14F-4D97-AF65-F5344CB8AC3E}">
        <p14:creationId xmlns:p14="http://schemas.microsoft.com/office/powerpoint/2010/main" val="3311931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966757" y="2048530"/>
            <a:ext cx="5739895" cy="523220"/>
          </a:xfrm>
          <a:prstGeom prst="rect">
            <a:avLst/>
          </a:prstGeom>
          <a:noFill/>
        </p:spPr>
        <p:txBody>
          <a:bodyPr wrap="square" rtlCol="0">
            <a:spAutoFit/>
          </a:bodyPr>
          <a:lstStyle/>
          <a:p>
            <a:r>
              <a:rPr lang="es-ES" sz="2800" b="1" dirty="0">
                <a:solidFill>
                  <a:srgbClr val="3F3151"/>
                </a:solidFill>
              </a:rPr>
              <a:t>II. </a:t>
            </a:r>
            <a:r>
              <a:rPr lang="es-ES" sz="2800" dirty="0">
                <a:solidFill>
                  <a:srgbClr val="3F3151"/>
                </a:solidFill>
              </a:rPr>
              <a:t>RESULTADOS</a:t>
            </a:r>
          </a:p>
        </p:txBody>
      </p:sp>
      <p:sp>
        <p:nvSpPr>
          <p:cNvPr id="3" name="Rectángulo 2">
            <a:extLst>
              <a:ext uri="{FF2B5EF4-FFF2-40B4-BE49-F238E27FC236}">
                <a16:creationId xmlns:a16="http://schemas.microsoft.com/office/drawing/2014/main" id="{BB8A51D3-38BD-7D89-6D00-5F901D8A4CA6}"/>
              </a:ext>
            </a:extLst>
          </p:cNvPr>
          <p:cNvSpPr/>
          <p:nvPr/>
        </p:nvSpPr>
        <p:spPr>
          <a:xfrm>
            <a:off x="1274888" y="2387599"/>
            <a:ext cx="144964" cy="628651"/>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a:extLst>
              <a:ext uri="{FF2B5EF4-FFF2-40B4-BE49-F238E27FC236}">
                <a16:creationId xmlns:a16="http://schemas.microsoft.com/office/drawing/2014/main" id="{BCBAB799-C2D9-8779-3A7A-B35BB8B4BC1B}"/>
              </a:ext>
            </a:extLst>
          </p:cNvPr>
          <p:cNvSpPr/>
          <p:nvPr/>
        </p:nvSpPr>
        <p:spPr>
          <a:xfrm>
            <a:off x="1452557" y="1901628"/>
            <a:ext cx="144964" cy="1533125"/>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FB92FFF5-A0A0-AF3B-8E91-3CDE434EC43E}"/>
              </a:ext>
            </a:extLst>
          </p:cNvPr>
          <p:cNvSpPr/>
          <p:nvPr/>
        </p:nvSpPr>
        <p:spPr>
          <a:xfrm>
            <a:off x="1630226" y="2132011"/>
            <a:ext cx="144964" cy="1139825"/>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upo 11">
            <a:extLst>
              <a:ext uri="{FF2B5EF4-FFF2-40B4-BE49-F238E27FC236}">
                <a16:creationId xmlns:a16="http://schemas.microsoft.com/office/drawing/2014/main" id="{1C8D5A4B-FB10-911C-C5C9-E84E070448A5}"/>
              </a:ext>
            </a:extLst>
          </p:cNvPr>
          <p:cNvGrpSpPr/>
          <p:nvPr/>
        </p:nvGrpSpPr>
        <p:grpSpPr>
          <a:xfrm>
            <a:off x="930068" y="-1135380"/>
            <a:ext cx="1140746" cy="1135380"/>
            <a:chOff x="930068" y="-340980"/>
            <a:chExt cx="1140746" cy="1135380"/>
          </a:xfrm>
        </p:grpSpPr>
        <p:sp>
          <p:nvSpPr>
            <p:cNvPr id="13" name="Rectángulo 12">
              <a:extLst>
                <a:ext uri="{FF2B5EF4-FFF2-40B4-BE49-F238E27FC236}">
                  <a16:creationId xmlns:a16="http://schemas.microsoft.com/office/drawing/2014/main" id="{DCE85C0B-123A-E555-3E9B-5CC2C9D2C3C6}"/>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CuadroTexto 13">
              <a:extLst>
                <a:ext uri="{FF2B5EF4-FFF2-40B4-BE49-F238E27FC236}">
                  <a16:creationId xmlns:a16="http://schemas.microsoft.com/office/drawing/2014/main" id="{132AFB11-E8B0-47BF-CE73-635F3114B944}"/>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Tecnológica</a:t>
              </a:r>
              <a:endParaRPr lang="en-US" sz="1000" b="1" dirty="0">
                <a:solidFill>
                  <a:schemeClr val="bg1"/>
                </a:solidFill>
              </a:endParaRPr>
            </a:p>
          </p:txBody>
        </p:sp>
      </p:grpSp>
      <p:grpSp>
        <p:nvGrpSpPr>
          <p:cNvPr id="15" name="Grupo 14">
            <a:extLst>
              <a:ext uri="{FF2B5EF4-FFF2-40B4-BE49-F238E27FC236}">
                <a16:creationId xmlns:a16="http://schemas.microsoft.com/office/drawing/2014/main" id="{561D4EA5-11C7-CE4F-9EAE-C66960146E7D}"/>
              </a:ext>
            </a:extLst>
          </p:cNvPr>
          <p:cNvGrpSpPr/>
          <p:nvPr/>
        </p:nvGrpSpPr>
        <p:grpSpPr>
          <a:xfrm>
            <a:off x="2396932" y="-1135380"/>
            <a:ext cx="1140746" cy="1135380"/>
            <a:chOff x="2396932" y="-340980"/>
            <a:chExt cx="1140746" cy="1135380"/>
          </a:xfrm>
        </p:grpSpPr>
        <p:sp>
          <p:nvSpPr>
            <p:cNvPr id="16" name="Rectángulo 15">
              <a:extLst>
                <a:ext uri="{FF2B5EF4-FFF2-40B4-BE49-F238E27FC236}">
                  <a16:creationId xmlns:a16="http://schemas.microsoft.com/office/drawing/2014/main" id="{9E5877FB-5D80-004C-AA75-A22A52ADD708}"/>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7" name="CuadroTexto 16">
              <a:extLst>
                <a:ext uri="{FF2B5EF4-FFF2-40B4-BE49-F238E27FC236}">
                  <a16:creationId xmlns:a16="http://schemas.microsoft.com/office/drawing/2014/main" id="{E9E8BA91-9FF7-4189-276C-D04746C22C60}"/>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Estrategia Operativa</a:t>
              </a:r>
              <a:endParaRPr lang="en-US" sz="1000" b="1" dirty="0">
                <a:solidFill>
                  <a:srgbClr val="3F3151"/>
                </a:solidFill>
              </a:endParaRPr>
            </a:p>
          </p:txBody>
        </p:sp>
      </p:grpSp>
      <p:grpSp>
        <p:nvGrpSpPr>
          <p:cNvPr id="18" name="Grupo 17">
            <a:extLst>
              <a:ext uri="{FF2B5EF4-FFF2-40B4-BE49-F238E27FC236}">
                <a16:creationId xmlns:a16="http://schemas.microsoft.com/office/drawing/2014/main" id="{F8646F1F-AED4-085A-399E-B79B87E06214}"/>
              </a:ext>
            </a:extLst>
          </p:cNvPr>
          <p:cNvGrpSpPr/>
          <p:nvPr/>
        </p:nvGrpSpPr>
        <p:grpSpPr>
          <a:xfrm>
            <a:off x="3863796" y="-1135380"/>
            <a:ext cx="1140746" cy="1135380"/>
            <a:chOff x="3863796" y="-340980"/>
            <a:chExt cx="1140746" cy="1135380"/>
          </a:xfrm>
        </p:grpSpPr>
        <p:sp>
          <p:nvSpPr>
            <p:cNvPr id="19" name="Rectángulo 18">
              <a:extLst>
                <a:ext uri="{FF2B5EF4-FFF2-40B4-BE49-F238E27FC236}">
                  <a16:creationId xmlns:a16="http://schemas.microsoft.com/office/drawing/2014/main" id="{A4D7AB52-3B41-F54B-5764-765BD37241DE}"/>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0" name="CuadroTexto 19">
              <a:extLst>
                <a:ext uri="{FF2B5EF4-FFF2-40B4-BE49-F238E27FC236}">
                  <a16:creationId xmlns:a16="http://schemas.microsoft.com/office/drawing/2014/main" id="{7E15F27B-88BC-D720-33B9-7B2D6E7B40AF}"/>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Innovaciones temáticas</a:t>
              </a:r>
              <a:endParaRPr lang="en-US" sz="1000" b="1" dirty="0">
                <a:solidFill>
                  <a:schemeClr val="bg1"/>
                </a:solidFill>
              </a:endParaRPr>
            </a:p>
          </p:txBody>
        </p:sp>
      </p:grpSp>
      <p:grpSp>
        <p:nvGrpSpPr>
          <p:cNvPr id="21" name="Grupo 20">
            <a:extLst>
              <a:ext uri="{FF2B5EF4-FFF2-40B4-BE49-F238E27FC236}">
                <a16:creationId xmlns:a16="http://schemas.microsoft.com/office/drawing/2014/main" id="{A834671B-32AA-5D97-B95D-1AE647A63C5D}"/>
              </a:ext>
            </a:extLst>
          </p:cNvPr>
          <p:cNvGrpSpPr/>
          <p:nvPr/>
        </p:nvGrpSpPr>
        <p:grpSpPr>
          <a:xfrm>
            <a:off x="5330660" y="-1135380"/>
            <a:ext cx="1140746" cy="1135380"/>
            <a:chOff x="5330660" y="-340980"/>
            <a:chExt cx="1140746" cy="1135380"/>
          </a:xfrm>
        </p:grpSpPr>
        <p:sp>
          <p:nvSpPr>
            <p:cNvPr id="22" name="Rectángulo 21">
              <a:extLst>
                <a:ext uri="{FF2B5EF4-FFF2-40B4-BE49-F238E27FC236}">
                  <a16:creationId xmlns:a16="http://schemas.microsoft.com/office/drawing/2014/main" id="{92FCD7E4-1A40-A4D3-E3B3-5FCF0928EDC0}"/>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3" name="CuadroTexto 22">
              <a:extLst>
                <a:ext uri="{FF2B5EF4-FFF2-40B4-BE49-F238E27FC236}">
                  <a16:creationId xmlns:a16="http://schemas.microsoft.com/office/drawing/2014/main" id="{ACEFD3C1-1FF7-B1AA-C7C7-4315B78965E2}"/>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24" name="Grupo 23">
            <a:extLst>
              <a:ext uri="{FF2B5EF4-FFF2-40B4-BE49-F238E27FC236}">
                <a16:creationId xmlns:a16="http://schemas.microsoft.com/office/drawing/2014/main" id="{A025E036-C136-E203-19EC-1F798BA1AE1E}"/>
              </a:ext>
            </a:extLst>
          </p:cNvPr>
          <p:cNvGrpSpPr/>
          <p:nvPr/>
        </p:nvGrpSpPr>
        <p:grpSpPr>
          <a:xfrm>
            <a:off x="6797524" y="-1135380"/>
            <a:ext cx="1140746" cy="1135380"/>
            <a:chOff x="6820384" y="-340980"/>
            <a:chExt cx="1140746" cy="1135380"/>
          </a:xfrm>
        </p:grpSpPr>
        <p:sp>
          <p:nvSpPr>
            <p:cNvPr id="25" name="Rectángulo 24">
              <a:extLst>
                <a:ext uri="{FF2B5EF4-FFF2-40B4-BE49-F238E27FC236}">
                  <a16:creationId xmlns:a16="http://schemas.microsoft.com/office/drawing/2014/main" id="{36C9D38F-A1E4-6AB7-B07C-114DF6DC07D7}"/>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6" name="CuadroTexto 25">
              <a:extLst>
                <a:ext uri="{FF2B5EF4-FFF2-40B4-BE49-F238E27FC236}">
                  <a16:creationId xmlns:a16="http://schemas.microsoft.com/office/drawing/2014/main" id="{A319916A-7BFD-05ED-6C40-8D707730EDBB}"/>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pic>
        <p:nvPicPr>
          <p:cNvPr id="6" name="Imagen 5">
            <a:extLst>
              <a:ext uri="{FF2B5EF4-FFF2-40B4-BE49-F238E27FC236}">
                <a16:creationId xmlns:a16="http://schemas.microsoft.com/office/drawing/2014/main" id="{621A2B4B-9032-BE72-FEF3-27106E7B42AC}"/>
              </a:ext>
            </a:extLst>
          </p:cNvPr>
          <p:cNvPicPr>
            <a:picLocks noChangeAspect="1"/>
          </p:cNvPicPr>
          <p:nvPr/>
        </p:nvPicPr>
        <p:blipFill>
          <a:blip r:embed="rId3"/>
          <a:stretch>
            <a:fillRect/>
          </a:stretch>
        </p:blipFill>
        <p:spPr>
          <a:xfrm>
            <a:off x="2070814" y="2607185"/>
            <a:ext cx="523220" cy="523220"/>
          </a:xfrm>
          <a:prstGeom prst="rect">
            <a:avLst/>
          </a:prstGeom>
        </p:spPr>
      </p:pic>
      <p:sp>
        <p:nvSpPr>
          <p:cNvPr id="7" name="CuadroTexto 16">
            <a:extLst>
              <a:ext uri="{FF2B5EF4-FFF2-40B4-BE49-F238E27FC236}">
                <a16:creationId xmlns:a16="http://schemas.microsoft.com/office/drawing/2014/main" id="{271D015E-E2A3-6A38-F325-D28B0588CA73}"/>
              </a:ext>
            </a:extLst>
          </p:cNvPr>
          <p:cNvSpPr txBox="1"/>
          <p:nvPr/>
        </p:nvSpPr>
        <p:spPr>
          <a:xfrm>
            <a:off x="2623712" y="2714906"/>
            <a:ext cx="3847694" cy="523220"/>
          </a:xfrm>
          <a:prstGeom prst="rect">
            <a:avLst/>
          </a:prstGeom>
          <a:noFill/>
        </p:spPr>
        <p:txBody>
          <a:bodyPr wrap="square" rtlCol="0">
            <a:spAutoFit/>
          </a:bodyPr>
          <a:lstStyle/>
          <a:p>
            <a:r>
              <a:rPr lang="es-ES" dirty="0"/>
              <a:t>En base a las </a:t>
            </a:r>
            <a:r>
              <a:rPr lang="es-ES" b="1" dirty="0"/>
              <a:t>291.497</a:t>
            </a:r>
            <a:r>
              <a:rPr lang="es-ES" dirty="0"/>
              <a:t> fincas agropecuarias y </a:t>
            </a:r>
          </a:p>
          <a:p>
            <a:r>
              <a:rPr lang="es-ES" b="1" dirty="0"/>
              <a:t>                       30.401.660</a:t>
            </a:r>
            <a:r>
              <a:rPr lang="es-ES" sz="1200" b="1" i="1" dirty="0">
                <a:solidFill>
                  <a:srgbClr val="3F3151"/>
                </a:solidFill>
              </a:rPr>
              <a:t> </a:t>
            </a:r>
            <a:r>
              <a:rPr lang="es-ES" dirty="0"/>
              <a:t>ha agropecuario</a:t>
            </a:r>
            <a:endParaRPr lang="es-PY" dirty="0"/>
          </a:p>
        </p:txBody>
      </p:sp>
    </p:spTree>
    <p:extLst>
      <p:ext uri="{BB962C8B-B14F-4D97-AF65-F5344CB8AC3E}">
        <p14:creationId xmlns:p14="http://schemas.microsoft.com/office/powerpoint/2010/main" val="2787788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par>
                                <p:cTn id="8" presetID="16" presetClass="entr" presetSubtype="42" fill="hold" grpId="0" nodeType="withEffect">
                                  <p:stCondLst>
                                    <p:cond delay="250"/>
                                  </p:stCondLst>
                                  <p:childTnLst>
                                    <p:set>
                                      <p:cBhvr>
                                        <p:cTn id="9" dur="1" fill="hold">
                                          <p:stCondLst>
                                            <p:cond delay="0"/>
                                          </p:stCondLst>
                                        </p:cTn>
                                        <p:tgtEl>
                                          <p:spTgt spid="4"/>
                                        </p:tgtEl>
                                        <p:attrNameLst>
                                          <p:attrName>style.visibility</p:attrName>
                                        </p:attrNameLst>
                                      </p:cBhvr>
                                      <p:to>
                                        <p:strVal val="visible"/>
                                      </p:to>
                                    </p:set>
                                    <p:animEffect transition="in" filter="barn(outHorizontal)">
                                      <p:cBhvr>
                                        <p:cTn id="10" dur="500"/>
                                        <p:tgtEl>
                                          <p:spTgt spid="4"/>
                                        </p:tgtEl>
                                      </p:cBhvr>
                                    </p:animEffect>
                                  </p:childTnLst>
                                </p:cTn>
                              </p:par>
                              <p:par>
                                <p:cTn id="11" presetID="16" presetClass="entr" presetSubtype="42"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barn(outHorizontal)">
                                      <p:cBhvr>
                                        <p:cTn id="13" dur="500"/>
                                        <p:tgtEl>
                                          <p:spTgt spid="5"/>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250"/>
                            </p:stCondLst>
                            <p:childTnLst>
                              <p:par>
                                <p:cTn id="18" presetID="10"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par>
                          <p:cTn id="21" fill="hold">
                            <p:stCondLst>
                              <p:cond delay="175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429490" y="481212"/>
            <a:ext cx="6103361" cy="442912"/>
          </a:xfrm>
        </p:spPr>
        <p:txBody>
          <a:bodyPr>
            <a:noAutofit/>
          </a:bodyPr>
          <a:lstStyle/>
          <a:p>
            <a:pPr algn="ctr">
              <a:defRPr sz="12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ea typeface="+mn-ea"/>
                <a:cs typeface="+mn-cs"/>
              </a:rPr>
              <a:t>VARIACIÓN DE CANTIDAD DE FINCAS, SEGÚN TAMAÑO: CENSOS 2022 VS. 2008 </a:t>
            </a:r>
          </a:p>
        </p:txBody>
      </p:sp>
      <p:graphicFrame>
        <p:nvGraphicFramePr>
          <p:cNvPr id="8" name="7 Gráfico">
            <a:extLst>
              <a:ext uri="{FF2B5EF4-FFF2-40B4-BE49-F238E27FC236}">
                <a16:creationId xmlns:a16="http://schemas.microsoft.com/office/drawing/2014/main" id="{F3C636FA-005B-440F-876D-154A7DF8EC2A}"/>
              </a:ext>
            </a:extLst>
          </p:cNvPr>
          <p:cNvGraphicFramePr>
            <a:graphicFrameLocks/>
          </p:cNvGraphicFramePr>
          <p:nvPr>
            <p:extLst>
              <p:ext uri="{D42A27DB-BD31-4B8C-83A1-F6EECF244321}">
                <p14:modId xmlns:p14="http://schemas.microsoft.com/office/powerpoint/2010/main" val="3952149546"/>
              </p:ext>
            </p:extLst>
          </p:nvPr>
        </p:nvGraphicFramePr>
        <p:xfrm>
          <a:off x="150223" y="1033876"/>
          <a:ext cx="8418814" cy="3770714"/>
        </p:xfrm>
        <a:graphic>
          <a:graphicData uri="http://schemas.openxmlformats.org/drawingml/2006/chart">
            <c:chart xmlns:c="http://schemas.openxmlformats.org/drawingml/2006/chart" xmlns:r="http://schemas.openxmlformats.org/officeDocument/2006/relationships" r:id="rId4"/>
          </a:graphicData>
        </a:graphic>
      </p:graphicFrame>
      <p:pic>
        <p:nvPicPr>
          <p:cNvPr id="5" name="Imagen 4">
            <a:extLst>
              <a:ext uri="{FF2B5EF4-FFF2-40B4-BE49-F238E27FC236}">
                <a16:creationId xmlns:a16="http://schemas.microsoft.com/office/drawing/2014/main" id="{355C7D28-0596-4B2E-BFE0-4FCC6F272BC9}"/>
              </a:ext>
            </a:extLst>
          </p:cNvPr>
          <p:cNvPicPr>
            <a:picLocks noChangeAspect="1"/>
          </p:cNvPicPr>
          <p:nvPr/>
        </p:nvPicPr>
        <p:blipFill>
          <a:blip r:embed="rId5"/>
          <a:stretch>
            <a:fillRect/>
          </a:stretch>
        </p:blipFill>
        <p:spPr>
          <a:xfrm>
            <a:off x="2700765" y="928806"/>
            <a:ext cx="3317730" cy="3980854"/>
          </a:xfrm>
          <a:prstGeom prst="rect">
            <a:avLst/>
          </a:prstGeom>
        </p:spPr>
      </p:pic>
      <p:grpSp>
        <p:nvGrpSpPr>
          <p:cNvPr id="3" name="Grupo 2">
            <a:extLst>
              <a:ext uri="{FF2B5EF4-FFF2-40B4-BE49-F238E27FC236}">
                <a16:creationId xmlns:a16="http://schemas.microsoft.com/office/drawing/2014/main" id="{6191F2C3-FC3B-84FA-55C7-F28B01EAE130}"/>
              </a:ext>
            </a:extLst>
          </p:cNvPr>
          <p:cNvGrpSpPr/>
          <p:nvPr/>
        </p:nvGrpSpPr>
        <p:grpSpPr>
          <a:xfrm>
            <a:off x="6797524" y="-340980"/>
            <a:ext cx="1140746" cy="1135380"/>
            <a:chOff x="6820384" y="-340980"/>
            <a:chExt cx="1140746" cy="1135380"/>
          </a:xfrm>
        </p:grpSpPr>
        <p:sp>
          <p:nvSpPr>
            <p:cNvPr id="4" name="Rectángulo 3">
              <a:extLst>
                <a:ext uri="{FF2B5EF4-FFF2-40B4-BE49-F238E27FC236}">
                  <a16:creationId xmlns:a16="http://schemas.microsoft.com/office/drawing/2014/main" id="{5FB6D5BD-3CD2-27A4-BB05-5AC7A583E61E}"/>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6" name="CuadroTexto 5">
              <a:extLst>
                <a:ext uri="{FF2B5EF4-FFF2-40B4-BE49-F238E27FC236}">
                  <a16:creationId xmlns:a16="http://schemas.microsoft.com/office/drawing/2014/main" id="{BA6A2EDF-1D94-317D-0F32-19C3D3B014C3}"/>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Tree>
    <p:custDataLst>
      <p:tags r:id="rId1"/>
    </p:custDataLst>
    <p:extLst>
      <p:ext uri="{BB962C8B-B14F-4D97-AF65-F5344CB8AC3E}">
        <p14:creationId xmlns:p14="http://schemas.microsoft.com/office/powerpoint/2010/main" val="1965234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xit" presetSubtype="0" fill="hold" grpId="0"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1181893" y="488560"/>
            <a:ext cx="6780213" cy="44291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noAutofit/>
          </a:bodyPr>
          <a:lstStyle/>
          <a:p>
            <a:pPr algn="ctr"/>
            <a:r>
              <a:rPr lang="es-PY" sz="1200" b="1" kern="1200" dirty="0">
                <a:solidFill>
                  <a:sysClr val="windowText" lastClr="000000"/>
                </a:solidFill>
                <a:latin typeface="+mn-lt"/>
                <a:ea typeface="+mn-ea"/>
                <a:cs typeface="+mn-cs"/>
              </a:rPr>
              <a:t>VARIACIÓN DE SUPERFICIE DE FINCA, SEGÚN TAMAÑO: CENSOS 2022 VS. 2008 </a:t>
            </a:r>
          </a:p>
        </p:txBody>
      </p:sp>
      <p:graphicFrame>
        <p:nvGraphicFramePr>
          <p:cNvPr id="4" name="3 Gráfico">
            <a:extLst>
              <a:ext uri="{FF2B5EF4-FFF2-40B4-BE49-F238E27FC236}">
                <a16:creationId xmlns:a16="http://schemas.microsoft.com/office/drawing/2014/main" id="{74F83DBA-6E72-4262-A3AF-B1D6EF00C747}"/>
              </a:ext>
            </a:extLst>
          </p:cNvPr>
          <p:cNvGraphicFramePr>
            <a:graphicFrameLocks/>
          </p:cNvGraphicFramePr>
          <p:nvPr>
            <p:extLst>
              <p:ext uri="{D42A27DB-BD31-4B8C-83A1-F6EECF244321}">
                <p14:modId xmlns:p14="http://schemas.microsoft.com/office/powerpoint/2010/main" val="3905831749"/>
              </p:ext>
            </p:extLst>
          </p:nvPr>
        </p:nvGraphicFramePr>
        <p:xfrm>
          <a:off x="166255" y="976745"/>
          <a:ext cx="8596361" cy="4018638"/>
        </p:xfrm>
        <a:graphic>
          <a:graphicData uri="http://schemas.openxmlformats.org/drawingml/2006/chart">
            <c:chart xmlns:c="http://schemas.openxmlformats.org/drawingml/2006/chart" xmlns:r="http://schemas.openxmlformats.org/officeDocument/2006/relationships" r:id="rId3"/>
          </a:graphicData>
        </a:graphic>
      </p:graphicFrame>
      <p:grpSp>
        <p:nvGrpSpPr>
          <p:cNvPr id="3" name="Grupo 2">
            <a:extLst>
              <a:ext uri="{FF2B5EF4-FFF2-40B4-BE49-F238E27FC236}">
                <a16:creationId xmlns:a16="http://schemas.microsoft.com/office/drawing/2014/main" id="{679C2FD7-2C32-EEF5-5503-260B31431886}"/>
              </a:ext>
            </a:extLst>
          </p:cNvPr>
          <p:cNvGrpSpPr/>
          <p:nvPr/>
        </p:nvGrpSpPr>
        <p:grpSpPr>
          <a:xfrm>
            <a:off x="6797524" y="-1179744"/>
            <a:ext cx="1140746" cy="1135380"/>
            <a:chOff x="6820384" y="-340980"/>
            <a:chExt cx="1140746" cy="1135380"/>
          </a:xfrm>
        </p:grpSpPr>
        <p:sp>
          <p:nvSpPr>
            <p:cNvPr id="5" name="Rectángulo 4">
              <a:extLst>
                <a:ext uri="{FF2B5EF4-FFF2-40B4-BE49-F238E27FC236}">
                  <a16:creationId xmlns:a16="http://schemas.microsoft.com/office/drawing/2014/main" id="{A05CAAE8-2622-2CD4-EDB8-7D276A52169C}"/>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6" name="CuadroTexto 5">
              <a:extLst>
                <a:ext uri="{FF2B5EF4-FFF2-40B4-BE49-F238E27FC236}">
                  <a16:creationId xmlns:a16="http://schemas.microsoft.com/office/drawing/2014/main" id="{999EB8CD-8622-D6DE-F871-E75284331DF5}"/>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Tree>
    <p:extLst>
      <p:ext uri="{BB962C8B-B14F-4D97-AF65-F5344CB8AC3E}">
        <p14:creationId xmlns:p14="http://schemas.microsoft.com/office/powerpoint/2010/main" val="2649975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a:extLst>
              <a:ext uri="{FF2B5EF4-FFF2-40B4-BE49-F238E27FC236}">
                <a16:creationId xmlns:a16="http://schemas.microsoft.com/office/drawing/2014/main" id="{B59453EE-E499-44C1-9105-6F43142FE00F}"/>
              </a:ext>
            </a:extLst>
          </p:cNvPr>
          <p:cNvGraphicFramePr>
            <a:graphicFrameLocks/>
          </p:cNvGraphicFramePr>
          <p:nvPr>
            <p:extLst>
              <p:ext uri="{D42A27DB-BD31-4B8C-83A1-F6EECF244321}">
                <p14:modId xmlns:p14="http://schemas.microsoft.com/office/powerpoint/2010/main" val="1593187190"/>
              </p:ext>
            </p:extLst>
          </p:nvPr>
        </p:nvGraphicFramePr>
        <p:xfrm>
          <a:off x="700818" y="793630"/>
          <a:ext cx="7244110" cy="3855967"/>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0E246F65-F8E7-44A8-A92C-7C863D24E876}"/>
              </a:ext>
            </a:extLst>
          </p:cNvPr>
          <p:cNvSpPr/>
          <p:nvPr/>
        </p:nvSpPr>
        <p:spPr>
          <a:xfrm>
            <a:off x="978941" y="516631"/>
            <a:ext cx="67925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noAutofit/>
          </a:bodyPr>
          <a:lstStyle/>
          <a:p>
            <a:pPr algn="ctr">
              <a:buClr>
                <a:srgbClr val="000000"/>
              </a:buClr>
              <a:buFont typeface="Arial" panose="020B0604020202020204" pitchFamily="34" charset="0"/>
            </a:pPr>
            <a:r>
              <a:rPr lang="es-PY" sz="1200" b="1" dirty="0">
                <a:solidFill>
                  <a:sysClr val="windowText" lastClr="000000"/>
                </a:solidFill>
                <a:latin typeface="+mn-lt"/>
                <a:cs typeface="+mn-cs"/>
              </a:rPr>
              <a:t>VARIACIÓN DE CANTIDAD DE PRODUCTORES/AS, SEGÚN SEXO: CENSOS 2022 VS. 2008</a:t>
            </a:r>
          </a:p>
        </p:txBody>
      </p:sp>
    </p:spTree>
    <p:extLst>
      <p:ext uri="{BB962C8B-B14F-4D97-AF65-F5344CB8AC3E}">
        <p14:creationId xmlns:p14="http://schemas.microsoft.com/office/powerpoint/2010/main" val="3628744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28C1877-388C-4E78-A7E9-9DA20EF6D1D5}"/>
              </a:ext>
            </a:extLst>
          </p:cNvPr>
          <p:cNvSpPr/>
          <p:nvPr/>
        </p:nvSpPr>
        <p:spPr>
          <a:xfrm>
            <a:off x="402398" y="594275"/>
            <a:ext cx="8097664" cy="276999"/>
          </a:xfrm>
          <a:prstGeom prst="rect">
            <a:avLst/>
          </a:prstGeom>
        </p:spPr>
        <p:txBody>
          <a:bodyPr wrap="square">
            <a:spAutoFit/>
          </a:bodyPr>
          <a:lstStyle/>
          <a:p>
            <a:pP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rPr>
              <a:t>VARIACIÓN DE CANTIDAD DE PRODUCTORES/AS, SEGÚN OCUPACIÓN PRINCIPAL: CENSOS 2022 VS. 2008</a:t>
            </a:r>
          </a:p>
        </p:txBody>
      </p:sp>
      <p:graphicFrame>
        <p:nvGraphicFramePr>
          <p:cNvPr id="2" name="Gráfico 1">
            <a:extLst>
              <a:ext uri="{FF2B5EF4-FFF2-40B4-BE49-F238E27FC236}">
                <a16:creationId xmlns:a16="http://schemas.microsoft.com/office/drawing/2014/main" id="{74EAA441-B461-4144-9E77-FD24685DC474}"/>
              </a:ext>
            </a:extLst>
          </p:cNvPr>
          <p:cNvGraphicFramePr>
            <a:graphicFrameLocks/>
          </p:cNvGraphicFramePr>
          <p:nvPr>
            <p:extLst>
              <p:ext uri="{D42A27DB-BD31-4B8C-83A1-F6EECF244321}">
                <p14:modId xmlns:p14="http://schemas.microsoft.com/office/powerpoint/2010/main" val="2532618199"/>
              </p:ext>
            </p:extLst>
          </p:nvPr>
        </p:nvGraphicFramePr>
        <p:xfrm>
          <a:off x="241540" y="928255"/>
          <a:ext cx="8419381" cy="395671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92624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6 Gráfico">
            <a:extLst>
              <a:ext uri="{FF2B5EF4-FFF2-40B4-BE49-F238E27FC236}">
                <a16:creationId xmlns:a16="http://schemas.microsoft.com/office/drawing/2014/main" id="{51CCFC3F-5052-465F-A10D-21DFC528C0C2}"/>
              </a:ext>
            </a:extLst>
          </p:cNvPr>
          <p:cNvGraphicFramePr>
            <a:graphicFrameLocks/>
          </p:cNvGraphicFramePr>
          <p:nvPr>
            <p:extLst>
              <p:ext uri="{D42A27DB-BD31-4B8C-83A1-F6EECF244321}">
                <p14:modId xmlns:p14="http://schemas.microsoft.com/office/powerpoint/2010/main" val="2623003693"/>
              </p:ext>
            </p:extLst>
          </p:nvPr>
        </p:nvGraphicFramePr>
        <p:xfrm>
          <a:off x="358386" y="1104356"/>
          <a:ext cx="8311856" cy="3657848"/>
        </p:xfrm>
        <a:graphic>
          <a:graphicData uri="http://schemas.openxmlformats.org/drawingml/2006/chart">
            <c:chart xmlns:c="http://schemas.openxmlformats.org/drawingml/2006/chart" xmlns:r="http://schemas.openxmlformats.org/officeDocument/2006/relationships" r:id="rId4"/>
          </a:graphicData>
        </a:graphic>
      </p:graphicFrame>
      <p:sp>
        <p:nvSpPr>
          <p:cNvPr id="4" name="Rectángulo 3">
            <a:extLst>
              <a:ext uri="{FF2B5EF4-FFF2-40B4-BE49-F238E27FC236}">
                <a16:creationId xmlns:a16="http://schemas.microsoft.com/office/drawing/2014/main" id="{128C1877-388C-4E78-A7E9-9DA20EF6D1D5}"/>
              </a:ext>
            </a:extLst>
          </p:cNvPr>
          <p:cNvSpPr/>
          <p:nvPr/>
        </p:nvSpPr>
        <p:spPr>
          <a:xfrm>
            <a:off x="457143" y="494800"/>
            <a:ext cx="7550092" cy="276999"/>
          </a:xfrm>
          <a:prstGeom prst="rect">
            <a:avLst/>
          </a:prstGeom>
        </p:spPr>
        <p:txBody>
          <a:bodyPr wrap="square">
            <a:spAutoFit/>
          </a:bodyPr>
          <a:lstStyle/>
          <a:p>
            <a:pPr algn="ctr">
              <a:defRPr sz="1100" b="0" i="0" u="none" strike="noStrike" kern="1200" spc="0" baseline="0">
                <a:solidFill>
                  <a:sysClr val="windowText" lastClr="000000"/>
                </a:solidFill>
                <a:latin typeface="+mn-lt"/>
                <a:ea typeface="+mn-ea"/>
                <a:cs typeface="+mn-cs"/>
              </a:defRPr>
            </a:pPr>
            <a:r>
              <a:rPr lang="es-PY" sz="1200" b="1" dirty="0"/>
              <a:t>CANTIDAD Y SUPERFICIE DE FINCAS AGROPECUARIAS INDÍGENAS</a:t>
            </a:r>
            <a:r>
              <a:rPr lang="es-PY" sz="1200" b="1" dirty="0">
                <a:solidFill>
                  <a:sysClr val="windowText" lastClr="000000"/>
                </a:solidFill>
              </a:rPr>
              <a:t>: CENSO 2022</a:t>
            </a:r>
          </a:p>
        </p:txBody>
      </p:sp>
      <p:pic>
        <p:nvPicPr>
          <p:cNvPr id="2" name="Imagen 1">
            <a:extLst>
              <a:ext uri="{FF2B5EF4-FFF2-40B4-BE49-F238E27FC236}">
                <a16:creationId xmlns:a16="http://schemas.microsoft.com/office/drawing/2014/main" id="{97596234-5A0D-4B25-A28D-9088F557949F}"/>
              </a:ext>
            </a:extLst>
          </p:cNvPr>
          <p:cNvPicPr>
            <a:picLocks noChangeAspect="1"/>
          </p:cNvPicPr>
          <p:nvPr/>
        </p:nvPicPr>
        <p:blipFill rotWithShape="1">
          <a:blip r:embed="rId5"/>
          <a:srcRect l="-2350" r="-1"/>
          <a:stretch/>
        </p:blipFill>
        <p:spPr>
          <a:xfrm>
            <a:off x="2697101" y="884774"/>
            <a:ext cx="3634426" cy="4076216"/>
          </a:xfrm>
          <a:prstGeom prst="rect">
            <a:avLst/>
          </a:prstGeom>
        </p:spPr>
      </p:pic>
    </p:spTree>
    <p:custDataLst>
      <p:tags r:id="rId1"/>
    </p:custDataLst>
    <p:extLst>
      <p:ext uri="{BB962C8B-B14F-4D97-AF65-F5344CB8AC3E}">
        <p14:creationId xmlns:p14="http://schemas.microsoft.com/office/powerpoint/2010/main" val="3587292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xit" presetSubtype="0" fill="hold" grpId="0"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DC4F3B0-CA97-4B95-92AB-36746507BBF0}"/>
              </a:ext>
            </a:extLst>
          </p:cNvPr>
          <p:cNvSpPr/>
          <p:nvPr/>
        </p:nvSpPr>
        <p:spPr>
          <a:xfrm>
            <a:off x="609600" y="541735"/>
            <a:ext cx="7387771" cy="461665"/>
          </a:xfrm>
          <a:prstGeom prst="rect">
            <a:avLst/>
          </a:prstGeom>
        </p:spPr>
        <p:txBody>
          <a:bodyPr wrap="square">
            <a:spAutoFit/>
          </a:bodyPr>
          <a:lstStyle/>
          <a:p>
            <a:pPr algn="ctr">
              <a:defRPr sz="12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rPr>
              <a:t>VARIACIÓN DE CANTIDAD DE FINCAS, SEGÚN FORMA DE TENENCIA DE LA TIERRA: CENSOS 2022 VS. 2008</a:t>
            </a:r>
          </a:p>
        </p:txBody>
      </p:sp>
      <p:graphicFrame>
        <p:nvGraphicFramePr>
          <p:cNvPr id="9" name="Gráfico 8">
            <a:extLst>
              <a:ext uri="{FF2B5EF4-FFF2-40B4-BE49-F238E27FC236}">
                <a16:creationId xmlns:a16="http://schemas.microsoft.com/office/drawing/2014/main" id="{70494B14-AA29-466F-8E89-64FD4125D351}"/>
              </a:ext>
            </a:extLst>
          </p:cNvPr>
          <p:cNvGraphicFramePr>
            <a:graphicFrameLocks/>
          </p:cNvGraphicFramePr>
          <p:nvPr>
            <p:extLst>
              <p:ext uri="{D42A27DB-BD31-4B8C-83A1-F6EECF244321}">
                <p14:modId xmlns:p14="http://schemas.microsoft.com/office/powerpoint/2010/main" val="222760339"/>
              </p:ext>
            </p:extLst>
          </p:nvPr>
        </p:nvGraphicFramePr>
        <p:xfrm>
          <a:off x="541809" y="928686"/>
          <a:ext cx="7912077" cy="405407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97427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628650" y="493316"/>
            <a:ext cx="7886700" cy="381000"/>
          </a:xfrm>
        </p:spPr>
        <p:txBody>
          <a:bodyPr>
            <a:noAutofit/>
          </a:bodyPr>
          <a:lstStyle/>
          <a:p>
            <a:pPr algn="ctr">
              <a:defRPr sz="10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rPr>
              <a:t>VARIACIÓN DE SUPERFICIE DE FINCA, SEGÚN USO DE LA TIERRA: CENSOS 2022 VS. 2008</a:t>
            </a:r>
          </a:p>
        </p:txBody>
      </p:sp>
      <p:graphicFrame>
        <p:nvGraphicFramePr>
          <p:cNvPr id="3" name="Gráfico 2">
            <a:extLst>
              <a:ext uri="{FF2B5EF4-FFF2-40B4-BE49-F238E27FC236}">
                <a16:creationId xmlns:a16="http://schemas.microsoft.com/office/drawing/2014/main" id="{27A9B9C3-1AA4-461B-A8C3-315D05F51557}"/>
              </a:ext>
            </a:extLst>
          </p:cNvPr>
          <p:cNvGraphicFramePr>
            <a:graphicFrameLocks/>
          </p:cNvGraphicFramePr>
          <p:nvPr>
            <p:extLst>
              <p:ext uri="{D42A27DB-BD31-4B8C-83A1-F6EECF244321}">
                <p14:modId xmlns:p14="http://schemas.microsoft.com/office/powerpoint/2010/main" val="3380231751"/>
              </p:ext>
            </p:extLst>
          </p:nvPr>
        </p:nvGraphicFramePr>
        <p:xfrm>
          <a:off x="366201" y="974711"/>
          <a:ext cx="8411598" cy="3985215"/>
        </p:xfrm>
        <a:graphic>
          <a:graphicData uri="http://schemas.openxmlformats.org/drawingml/2006/chart">
            <c:chart xmlns:c="http://schemas.openxmlformats.org/drawingml/2006/chart" xmlns:r="http://schemas.openxmlformats.org/officeDocument/2006/relationships" r:id="rId4"/>
          </a:graphicData>
        </a:graphic>
      </p:graphicFrame>
      <p:pic>
        <p:nvPicPr>
          <p:cNvPr id="10" name="Imagen 9">
            <a:extLst>
              <a:ext uri="{FF2B5EF4-FFF2-40B4-BE49-F238E27FC236}">
                <a16:creationId xmlns:a16="http://schemas.microsoft.com/office/drawing/2014/main" id="{5A41A2CF-ADC9-4180-B660-E73627218AEB}"/>
              </a:ext>
            </a:extLst>
          </p:cNvPr>
          <p:cNvPicPr>
            <a:picLocks noChangeAspect="1"/>
          </p:cNvPicPr>
          <p:nvPr/>
        </p:nvPicPr>
        <p:blipFill>
          <a:blip r:embed="rId5"/>
          <a:stretch>
            <a:fillRect/>
          </a:stretch>
        </p:blipFill>
        <p:spPr>
          <a:xfrm>
            <a:off x="3224101" y="874316"/>
            <a:ext cx="3208465" cy="3549441"/>
          </a:xfrm>
          <a:prstGeom prst="rect">
            <a:avLst/>
          </a:prstGeom>
        </p:spPr>
      </p:pic>
    </p:spTree>
    <p:custDataLst>
      <p:tags r:id="rId1"/>
    </p:custDataLst>
    <p:extLst>
      <p:ext uri="{BB962C8B-B14F-4D97-AF65-F5344CB8AC3E}">
        <p14:creationId xmlns:p14="http://schemas.microsoft.com/office/powerpoint/2010/main" val="1464578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1153391" y="526041"/>
            <a:ext cx="6837218" cy="354004"/>
          </a:xfrm>
        </p:spPr>
        <p:txBody>
          <a:bodyPr>
            <a:noAutofit/>
          </a:bodyPr>
          <a:lstStyle/>
          <a:p>
            <a:pPr algn="ct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rPr>
              <a:t>VARIACIÓN DE SUPERFICIE SEMBRADA (HA), SEGÚN CULTIVOS: CENSOS 2022 VS. 2008</a:t>
            </a:r>
          </a:p>
        </p:txBody>
      </p:sp>
      <p:graphicFrame>
        <p:nvGraphicFramePr>
          <p:cNvPr id="6" name="Gráfico 5">
            <a:extLst>
              <a:ext uri="{FF2B5EF4-FFF2-40B4-BE49-F238E27FC236}">
                <a16:creationId xmlns:a16="http://schemas.microsoft.com/office/drawing/2014/main" id="{801DFA40-75A7-4755-ADC9-C24DB1777CA5}"/>
              </a:ext>
            </a:extLst>
          </p:cNvPr>
          <p:cNvGraphicFramePr>
            <a:graphicFrameLocks/>
          </p:cNvGraphicFramePr>
          <p:nvPr>
            <p:extLst>
              <p:ext uri="{D42A27DB-BD31-4B8C-83A1-F6EECF244321}">
                <p14:modId xmlns:p14="http://schemas.microsoft.com/office/powerpoint/2010/main" val="250820418"/>
              </p:ext>
            </p:extLst>
          </p:nvPr>
        </p:nvGraphicFramePr>
        <p:xfrm>
          <a:off x="415636" y="1142999"/>
          <a:ext cx="7862454" cy="347446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929847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554182" y="609073"/>
            <a:ext cx="7886700" cy="444500"/>
          </a:xfrm>
        </p:spPr>
        <p:txBody>
          <a:bodyPr>
            <a:noAutofit/>
          </a:bodyPr>
          <a:lstStyle/>
          <a:p>
            <a:pPr algn="ct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ea typeface="+mn-ea"/>
                <a:cs typeface="+mn-cs"/>
              </a:rPr>
              <a:t>VARIACIÓN DE SUPERFICIE SEMBRADA (HA), SEGÚN CULTIVOS: CENSOS 2022 VS. 2008</a:t>
            </a:r>
          </a:p>
        </p:txBody>
      </p:sp>
      <p:graphicFrame>
        <p:nvGraphicFramePr>
          <p:cNvPr id="9" name="Gráfico 8">
            <a:extLst>
              <a:ext uri="{FF2B5EF4-FFF2-40B4-BE49-F238E27FC236}">
                <a16:creationId xmlns:a16="http://schemas.microsoft.com/office/drawing/2014/main" id="{6CA7699B-FA04-44B6-AAF1-D2F021B9C3D1}"/>
              </a:ext>
            </a:extLst>
          </p:cNvPr>
          <p:cNvGraphicFramePr>
            <a:graphicFrameLocks/>
          </p:cNvGraphicFramePr>
          <p:nvPr>
            <p:extLst>
              <p:ext uri="{D42A27DB-BD31-4B8C-83A1-F6EECF244321}">
                <p14:modId xmlns:p14="http://schemas.microsoft.com/office/powerpoint/2010/main" val="309874980"/>
              </p:ext>
            </p:extLst>
          </p:nvPr>
        </p:nvGraphicFramePr>
        <p:xfrm>
          <a:off x="543359" y="1181749"/>
          <a:ext cx="7831714" cy="3826669"/>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2924643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921657" y="577604"/>
            <a:ext cx="7119257" cy="444500"/>
          </a:xfrm>
        </p:spPr>
        <p:txBody>
          <a:bodyPr>
            <a:noAutofit/>
          </a:bodyPr>
          <a:lstStyle/>
          <a:p>
            <a:pPr algn="ct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ea typeface="+mn-ea"/>
                <a:cs typeface="+mn-cs"/>
              </a:rPr>
              <a:t>VARIACIÓN DE SUPERFICIE SEMBRADA (ha), SEGÚN CULTIVOS DE HORTALIZAS: CENSOS 2022 VS. 2008</a:t>
            </a:r>
          </a:p>
        </p:txBody>
      </p:sp>
      <p:graphicFrame>
        <p:nvGraphicFramePr>
          <p:cNvPr id="5" name="Gráfico 4">
            <a:extLst>
              <a:ext uri="{FF2B5EF4-FFF2-40B4-BE49-F238E27FC236}">
                <a16:creationId xmlns:a16="http://schemas.microsoft.com/office/drawing/2014/main" id="{07AAFCD0-9285-40EE-BC59-831759C8AF5F}"/>
              </a:ext>
            </a:extLst>
          </p:cNvPr>
          <p:cNvGraphicFramePr>
            <a:graphicFrameLocks/>
          </p:cNvGraphicFramePr>
          <p:nvPr>
            <p:extLst>
              <p:ext uri="{D42A27DB-BD31-4B8C-83A1-F6EECF244321}">
                <p14:modId xmlns:p14="http://schemas.microsoft.com/office/powerpoint/2010/main" val="4290584542"/>
              </p:ext>
            </p:extLst>
          </p:nvPr>
        </p:nvGraphicFramePr>
        <p:xfrm>
          <a:off x="214745" y="1065548"/>
          <a:ext cx="8513619" cy="381818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584538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701474" y="521546"/>
            <a:ext cx="7886700" cy="444500"/>
          </a:xfrm>
        </p:spPr>
        <p:txBody>
          <a:bodyPr>
            <a:noAutofit/>
          </a:bodyPr>
          <a:lstStyle/>
          <a:p>
            <a:pPr algn="ct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ea typeface="+mn-ea"/>
                <a:cs typeface="+mn-cs"/>
              </a:rPr>
              <a:t>VARIACIÓN DE SUPERFICIE PLANTADA (HA), SEGÚN CULTIVOS PERMANENTES:</a:t>
            </a:r>
            <a:br>
              <a:rPr lang="es-PY" sz="1200" b="1" dirty="0">
                <a:solidFill>
                  <a:sysClr val="windowText" lastClr="000000"/>
                </a:solidFill>
                <a:latin typeface="+mn-lt"/>
                <a:ea typeface="+mn-ea"/>
                <a:cs typeface="+mn-cs"/>
              </a:rPr>
            </a:br>
            <a:r>
              <a:rPr lang="es-PY" sz="1200" b="1" dirty="0">
                <a:solidFill>
                  <a:sysClr val="windowText" lastClr="000000"/>
                </a:solidFill>
                <a:latin typeface="+mn-lt"/>
                <a:ea typeface="+mn-ea"/>
                <a:cs typeface="+mn-cs"/>
              </a:rPr>
              <a:t>CENSOS 2022 VS. 2008</a:t>
            </a:r>
          </a:p>
        </p:txBody>
      </p:sp>
      <p:graphicFrame>
        <p:nvGraphicFramePr>
          <p:cNvPr id="3" name="Gráfico 2">
            <a:extLst>
              <a:ext uri="{FF2B5EF4-FFF2-40B4-BE49-F238E27FC236}">
                <a16:creationId xmlns:a16="http://schemas.microsoft.com/office/drawing/2014/main" id="{383CF4D0-62EC-427C-B53B-E82DB7DDABC9}"/>
              </a:ext>
            </a:extLst>
          </p:cNvPr>
          <p:cNvGraphicFramePr>
            <a:graphicFrameLocks/>
          </p:cNvGraphicFramePr>
          <p:nvPr>
            <p:extLst>
              <p:ext uri="{D42A27DB-BD31-4B8C-83A1-F6EECF244321}">
                <p14:modId xmlns:p14="http://schemas.microsoft.com/office/powerpoint/2010/main" val="3119512050"/>
              </p:ext>
            </p:extLst>
          </p:nvPr>
        </p:nvGraphicFramePr>
        <p:xfrm>
          <a:off x="701474" y="1056350"/>
          <a:ext cx="7167908" cy="387928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919247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526473" y="467763"/>
            <a:ext cx="7886700" cy="325437"/>
          </a:xfrm>
        </p:spPr>
        <p:txBody>
          <a:bodyPr>
            <a:noAutofit/>
          </a:bodyPr>
          <a:lstStyle/>
          <a:p>
            <a:pPr algn="ct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latin typeface="+mn-lt"/>
                <a:ea typeface="+mn-ea"/>
                <a:cs typeface="+mn-cs"/>
              </a:rPr>
              <a:t>VARIACIÓN DE LA CANTIDAD DE CABEZAS, SEGÚN ESPECIES DE GANADOS: CENSOS 2022 VS. 2008</a:t>
            </a:r>
          </a:p>
        </p:txBody>
      </p:sp>
      <p:graphicFrame>
        <p:nvGraphicFramePr>
          <p:cNvPr id="3" name="Gráfico 2">
            <a:extLst>
              <a:ext uri="{FF2B5EF4-FFF2-40B4-BE49-F238E27FC236}">
                <a16:creationId xmlns:a16="http://schemas.microsoft.com/office/drawing/2014/main" id="{2C4DBC0D-6AFB-4855-81B4-99272D549101}"/>
              </a:ext>
            </a:extLst>
          </p:cNvPr>
          <p:cNvGraphicFramePr>
            <a:graphicFrameLocks/>
          </p:cNvGraphicFramePr>
          <p:nvPr>
            <p:extLst>
              <p:ext uri="{D42A27DB-BD31-4B8C-83A1-F6EECF244321}">
                <p14:modId xmlns:p14="http://schemas.microsoft.com/office/powerpoint/2010/main" val="986280833"/>
              </p:ext>
            </p:extLst>
          </p:nvPr>
        </p:nvGraphicFramePr>
        <p:xfrm>
          <a:off x="196160" y="783273"/>
          <a:ext cx="8324386" cy="4199127"/>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724691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382629" y="528638"/>
            <a:ext cx="7886700" cy="442912"/>
          </a:xfrm>
        </p:spPr>
        <p:txBody>
          <a:bodyPr>
            <a:noAutofit/>
          </a:bodyPr>
          <a:lstStyle/>
          <a:p>
            <a:pPr algn="ctr">
              <a:defRPr sz="1200" b="0" i="0" u="none" strike="noStrike" kern="1200" spc="0" baseline="0">
                <a:solidFill>
                  <a:sysClr val="windowText" lastClr="000000"/>
                </a:solidFill>
                <a:latin typeface="+mn-lt"/>
                <a:ea typeface="+mn-ea"/>
                <a:cs typeface="+mn-cs"/>
              </a:defRPr>
            </a:pPr>
            <a:r>
              <a:rPr lang="es-PY" sz="1200" b="1" dirty="0">
                <a:solidFill>
                  <a:sysClr val="windowText" lastClr="000000"/>
                </a:solidFill>
              </a:rPr>
              <a:t>VARIACIÓN DE CANTIDAD DE CABEZAS, SEGÚN CATEGORIA DE AVES: CENSOS 2022 VS. 2008</a:t>
            </a:r>
          </a:p>
        </p:txBody>
      </p:sp>
      <p:graphicFrame>
        <p:nvGraphicFramePr>
          <p:cNvPr id="3" name="Gráfico 2">
            <a:extLst>
              <a:ext uri="{FF2B5EF4-FFF2-40B4-BE49-F238E27FC236}">
                <a16:creationId xmlns:a16="http://schemas.microsoft.com/office/drawing/2014/main" id="{586E35D5-C143-487A-B97C-43AFB97783F3}"/>
              </a:ext>
            </a:extLst>
          </p:cNvPr>
          <p:cNvGraphicFramePr>
            <a:graphicFrameLocks/>
          </p:cNvGraphicFramePr>
          <p:nvPr>
            <p:extLst>
              <p:ext uri="{D42A27DB-BD31-4B8C-83A1-F6EECF244321}">
                <p14:modId xmlns:p14="http://schemas.microsoft.com/office/powerpoint/2010/main" val="3257789859"/>
              </p:ext>
            </p:extLst>
          </p:nvPr>
        </p:nvGraphicFramePr>
        <p:xfrm>
          <a:off x="260613" y="1028369"/>
          <a:ext cx="8622773" cy="4009455"/>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085610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444500" y="503670"/>
            <a:ext cx="8255000" cy="442913"/>
          </a:xfrm>
        </p:spPr>
        <p:txBody>
          <a:bodyPr>
            <a:noAutofit/>
          </a:bodyPr>
          <a:lstStyle/>
          <a:p>
            <a:pPr algn="ctr">
              <a:defRPr sz="1100" b="0" i="0" u="none" strike="noStrike" kern="1200" spc="0" baseline="0">
                <a:solidFill>
                  <a:sysClr val="windowText" lastClr="000000"/>
                </a:solidFill>
                <a:latin typeface="+mn-lt"/>
                <a:ea typeface="+mn-ea"/>
                <a:cs typeface="+mn-cs"/>
              </a:defRPr>
            </a:pPr>
            <a:r>
              <a:rPr lang="es-PY" sz="1200" b="1" dirty="0">
                <a:solidFill>
                  <a:sysClr val="windowText" lastClr="000000"/>
                </a:solidFill>
              </a:rPr>
              <a:t>VARIACIÓN DE CANTIDAD DE FINCAS, SEGÚN ACCESO A ASISTENCIAS TÉCNICAS, CRÉDITOS Y ASOCIACIONES: CENSOS 2022 VS. 2008</a:t>
            </a:r>
          </a:p>
        </p:txBody>
      </p:sp>
      <p:graphicFrame>
        <p:nvGraphicFramePr>
          <p:cNvPr id="4" name="Gráfico 3">
            <a:extLst>
              <a:ext uri="{FF2B5EF4-FFF2-40B4-BE49-F238E27FC236}">
                <a16:creationId xmlns:a16="http://schemas.microsoft.com/office/drawing/2014/main" id="{E9A49D66-46D2-46B1-A9B9-AD5658A2BDAC}"/>
              </a:ext>
            </a:extLst>
          </p:cNvPr>
          <p:cNvGraphicFramePr>
            <a:graphicFrameLocks/>
          </p:cNvGraphicFramePr>
          <p:nvPr>
            <p:extLst>
              <p:ext uri="{D42A27DB-BD31-4B8C-83A1-F6EECF244321}">
                <p14:modId xmlns:p14="http://schemas.microsoft.com/office/powerpoint/2010/main" val="2267133530"/>
              </p:ext>
            </p:extLst>
          </p:nvPr>
        </p:nvGraphicFramePr>
        <p:xfrm>
          <a:off x="768927" y="1156854"/>
          <a:ext cx="7363691" cy="36164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8488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193583" y="548126"/>
            <a:ext cx="8556625" cy="442912"/>
          </a:xfrm>
        </p:spPr>
        <p:txBody>
          <a:bodyPr>
            <a:noAutofit/>
          </a:bodyPr>
          <a:lstStyle/>
          <a:p>
            <a:pPr algn="ctr">
              <a:defRPr sz="1200" b="0" i="0" u="none" strike="noStrike" kern="1200" spc="0" baseline="0">
                <a:solidFill>
                  <a:sysClr val="windowText" lastClr="000000">
                    <a:lumMod val="65000"/>
                    <a:lumOff val="35000"/>
                  </a:sysClr>
                </a:solidFill>
                <a:latin typeface="+mn-lt"/>
                <a:ea typeface="+mn-ea"/>
                <a:cs typeface="+mn-cs"/>
              </a:defRPr>
            </a:pPr>
            <a:r>
              <a:rPr lang="es-PY" sz="1200" b="1" dirty="0">
                <a:solidFill>
                  <a:schemeClr val="tx1"/>
                </a:solidFill>
              </a:rPr>
              <a:t>VARIACIÓN DE CANTIDAD DE FINCAS CON IMPLEMENTOS MANUALES PROPIOS: CENSOS 2022 VS. 2008</a:t>
            </a:r>
          </a:p>
        </p:txBody>
      </p:sp>
      <p:graphicFrame>
        <p:nvGraphicFramePr>
          <p:cNvPr id="3" name="4 Gráfico">
            <a:extLst>
              <a:ext uri="{FF2B5EF4-FFF2-40B4-BE49-F238E27FC236}">
                <a16:creationId xmlns:a16="http://schemas.microsoft.com/office/drawing/2014/main" id="{80B34E46-EDAF-4FAA-9D3C-A667A013787F}"/>
              </a:ext>
            </a:extLst>
          </p:cNvPr>
          <p:cNvGraphicFramePr>
            <a:graphicFrameLocks/>
          </p:cNvGraphicFramePr>
          <p:nvPr>
            <p:extLst>
              <p:ext uri="{D42A27DB-BD31-4B8C-83A1-F6EECF244321}">
                <p14:modId xmlns:p14="http://schemas.microsoft.com/office/powerpoint/2010/main" val="844016662"/>
              </p:ext>
            </p:extLst>
          </p:nvPr>
        </p:nvGraphicFramePr>
        <p:xfrm>
          <a:off x="248319" y="1046673"/>
          <a:ext cx="8215369" cy="387508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18697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393895" y="562654"/>
            <a:ext cx="7621701" cy="442913"/>
          </a:xfrm>
        </p:spPr>
        <p:txBody>
          <a:bodyPr>
            <a:noAutofit/>
          </a:bodyPr>
          <a:lstStyle/>
          <a:p>
            <a:pPr algn="ctr">
              <a:defRPr sz="1200" b="0" i="0" u="none" strike="noStrike" kern="1200" spc="0" baseline="0">
                <a:solidFill>
                  <a:sysClr val="windowText" lastClr="000000">
                    <a:lumMod val="65000"/>
                    <a:lumOff val="35000"/>
                  </a:sysClr>
                </a:solidFill>
                <a:latin typeface="+mn-lt"/>
                <a:ea typeface="+mn-ea"/>
                <a:cs typeface="+mn-cs"/>
              </a:defRPr>
            </a:pPr>
            <a:r>
              <a:rPr lang="es-PY" sz="1200" b="1" dirty="0">
                <a:solidFill>
                  <a:schemeClr val="tx1"/>
                </a:solidFill>
              </a:rPr>
              <a:t>VARIACIÓN DE CANTIDAD DE FINCAS CON MAQUINARIAS E </a:t>
            </a:r>
            <a:r>
              <a:rPr lang="es-PY" sz="1200" b="1" kern="1200" dirty="0">
                <a:solidFill>
                  <a:schemeClr val="tx1"/>
                </a:solidFill>
                <a:latin typeface="+mn-lt"/>
              </a:rPr>
              <a:t>IMPLEMENTOS </a:t>
            </a:r>
            <a:r>
              <a:rPr lang="es-PY" sz="1200" b="1" dirty="0">
                <a:solidFill>
                  <a:schemeClr val="tx1"/>
                </a:solidFill>
              </a:rPr>
              <a:t>PROPIOS: CENSOS 2022 VS. 2008</a:t>
            </a:r>
          </a:p>
        </p:txBody>
      </p:sp>
      <p:graphicFrame>
        <p:nvGraphicFramePr>
          <p:cNvPr id="5" name="Gráfico 4">
            <a:extLst>
              <a:ext uri="{FF2B5EF4-FFF2-40B4-BE49-F238E27FC236}">
                <a16:creationId xmlns:a16="http://schemas.microsoft.com/office/drawing/2014/main" id="{7CE69E31-E6E2-467A-A7C3-85F9B73A6618}"/>
              </a:ext>
            </a:extLst>
          </p:cNvPr>
          <p:cNvGraphicFramePr>
            <a:graphicFrameLocks/>
          </p:cNvGraphicFramePr>
          <p:nvPr>
            <p:extLst>
              <p:ext uri="{D42A27DB-BD31-4B8C-83A1-F6EECF244321}">
                <p14:modId xmlns:p14="http://schemas.microsoft.com/office/powerpoint/2010/main" val="375862781"/>
              </p:ext>
            </p:extLst>
          </p:nvPr>
        </p:nvGraphicFramePr>
        <p:xfrm>
          <a:off x="393895" y="1014412"/>
          <a:ext cx="8223631" cy="39884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96451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1C45E-4F83-4993-9B50-DDC8AD28FD11}"/>
              </a:ext>
            </a:extLst>
          </p:cNvPr>
          <p:cNvSpPr>
            <a:spLocks noGrp="1"/>
          </p:cNvSpPr>
          <p:nvPr>
            <p:ph type="title" idx="4294967295"/>
          </p:nvPr>
        </p:nvSpPr>
        <p:spPr>
          <a:xfrm>
            <a:off x="368073" y="587829"/>
            <a:ext cx="7886700" cy="442913"/>
          </a:xfrm>
        </p:spPr>
        <p:txBody>
          <a:bodyPr>
            <a:noAutofit/>
          </a:bodyPr>
          <a:lstStyle/>
          <a:p>
            <a:pPr algn="ctr">
              <a:defRPr sz="1200" b="0" i="0" u="none" strike="noStrike" kern="1200" spc="0" baseline="0">
                <a:solidFill>
                  <a:sysClr val="windowText" lastClr="000000"/>
                </a:solidFill>
                <a:latin typeface="+mn-lt"/>
                <a:ea typeface="+mn-ea"/>
                <a:cs typeface="+mn-cs"/>
              </a:defRPr>
            </a:pPr>
            <a:r>
              <a:rPr lang="es-PY" sz="1200" b="1" dirty="0">
                <a:solidFill>
                  <a:sysClr val="windowText" lastClr="000000"/>
                </a:solidFill>
              </a:rPr>
              <a:t>VARIACIÓN DE CANTIDAD DE MAQUINARIAS E IMPLEMENTOS PROPIOS: CENSOS 2022 VS. 2008</a:t>
            </a:r>
          </a:p>
        </p:txBody>
      </p:sp>
      <p:graphicFrame>
        <p:nvGraphicFramePr>
          <p:cNvPr id="5" name="Gráfico 4">
            <a:extLst>
              <a:ext uri="{FF2B5EF4-FFF2-40B4-BE49-F238E27FC236}">
                <a16:creationId xmlns:a16="http://schemas.microsoft.com/office/drawing/2014/main" id="{90C01F96-D8AB-416A-A7BC-9E44F8A5B4C4}"/>
              </a:ext>
            </a:extLst>
          </p:cNvPr>
          <p:cNvGraphicFramePr>
            <a:graphicFrameLocks/>
          </p:cNvGraphicFramePr>
          <p:nvPr>
            <p:extLst>
              <p:ext uri="{D42A27DB-BD31-4B8C-83A1-F6EECF244321}">
                <p14:modId xmlns:p14="http://schemas.microsoft.com/office/powerpoint/2010/main" val="100792886"/>
              </p:ext>
            </p:extLst>
          </p:nvPr>
        </p:nvGraphicFramePr>
        <p:xfrm>
          <a:off x="548320" y="1090246"/>
          <a:ext cx="7821637" cy="39532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44421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A9FA30C1-C0A7-D920-C15A-AF4C4AA126CD}"/>
              </a:ext>
            </a:extLst>
          </p:cNvPr>
          <p:cNvSpPr/>
          <p:nvPr/>
        </p:nvSpPr>
        <p:spPr>
          <a:xfrm>
            <a:off x="3840344" y="2394791"/>
            <a:ext cx="331606" cy="2818764"/>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4" name="Rectángulo 3">
            <a:extLst>
              <a:ext uri="{FF2B5EF4-FFF2-40B4-BE49-F238E27FC236}">
                <a16:creationId xmlns:a16="http://schemas.microsoft.com/office/drawing/2014/main" id="{567E37CB-734F-6066-B172-A19472D1CA5D}"/>
              </a:ext>
            </a:extLst>
          </p:cNvPr>
          <p:cNvSpPr/>
          <p:nvPr/>
        </p:nvSpPr>
        <p:spPr>
          <a:xfrm>
            <a:off x="4268366" y="2394791"/>
            <a:ext cx="331606" cy="2818764"/>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8" name="Rectángulo 7">
            <a:extLst>
              <a:ext uri="{FF2B5EF4-FFF2-40B4-BE49-F238E27FC236}">
                <a16:creationId xmlns:a16="http://schemas.microsoft.com/office/drawing/2014/main" id="{0CFD18A5-AFF9-ED52-6EA6-761847BD37BE}"/>
              </a:ext>
            </a:extLst>
          </p:cNvPr>
          <p:cNvSpPr/>
          <p:nvPr/>
        </p:nvSpPr>
        <p:spPr>
          <a:xfrm>
            <a:off x="4694772" y="2394791"/>
            <a:ext cx="331606" cy="2818764"/>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9" name="Rectángulo 8">
            <a:extLst>
              <a:ext uri="{FF2B5EF4-FFF2-40B4-BE49-F238E27FC236}">
                <a16:creationId xmlns:a16="http://schemas.microsoft.com/office/drawing/2014/main" id="{87DC1AB6-3450-085C-BDC8-0878EA8FB723}"/>
              </a:ext>
            </a:extLst>
          </p:cNvPr>
          <p:cNvSpPr/>
          <p:nvPr/>
        </p:nvSpPr>
        <p:spPr>
          <a:xfrm>
            <a:off x="5121178" y="2394791"/>
            <a:ext cx="331606" cy="2818764"/>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0" name="Rectángulo 9">
            <a:extLst>
              <a:ext uri="{FF2B5EF4-FFF2-40B4-BE49-F238E27FC236}">
                <a16:creationId xmlns:a16="http://schemas.microsoft.com/office/drawing/2014/main" id="{757C4F88-3930-AD13-99F2-CC227814039F}"/>
              </a:ext>
            </a:extLst>
          </p:cNvPr>
          <p:cNvSpPr/>
          <p:nvPr/>
        </p:nvSpPr>
        <p:spPr>
          <a:xfrm>
            <a:off x="3415554" y="2394791"/>
            <a:ext cx="331606" cy="2818764"/>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2" name="Rectángulo 11">
            <a:extLst>
              <a:ext uri="{FF2B5EF4-FFF2-40B4-BE49-F238E27FC236}">
                <a16:creationId xmlns:a16="http://schemas.microsoft.com/office/drawing/2014/main" id="{D584EDCB-FEF7-15C7-A18B-9C92F05F3BA5}"/>
              </a:ext>
            </a:extLst>
          </p:cNvPr>
          <p:cNvSpPr/>
          <p:nvPr/>
        </p:nvSpPr>
        <p:spPr>
          <a:xfrm>
            <a:off x="2396932" y="187744"/>
            <a:ext cx="1140746" cy="1101724"/>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3" name="Rectángulo 12">
            <a:extLst>
              <a:ext uri="{FF2B5EF4-FFF2-40B4-BE49-F238E27FC236}">
                <a16:creationId xmlns:a16="http://schemas.microsoft.com/office/drawing/2014/main" id="{9A86DFEA-A4C6-342B-A100-713FAF945C3B}"/>
              </a:ext>
            </a:extLst>
          </p:cNvPr>
          <p:cNvSpPr/>
          <p:nvPr/>
        </p:nvSpPr>
        <p:spPr>
          <a:xfrm>
            <a:off x="3863796" y="187744"/>
            <a:ext cx="1140746" cy="1101724"/>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4" name="Rectángulo 13">
            <a:extLst>
              <a:ext uri="{FF2B5EF4-FFF2-40B4-BE49-F238E27FC236}">
                <a16:creationId xmlns:a16="http://schemas.microsoft.com/office/drawing/2014/main" id="{37BCF0EE-55B5-5403-9090-59178DBD25FA}"/>
              </a:ext>
            </a:extLst>
          </p:cNvPr>
          <p:cNvSpPr/>
          <p:nvPr/>
        </p:nvSpPr>
        <p:spPr>
          <a:xfrm>
            <a:off x="5330660" y="187744"/>
            <a:ext cx="1140746" cy="1101724"/>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5" name="Rectángulo 14">
            <a:extLst>
              <a:ext uri="{FF2B5EF4-FFF2-40B4-BE49-F238E27FC236}">
                <a16:creationId xmlns:a16="http://schemas.microsoft.com/office/drawing/2014/main" id="{E8612B32-E151-E785-9045-3B0805CDC564}"/>
              </a:ext>
            </a:extLst>
          </p:cNvPr>
          <p:cNvSpPr/>
          <p:nvPr/>
        </p:nvSpPr>
        <p:spPr>
          <a:xfrm>
            <a:off x="6797524" y="187744"/>
            <a:ext cx="1140746" cy="1101724"/>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6" name="Rectángulo 15">
            <a:extLst>
              <a:ext uri="{FF2B5EF4-FFF2-40B4-BE49-F238E27FC236}">
                <a16:creationId xmlns:a16="http://schemas.microsoft.com/office/drawing/2014/main" id="{7934FD42-8E8D-9D79-D318-A56CF8D7CEDD}"/>
              </a:ext>
            </a:extLst>
          </p:cNvPr>
          <p:cNvSpPr/>
          <p:nvPr/>
        </p:nvSpPr>
        <p:spPr>
          <a:xfrm>
            <a:off x="930068" y="187744"/>
            <a:ext cx="1140746" cy="1101724"/>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1" name="Forma libre: forma 20">
            <a:extLst>
              <a:ext uri="{FF2B5EF4-FFF2-40B4-BE49-F238E27FC236}">
                <a16:creationId xmlns:a16="http://schemas.microsoft.com/office/drawing/2014/main" id="{2BDD6232-AB06-A35C-E511-05769CD215A3}"/>
              </a:ext>
            </a:extLst>
          </p:cNvPr>
          <p:cNvSpPr/>
          <p:nvPr/>
        </p:nvSpPr>
        <p:spPr>
          <a:xfrm flipV="1">
            <a:off x="930068" y="1283433"/>
            <a:ext cx="2817092" cy="1111353"/>
          </a:xfrm>
          <a:custGeom>
            <a:avLst/>
            <a:gdLst>
              <a:gd name="connsiteX0" fmla="*/ 0 w 2819400"/>
              <a:gd name="connsiteY0" fmla="*/ 1095375 h 1101725"/>
              <a:gd name="connsiteX1" fmla="*/ 2498725 w 2819400"/>
              <a:gd name="connsiteY1" fmla="*/ 0 h 1101725"/>
              <a:gd name="connsiteX2" fmla="*/ 2819400 w 2819400"/>
              <a:gd name="connsiteY2" fmla="*/ 0 h 1101725"/>
              <a:gd name="connsiteX3" fmla="*/ 1143000 w 2819400"/>
              <a:gd name="connsiteY3" fmla="*/ 1101725 h 1101725"/>
              <a:gd name="connsiteX4" fmla="*/ 0 w 2819400"/>
              <a:gd name="connsiteY4" fmla="*/ 1095375 h 110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00" h="1101725">
                <a:moveTo>
                  <a:pt x="0" y="1095375"/>
                </a:moveTo>
                <a:lnTo>
                  <a:pt x="2498725" y="0"/>
                </a:lnTo>
                <a:lnTo>
                  <a:pt x="2819400" y="0"/>
                </a:lnTo>
                <a:lnTo>
                  <a:pt x="1143000" y="1101725"/>
                </a:lnTo>
                <a:lnTo>
                  <a:pt x="0" y="1095375"/>
                </a:lnTo>
                <a:close/>
              </a:path>
            </a:pathLst>
          </a:cu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rma libre: forma 21">
            <a:extLst>
              <a:ext uri="{FF2B5EF4-FFF2-40B4-BE49-F238E27FC236}">
                <a16:creationId xmlns:a16="http://schemas.microsoft.com/office/drawing/2014/main" id="{12B26411-55DF-5CA4-7F8C-F2C27834E38D}"/>
              </a:ext>
            </a:extLst>
          </p:cNvPr>
          <p:cNvSpPr/>
          <p:nvPr/>
        </p:nvSpPr>
        <p:spPr>
          <a:xfrm flipH="1" flipV="1">
            <a:off x="5121172" y="1283430"/>
            <a:ext cx="2817093" cy="1111357"/>
          </a:xfrm>
          <a:custGeom>
            <a:avLst/>
            <a:gdLst>
              <a:gd name="connsiteX0" fmla="*/ 0 w 2819400"/>
              <a:gd name="connsiteY0" fmla="*/ 1095375 h 1101725"/>
              <a:gd name="connsiteX1" fmla="*/ 2498725 w 2819400"/>
              <a:gd name="connsiteY1" fmla="*/ 0 h 1101725"/>
              <a:gd name="connsiteX2" fmla="*/ 2819400 w 2819400"/>
              <a:gd name="connsiteY2" fmla="*/ 0 h 1101725"/>
              <a:gd name="connsiteX3" fmla="*/ 1143000 w 2819400"/>
              <a:gd name="connsiteY3" fmla="*/ 1101725 h 1101725"/>
              <a:gd name="connsiteX4" fmla="*/ 0 w 2819400"/>
              <a:gd name="connsiteY4" fmla="*/ 1095375 h 110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00" h="1101725">
                <a:moveTo>
                  <a:pt x="0" y="1095375"/>
                </a:moveTo>
                <a:lnTo>
                  <a:pt x="2498725" y="0"/>
                </a:lnTo>
                <a:lnTo>
                  <a:pt x="2819400" y="0"/>
                </a:lnTo>
                <a:lnTo>
                  <a:pt x="1143000" y="1101725"/>
                </a:lnTo>
                <a:lnTo>
                  <a:pt x="0" y="1095375"/>
                </a:lnTo>
                <a:close/>
              </a:path>
            </a:pathLst>
          </a:cu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orma libre: forma 22">
            <a:extLst>
              <a:ext uri="{FF2B5EF4-FFF2-40B4-BE49-F238E27FC236}">
                <a16:creationId xmlns:a16="http://schemas.microsoft.com/office/drawing/2014/main" id="{04C3048B-DEDE-B040-26CB-26F34E75CFCD}"/>
              </a:ext>
            </a:extLst>
          </p:cNvPr>
          <p:cNvSpPr/>
          <p:nvPr/>
        </p:nvSpPr>
        <p:spPr>
          <a:xfrm flipV="1">
            <a:off x="2393755" y="1284535"/>
            <a:ext cx="1778196" cy="1111351"/>
          </a:xfrm>
          <a:custGeom>
            <a:avLst/>
            <a:gdLst>
              <a:gd name="connsiteX0" fmla="*/ 1136650 w 1778000"/>
              <a:gd name="connsiteY0" fmla="*/ 1092200 h 1092200"/>
              <a:gd name="connsiteX1" fmla="*/ 0 w 1778000"/>
              <a:gd name="connsiteY1" fmla="*/ 1092200 h 1092200"/>
              <a:gd name="connsiteX2" fmla="*/ 1447800 w 1778000"/>
              <a:gd name="connsiteY2" fmla="*/ 0 h 1092200"/>
              <a:gd name="connsiteX3" fmla="*/ 1778000 w 1778000"/>
              <a:gd name="connsiteY3" fmla="*/ 0 h 1092200"/>
              <a:gd name="connsiteX4" fmla="*/ 1136650 w 1778000"/>
              <a:gd name="connsiteY4" fmla="*/ 10922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1092200">
                <a:moveTo>
                  <a:pt x="1136650" y="1092200"/>
                </a:moveTo>
                <a:lnTo>
                  <a:pt x="0" y="1092200"/>
                </a:lnTo>
                <a:lnTo>
                  <a:pt x="1447800" y="0"/>
                </a:lnTo>
                <a:lnTo>
                  <a:pt x="1778000" y="0"/>
                </a:lnTo>
                <a:lnTo>
                  <a:pt x="1136650" y="1092200"/>
                </a:lnTo>
                <a:close/>
              </a:path>
            </a:pathLst>
          </a:cu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orma libre: forma 23">
            <a:extLst>
              <a:ext uri="{FF2B5EF4-FFF2-40B4-BE49-F238E27FC236}">
                <a16:creationId xmlns:a16="http://schemas.microsoft.com/office/drawing/2014/main" id="{1280A4B9-4BC3-383B-E802-A8A07FD89CB1}"/>
              </a:ext>
            </a:extLst>
          </p:cNvPr>
          <p:cNvSpPr/>
          <p:nvPr/>
        </p:nvSpPr>
        <p:spPr>
          <a:xfrm flipH="1" flipV="1">
            <a:off x="4696385" y="1283434"/>
            <a:ext cx="1778196" cy="1111351"/>
          </a:xfrm>
          <a:custGeom>
            <a:avLst/>
            <a:gdLst>
              <a:gd name="connsiteX0" fmla="*/ 1136650 w 1778000"/>
              <a:gd name="connsiteY0" fmla="*/ 1092200 h 1092200"/>
              <a:gd name="connsiteX1" fmla="*/ 0 w 1778000"/>
              <a:gd name="connsiteY1" fmla="*/ 1092200 h 1092200"/>
              <a:gd name="connsiteX2" fmla="*/ 1447800 w 1778000"/>
              <a:gd name="connsiteY2" fmla="*/ 0 h 1092200"/>
              <a:gd name="connsiteX3" fmla="*/ 1778000 w 1778000"/>
              <a:gd name="connsiteY3" fmla="*/ 0 h 1092200"/>
              <a:gd name="connsiteX4" fmla="*/ 1136650 w 1778000"/>
              <a:gd name="connsiteY4" fmla="*/ 10922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1092200">
                <a:moveTo>
                  <a:pt x="1136650" y="1092200"/>
                </a:moveTo>
                <a:lnTo>
                  <a:pt x="0" y="1092200"/>
                </a:lnTo>
                <a:lnTo>
                  <a:pt x="1447800" y="0"/>
                </a:lnTo>
                <a:lnTo>
                  <a:pt x="1778000" y="0"/>
                </a:lnTo>
                <a:lnTo>
                  <a:pt x="1136650" y="1092200"/>
                </a:lnTo>
                <a:close/>
              </a:path>
            </a:pathLst>
          </a:cu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rapecio 24">
            <a:extLst>
              <a:ext uri="{FF2B5EF4-FFF2-40B4-BE49-F238E27FC236}">
                <a16:creationId xmlns:a16="http://schemas.microsoft.com/office/drawing/2014/main" id="{D2EF8000-CF11-4561-A9D3-F4FA95642519}"/>
              </a:ext>
            </a:extLst>
          </p:cNvPr>
          <p:cNvSpPr/>
          <p:nvPr/>
        </p:nvSpPr>
        <p:spPr>
          <a:xfrm flipV="1">
            <a:off x="3863793" y="1289469"/>
            <a:ext cx="1140749" cy="1105321"/>
          </a:xfrm>
          <a:prstGeom prst="trapezoid">
            <a:avLst>
              <a:gd name="adj" fmla="val 36377"/>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ángulo 25">
            <a:extLst>
              <a:ext uri="{FF2B5EF4-FFF2-40B4-BE49-F238E27FC236}">
                <a16:creationId xmlns:a16="http://schemas.microsoft.com/office/drawing/2014/main" id="{5E60FB5E-1648-C5FB-4C99-58E485CA2A9B}"/>
              </a:ext>
            </a:extLst>
          </p:cNvPr>
          <p:cNvSpPr/>
          <p:nvPr/>
        </p:nvSpPr>
        <p:spPr>
          <a:xfrm>
            <a:off x="200025" y="133350"/>
            <a:ext cx="730043" cy="75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upo 1">
            <a:extLst>
              <a:ext uri="{FF2B5EF4-FFF2-40B4-BE49-F238E27FC236}">
                <a16:creationId xmlns:a16="http://schemas.microsoft.com/office/drawing/2014/main" id="{B3D01329-F81A-A9B2-05CA-D0DBB464E90A}"/>
              </a:ext>
            </a:extLst>
          </p:cNvPr>
          <p:cNvGrpSpPr/>
          <p:nvPr/>
        </p:nvGrpSpPr>
        <p:grpSpPr>
          <a:xfrm>
            <a:off x="930068" y="-1135380"/>
            <a:ext cx="1140746" cy="1135380"/>
            <a:chOff x="930068" y="-340980"/>
            <a:chExt cx="1140746" cy="1135380"/>
          </a:xfrm>
        </p:grpSpPr>
        <p:sp>
          <p:nvSpPr>
            <p:cNvPr id="3" name="Rectángulo 2">
              <a:extLst>
                <a:ext uri="{FF2B5EF4-FFF2-40B4-BE49-F238E27FC236}">
                  <a16:creationId xmlns:a16="http://schemas.microsoft.com/office/drawing/2014/main" id="{DB85EDF7-8E5E-52F7-1AB0-CBACC1BDEE00}"/>
                </a:ext>
              </a:extLst>
            </p:cNvPr>
            <p:cNvSpPr/>
            <p:nvPr/>
          </p:nvSpPr>
          <p:spPr>
            <a:xfrm>
              <a:off x="930068"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6" name="CuadroTexto 5">
              <a:extLst>
                <a:ext uri="{FF2B5EF4-FFF2-40B4-BE49-F238E27FC236}">
                  <a16:creationId xmlns:a16="http://schemas.microsoft.com/office/drawing/2014/main" id="{F378343A-55D2-DF1F-AF02-EDDC13CADA69}"/>
                </a:ext>
              </a:extLst>
            </p:cNvPr>
            <p:cNvSpPr txBox="1"/>
            <p:nvPr/>
          </p:nvSpPr>
          <p:spPr>
            <a:xfrm>
              <a:off x="930068" y="299100"/>
              <a:ext cx="1140746" cy="400110"/>
            </a:xfrm>
            <a:prstGeom prst="rect">
              <a:avLst/>
            </a:prstGeom>
            <a:noFill/>
          </p:spPr>
          <p:txBody>
            <a:bodyPr wrap="square" rtlCol="0">
              <a:spAutoFit/>
            </a:bodyPr>
            <a:lstStyle/>
            <a:p>
              <a:pPr algn="ctr"/>
              <a:r>
                <a:rPr lang="es-MX" sz="1000" b="1" dirty="0">
                  <a:solidFill>
                    <a:schemeClr val="bg1"/>
                  </a:solidFill>
                </a:rPr>
                <a:t>Innovación</a:t>
              </a:r>
            </a:p>
            <a:p>
              <a:pPr algn="ctr"/>
              <a:r>
                <a:rPr lang="es-MX" sz="1000" b="1" dirty="0">
                  <a:solidFill>
                    <a:schemeClr val="bg1"/>
                  </a:solidFill>
                </a:rPr>
                <a:t>Tecnológica</a:t>
              </a:r>
              <a:endParaRPr lang="en-US" sz="1000" b="1" dirty="0">
                <a:solidFill>
                  <a:schemeClr val="bg1"/>
                </a:solidFill>
              </a:endParaRPr>
            </a:p>
          </p:txBody>
        </p:sp>
      </p:grpSp>
      <p:grpSp>
        <p:nvGrpSpPr>
          <p:cNvPr id="7" name="Grupo 6">
            <a:extLst>
              <a:ext uri="{FF2B5EF4-FFF2-40B4-BE49-F238E27FC236}">
                <a16:creationId xmlns:a16="http://schemas.microsoft.com/office/drawing/2014/main" id="{69F86D5E-2E3B-B23E-FFA4-095FDA9D02B9}"/>
              </a:ext>
            </a:extLst>
          </p:cNvPr>
          <p:cNvGrpSpPr/>
          <p:nvPr/>
        </p:nvGrpSpPr>
        <p:grpSpPr>
          <a:xfrm>
            <a:off x="2396932" y="-1131510"/>
            <a:ext cx="1140746" cy="1135380"/>
            <a:chOff x="2396932" y="-340980"/>
            <a:chExt cx="1140746" cy="1135380"/>
          </a:xfrm>
        </p:grpSpPr>
        <p:sp>
          <p:nvSpPr>
            <p:cNvPr id="11" name="Rectángulo 10">
              <a:extLst>
                <a:ext uri="{FF2B5EF4-FFF2-40B4-BE49-F238E27FC236}">
                  <a16:creationId xmlns:a16="http://schemas.microsoft.com/office/drawing/2014/main" id="{C704A372-54DF-6C42-D5BD-634CB938CACB}"/>
                </a:ext>
              </a:extLst>
            </p:cNvPr>
            <p:cNvSpPr/>
            <p:nvPr/>
          </p:nvSpPr>
          <p:spPr>
            <a:xfrm>
              <a:off x="2396932"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17" name="CuadroTexto 16">
              <a:extLst>
                <a:ext uri="{FF2B5EF4-FFF2-40B4-BE49-F238E27FC236}">
                  <a16:creationId xmlns:a16="http://schemas.microsoft.com/office/drawing/2014/main" id="{8C1C41C9-D2FF-3FAF-1F48-39466F386938}"/>
                </a:ext>
              </a:extLst>
            </p:cNvPr>
            <p:cNvSpPr txBox="1"/>
            <p:nvPr/>
          </p:nvSpPr>
          <p:spPr>
            <a:xfrm>
              <a:off x="2396932" y="299100"/>
              <a:ext cx="1140746" cy="400110"/>
            </a:xfrm>
            <a:prstGeom prst="rect">
              <a:avLst/>
            </a:prstGeom>
            <a:noFill/>
          </p:spPr>
          <p:txBody>
            <a:bodyPr wrap="square" rtlCol="0">
              <a:spAutoFit/>
            </a:bodyPr>
            <a:lstStyle/>
            <a:p>
              <a:pPr algn="ctr"/>
              <a:r>
                <a:rPr lang="es-MX" sz="1000" b="1" dirty="0">
                  <a:solidFill>
                    <a:srgbClr val="3F3151"/>
                  </a:solidFill>
                </a:rPr>
                <a:t>Estrategia Operativa</a:t>
              </a:r>
              <a:endParaRPr lang="en-US" sz="1000" b="1" dirty="0">
                <a:solidFill>
                  <a:srgbClr val="3F3151"/>
                </a:solidFill>
              </a:endParaRPr>
            </a:p>
          </p:txBody>
        </p:sp>
      </p:grpSp>
      <p:grpSp>
        <p:nvGrpSpPr>
          <p:cNvPr id="18" name="Grupo 17">
            <a:extLst>
              <a:ext uri="{FF2B5EF4-FFF2-40B4-BE49-F238E27FC236}">
                <a16:creationId xmlns:a16="http://schemas.microsoft.com/office/drawing/2014/main" id="{E45D60FB-334C-1F9E-D952-0FFD53CE0EF6}"/>
              </a:ext>
            </a:extLst>
          </p:cNvPr>
          <p:cNvGrpSpPr/>
          <p:nvPr/>
        </p:nvGrpSpPr>
        <p:grpSpPr>
          <a:xfrm>
            <a:off x="3863796" y="-1135380"/>
            <a:ext cx="1140746" cy="1135380"/>
            <a:chOff x="3863796" y="-340980"/>
            <a:chExt cx="1140746" cy="1135380"/>
          </a:xfrm>
        </p:grpSpPr>
        <p:sp>
          <p:nvSpPr>
            <p:cNvPr id="19" name="Rectángulo 18">
              <a:extLst>
                <a:ext uri="{FF2B5EF4-FFF2-40B4-BE49-F238E27FC236}">
                  <a16:creationId xmlns:a16="http://schemas.microsoft.com/office/drawing/2014/main" id="{22C5540A-6E34-3117-96F1-CFFCEE57E951}"/>
                </a:ext>
              </a:extLst>
            </p:cNvPr>
            <p:cNvSpPr/>
            <p:nvPr/>
          </p:nvSpPr>
          <p:spPr>
            <a:xfrm>
              <a:off x="3863796" y="-340980"/>
              <a:ext cx="1140746" cy="1135380"/>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0" name="CuadroTexto 19">
              <a:extLst>
                <a:ext uri="{FF2B5EF4-FFF2-40B4-BE49-F238E27FC236}">
                  <a16:creationId xmlns:a16="http://schemas.microsoft.com/office/drawing/2014/main" id="{C03F2F17-E867-1419-454C-7241A3935B64}"/>
                </a:ext>
              </a:extLst>
            </p:cNvPr>
            <p:cNvSpPr txBox="1"/>
            <p:nvPr/>
          </p:nvSpPr>
          <p:spPr>
            <a:xfrm>
              <a:off x="3863796" y="299100"/>
              <a:ext cx="1140746" cy="400110"/>
            </a:xfrm>
            <a:prstGeom prst="rect">
              <a:avLst/>
            </a:prstGeom>
            <a:noFill/>
          </p:spPr>
          <p:txBody>
            <a:bodyPr wrap="square" rtlCol="0">
              <a:spAutoFit/>
            </a:bodyPr>
            <a:lstStyle/>
            <a:p>
              <a:pPr algn="ctr"/>
              <a:r>
                <a:rPr lang="es-MX" sz="1000" b="1" dirty="0">
                  <a:solidFill>
                    <a:schemeClr val="bg1"/>
                  </a:solidFill>
                </a:rPr>
                <a:t>Innovaciones temáticas</a:t>
              </a:r>
              <a:endParaRPr lang="en-US" sz="1000" b="1" dirty="0">
                <a:solidFill>
                  <a:schemeClr val="bg1"/>
                </a:solidFill>
              </a:endParaRPr>
            </a:p>
          </p:txBody>
        </p:sp>
      </p:grpSp>
      <p:grpSp>
        <p:nvGrpSpPr>
          <p:cNvPr id="27" name="Grupo 26">
            <a:extLst>
              <a:ext uri="{FF2B5EF4-FFF2-40B4-BE49-F238E27FC236}">
                <a16:creationId xmlns:a16="http://schemas.microsoft.com/office/drawing/2014/main" id="{3C001510-6E3C-C9D6-FF7D-824ECC80FA2D}"/>
              </a:ext>
            </a:extLst>
          </p:cNvPr>
          <p:cNvGrpSpPr/>
          <p:nvPr/>
        </p:nvGrpSpPr>
        <p:grpSpPr>
          <a:xfrm>
            <a:off x="5330660" y="-1135380"/>
            <a:ext cx="1140746" cy="1135380"/>
            <a:chOff x="5330660" y="-340980"/>
            <a:chExt cx="1140746" cy="1135380"/>
          </a:xfrm>
        </p:grpSpPr>
        <p:sp>
          <p:nvSpPr>
            <p:cNvPr id="28" name="Rectángulo 27">
              <a:extLst>
                <a:ext uri="{FF2B5EF4-FFF2-40B4-BE49-F238E27FC236}">
                  <a16:creationId xmlns:a16="http://schemas.microsoft.com/office/drawing/2014/main" id="{8A928681-CDD7-F6E9-5475-A6BE1D287CDA}"/>
                </a:ext>
              </a:extLst>
            </p:cNvPr>
            <p:cNvSpPr/>
            <p:nvPr/>
          </p:nvSpPr>
          <p:spPr>
            <a:xfrm>
              <a:off x="5330660" y="-340980"/>
              <a:ext cx="1140746" cy="1135380"/>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29" name="CuadroTexto 28">
              <a:extLst>
                <a:ext uri="{FF2B5EF4-FFF2-40B4-BE49-F238E27FC236}">
                  <a16:creationId xmlns:a16="http://schemas.microsoft.com/office/drawing/2014/main" id="{70195244-797F-67DC-8974-5028783993F8}"/>
                </a:ext>
              </a:extLst>
            </p:cNvPr>
            <p:cNvSpPr txBox="1"/>
            <p:nvPr/>
          </p:nvSpPr>
          <p:spPr>
            <a:xfrm>
              <a:off x="5330660" y="299100"/>
              <a:ext cx="1140746" cy="400110"/>
            </a:xfrm>
            <a:prstGeom prst="rect">
              <a:avLst/>
            </a:prstGeom>
            <a:noFill/>
          </p:spPr>
          <p:txBody>
            <a:bodyPr wrap="square" rtlCol="0">
              <a:spAutoFit/>
            </a:bodyPr>
            <a:lstStyle/>
            <a:p>
              <a:pPr algn="ctr"/>
              <a:r>
                <a:rPr lang="es-MX" sz="1000" b="1" dirty="0">
                  <a:solidFill>
                    <a:schemeClr val="bg1"/>
                  </a:solidFill>
                </a:rPr>
                <a:t>Control de calidad</a:t>
              </a:r>
              <a:endParaRPr lang="en-US" sz="1000" b="1" dirty="0">
                <a:solidFill>
                  <a:schemeClr val="bg1"/>
                </a:solidFill>
              </a:endParaRPr>
            </a:p>
          </p:txBody>
        </p:sp>
      </p:grpSp>
      <p:grpSp>
        <p:nvGrpSpPr>
          <p:cNvPr id="30" name="Grupo 29">
            <a:extLst>
              <a:ext uri="{FF2B5EF4-FFF2-40B4-BE49-F238E27FC236}">
                <a16:creationId xmlns:a16="http://schemas.microsoft.com/office/drawing/2014/main" id="{F5AC4B23-E51B-D807-8E0A-5970141DC6DE}"/>
              </a:ext>
            </a:extLst>
          </p:cNvPr>
          <p:cNvGrpSpPr/>
          <p:nvPr/>
        </p:nvGrpSpPr>
        <p:grpSpPr>
          <a:xfrm>
            <a:off x="6797524" y="-1135380"/>
            <a:ext cx="1140746" cy="1135380"/>
            <a:chOff x="6820384" y="-340980"/>
            <a:chExt cx="1140746" cy="1135380"/>
          </a:xfrm>
        </p:grpSpPr>
        <p:sp>
          <p:nvSpPr>
            <p:cNvPr id="31" name="Rectángulo 30">
              <a:extLst>
                <a:ext uri="{FF2B5EF4-FFF2-40B4-BE49-F238E27FC236}">
                  <a16:creationId xmlns:a16="http://schemas.microsoft.com/office/drawing/2014/main" id="{0B287ACC-C352-7F94-3BF2-F7035525E306}"/>
                </a:ext>
              </a:extLst>
            </p:cNvPr>
            <p:cNvSpPr/>
            <p:nvPr/>
          </p:nvSpPr>
          <p:spPr>
            <a:xfrm>
              <a:off x="6820384" y="-340980"/>
              <a:ext cx="1140746" cy="1135380"/>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2" name="CuadroTexto 31">
              <a:extLst>
                <a:ext uri="{FF2B5EF4-FFF2-40B4-BE49-F238E27FC236}">
                  <a16:creationId xmlns:a16="http://schemas.microsoft.com/office/drawing/2014/main" id="{1CD0FA7C-9024-DC61-DE83-F402B3EE5CDC}"/>
                </a:ext>
              </a:extLst>
            </p:cNvPr>
            <p:cNvSpPr txBox="1"/>
            <p:nvPr/>
          </p:nvSpPr>
          <p:spPr>
            <a:xfrm>
              <a:off x="6820384" y="413400"/>
              <a:ext cx="1140746" cy="246221"/>
            </a:xfrm>
            <a:prstGeom prst="rect">
              <a:avLst/>
            </a:prstGeom>
            <a:noFill/>
          </p:spPr>
          <p:txBody>
            <a:bodyPr wrap="square" rtlCol="0">
              <a:spAutoFit/>
            </a:bodyPr>
            <a:lstStyle/>
            <a:p>
              <a:pPr algn="ctr"/>
              <a:r>
                <a:rPr lang="es-MX" sz="1000" b="1" dirty="0">
                  <a:solidFill>
                    <a:srgbClr val="3F3151"/>
                  </a:solidFill>
                </a:rPr>
                <a:t>Resultados</a:t>
              </a:r>
              <a:endParaRPr lang="en-US" sz="1000" b="1" dirty="0">
                <a:solidFill>
                  <a:srgbClr val="3F3151"/>
                </a:solidFill>
              </a:endParaRPr>
            </a:p>
          </p:txBody>
        </p:sp>
      </p:grpSp>
    </p:spTree>
    <p:extLst>
      <p:ext uri="{BB962C8B-B14F-4D97-AF65-F5344CB8AC3E}">
        <p14:creationId xmlns:p14="http://schemas.microsoft.com/office/powerpoint/2010/main" val="851430594"/>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250"/>
                                        <p:tgtEl>
                                          <p:spTgt spid="10"/>
                                        </p:tgtEl>
                                      </p:cBhvr>
                                    </p:animEffect>
                                  </p:childTnLst>
                                </p:cTn>
                              </p:par>
                              <p:par>
                                <p:cTn id="12" presetID="22" presetClass="entr" presetSubtype="1" fill="hold" grpId="0" nodeType="withEffect">
                                  <p:stCondLst>
                                    <p:cond delay="250"/>
                                  </p:stCondLst>
                                  <p:childTnLst>
                                    <p:set>
                                      <p:cBhvr>
                                        <p:cTn id="13" dur="1" fill="hold">
                                          <p:stCondLst>
                                            <p:cond delay="0"/>
                                          </p:stCondLst>
                                        </p:cTn>
                                        <p:tgtEl>
                                          <p:spTgt spid="21"/>
                                        </p:tgtEl>
                                        <p:attrNameLst>
                                          <p:attrName>style.visibility</p:attrName>
                                        </p:attrNameLst>
                                      </p:cBhvr>
                                      <p:to>
                                        <p:strVal val="visible"/>
                                      </p:to>
                                    </p:set>
                                    <p:animEffect transition="in" filter="wipe(up)">
                                      <p:cBhvr>
                                        <p:cTn id="14" dur="250"/>
                                        <p:tgtEl>
                                          <p:spTgt spid="21"/>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250"/>
                                        <p:tgtEl>
                                          <p:spTgt spid="16"/>
                                        </p:tgtEl>
                                      </p:cBhvr>
                                    </p:animEffect>
                                  </p:childTnLst>
                                </p:cTn>
                              </p:par>
                              <p:par>
                                <p:cTn id="18" presetID="22" presetClass="entr" presetSubtype="1" fill="hold" grpId="0" nodeType="withEffect">
                                  <p:stCondLst>
                                    <p:cond delay="75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250"/>
                                        <p:tgtEl>
                                          <p:spTgt spid="5"/>
                                        </p:tgtEl>
                                      </p:cBhvr>
                                    </p:animEffect>
                                  </p:childTnLst>
                                </p:cTn>
                              </p:par>
                              <p:par>
                                <p:cTn id="21" presetID="22" presetClass="entr" presetSubtype="1" fill="hold" grpId="0" nodeType="withEffect">
                                  <p:stCondLst>
                                    <p:cond delay="500"/>
                                  </p:stCondLst>
                                  <p:childTnLst>
                                    <p:set>
                                      <p:cBhvr>
                                        <p:cTn id="22" dur="1" fill="hold">
                                          <p:stCondLst>
                                            <p:cond delay="0"/>
                                          </p:stCondLst>
                                        </p:cTn>
                                        <p:tgtEl>
                                          <p:spTgt spid="23"/>
                                        </p:tgtEl>
                                        <p:attrNameLst>
                                          <p:attrName>style.visibility</p:attrName>
                                        </p:attrNameLst>
                                      </p:cBhvr>
                                      <p:to>
                                        <p:strVal val="visible"/>
                                      </p:to>
                                    </p:set>
                                    <p:animEffect transition="in" filter="wipe(up)">
                                      <p:cBhvr>
                                        <p:cTn id="23" dur="250"/>
                                        <p:tgtEl>
                                          <p:spTgt spid="23"/>
                                        </p:tgtEl>
                                      </p:cBhvr>
                                    </p:animEffect>
                                  </p:childTnLst>
                                </p:cTn>
                              </p:par>
                              <p:par>
                                <p:cTn id="24" presetID="22" presetClass="entr" presetSubtype="1" fill="hold" grpId="0" nodeType="withEffect">
                                  <p:stCondLst>
                                    <p:cond delay="250"/>
                                  </p:stCondLst>
                                  <p:childTnLst>
                                    <p:set>
                                      <p:cBhvr>
                                        <p:cTn id="25" dur="1" fill="hold">
                                          <p:stCondLst>
                                            <p:cond delay="0"/>
                                          </p:stCondLst>
                                        </p:cTn>
                                        <p:tgtEl>
                                          <p:spTgt spid="12"/>
                                        </p:tgtEl>
                                        <p:attrNameLst>
                                          <p:attrName>style.visibility</p:attrName>
                                        </p:attrNameLst>
                                      </p:cBhvr>
                                      <p:to>
                                        <p:strVal val="visible"/>
                                      </p:to>
                                    </p:set>
                                    <p:animEffect transition="in" filter="wipe(up)">
                                      <p:cBhvr>
                                        <p:cTn id="26" dur="250"/>
                                        <p:tgtEl>
                                          <p:spTgt spid="12"/>
                                        </p:tgtEl>
                                      </p:cBhvr>
                                    </p:animEffect>
                                  </p:childTnLst>
                                </p:cTn>
                              </p:par>
                              <p:par>
                                <p:cTn id="27" presetID="22" presetClass="entr" presetSubtype="1" fill="hold" grpId="0" nodeType="withEffect">
                                  <p:stCondLst>
                                    <p:cond delay="100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250"/>
                                        <p:tgtEl>
                                          <p:spTgt spid="4"/>
                                        </p:tgtEl>
                                      </p:cBhvr>
                                    </p:animEffect>
                                  </p:childTnLst>
                                </p:cTn>
                              </p:par>
                              <p:par>
                                <p:cTn id="30" presetID="22" presetClass="entr" presetSubtype="1" fill="hold" grpId="0" nodeType="withEffect">
                                  <p:stCondLst>
                                    <p:cond delay="750"/>
                                  </p:stCondLst>
                                  <p:childTnLst>
                                    <p:set>
                                      <p:cBhvr>
                                        <p:cTn id="31" dur="1" fill="hold">
                                          <p:stCondLst>
                                            <p:cond delay="0"/>
                                          </p:stCondLst>
                                        </p:cTn>
                                        <p:tgtEl>
                                          <p:spTgt spid="25"/>
                                        </p:tgtEl>
                                        <p:attrNameLst>
                                          <p:attrName>style.visibility</p:attrName>
                                        </p:attrNameLst>
                                      </p:cBhvr>
                                      <p:to>
                                        <p:strVal val="visible"/>
                                      </p:to>
                                    </p:set>
                                    <p:animEffect transition="in" filter="wipe(up)">
                                      <p:cBhvr>
                                        <p:cTn id="32" dur="250"/>
                                        <p:tgtEl>
                                          <p:spTgt spid="25"/>
                                        </p:tgtEl>
                                      </p:cBhvr>
                                    </p:animEffect>
                                  </p:childTnLst>
                                </p:cTn>
                              </p:par>
                              <p:par>
                                <p:cTn id="33" presetID="22" presetClass="entr" presetSubtype="1" fill="hold" grpId="0" nodeType="withEffect">
                                  <p:stCondLst>
                                    <p:cond delay="50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250"/>
                                        <p:tgtEl>
                                          <p:spTgt spid="13"/>
                                        </p:tgtEl>
                                      </p:cBhvr>
                                    </p:animEffect>
                                  </p:childTnLst>
                                </p:cTn>
                              </p:par>
                              <p:par>
                                <p:cTn id="36" presetID="22" presetClass="entr" presetSubtype="1" fill="hold" grpId="0" nodeType="withEffect">
                                  <p:stCondLst>
                                    <p:cond delay="1250"/>
                                  </p:stCondLst>
                                  <p:childTnLst>
                                    <p:set>
                                      <p:cBhvr>
                                        <p:cTn id="37" dur="1" fill="hold">
                                          <p:stCondLst>
                                            <p:cond delay="0"/>
                                          </p:stCondLst>
                                        </p:cTn>
                                        <p:tgtEl>
                                          <p:spTgt spid="8"/>
                                        </p:tgtEl>
                                        <p:attrNameLst>
                                          <p:attrName>style.visibility</p:attrName>
                                        </p:attrNameLst>
                                      </p:cBhvr>
                                      <p:to>
                                        <p:strVal val="visible"/>
                                      </p:to>
                                    </p:set>
                                    <p:animEffect transition="in" filter="wipe(up)">
                                      <p:cBhvr>
                                        <p:cTn id="38" dur="250"/>
                                        <p:tgtEl>
                                          <p:spTgt spid="8"/>
                                        </p:tgtEl>
                                      </p:cBhvr>
                                    </p:animEffect>
                                  </p:childTnLst>
                                </p:cTn>
                              </p:par>
                              <p:par>
                                <p:cTn id="39" presetID="22" presetClass="entr" presetSubtype="1" fill="hold" grpId="0" nodeType="withEffect">
                                  <p:stCondLst>
                                    <p:cond delay="1000"/>
                                  </p:stCondLst>
                                  <p:childTnLst>
                                    <p:set>
                                      <p:cBhvr>
                                        <p:cTn id="40" dur="1" fill="hold">
                                          <p:stCondLst>
                                            <p:cond delay="0"/>
                                          </p:stCondLst>
                                        </p:cTn>
                                        <p:tgtEl>
                                          <p:spTgt spid="24"/>
                                        </p:tgtEl>
                                        <p:attrNameLst>
                                          <p:attrName>style.visibility</p:attrName>
                                        </p:attrNameLst>
                                      </p:cBhvr>
                                      <p:to>
                                        <p:strVal val="visible"/>
                                      </p:to>
                                    </p:set>
                                    <p:animEffect transition="in" filter="wipe(up)">
                                      <p:cBhvr>
                                        <p:cTn id="41" dur="250"/>
                                        <p:tgtEl>
                                          <p:spTgt spid="24"/>
                                        </p:tgtEl>
                                      </p:cBhvr>
                                    </p:animEffect>
                                  </p:childTnLst>
                                </p:cTn>
                              </p:par>
                              <p:par>
                                <p:cTn id="42" presetID="22" presetClass="entr" presetSubtype="1" fill="hold" grpId="0" nodeType="withEffect">
                                  <p:stCondLst>
                                    <p:cond delay="7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250"/>
                                        <p:tgtEl>
                                          <p:spTgt spid="14"/>
                                        </p:tgtEl>
                                      </p:cBhvr>
                                    </p:animEffect>
                                  </p:childTnLst>
                                </p:cTn>
                              </p:par>
                              <p:par>
                                <p:cTn id="45" presetID="22" presetClass="entr" presetSubtype="1" fill="hold" grpId="0" nodeType="withEffect">
                                  <p:stCondLst>
                                    <p:cond delay="150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250"/>
                                        <p:tgtEl>
                                          <p:spTgt spid="9"/>
                                        </p:tgtEl>
                                      </p:cBhvr>
                                    </p:animEffect>
                                  </p:childTnLst>
                                </p:cTn>
                              </p:par>
                              <p:par>
                                <p:cTn id="48" presetID="22" presetClass="entr" presetSubtype="1" fill="hold" grpId="0" nodeType="withEffect">
                                  <p:stCondLst>
                                    <p:cond delay="125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250"/>
                                        <p:tgtEl>
                                          <p:spTgt spid="22"/>
                                        </p:tgtEl>
                                      </p:cBhvr>
                                    </p:animEffect>
                                  </p:childTnLst>
                                </p:cTn>
                              </p:par>
                              <p:par>
                                <p:cTn id="51" presetID="22" presetClass="entr" presetSubtype="1" fill="hold" grpId="0" nodeType="withEffect">
                                  <p:stCondLst>
                                    <p:cond delay="100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8" grpId="0" animBg="1"/>
      <p:bldP spid="9" grpId="0" animBg="1"/>
      <p:bldP spid="10" grpId="0" animBg="1"/>
      <p:bldP spid="12" grpId="0" animBg="1"/>
      <p:bldP spid="13" grpId="0" animBg="1"/>
      <p:bldP spid="14" grpId="0" animBg="1"/>
      <p:bldP spid="15" grpId="0" animBg="1"/>
      <p:bldP spid="16" grpId="0" animBg="1"/>
      <p:bldP spid="21" grpId="0" animBg="1"/>
      <p:bldP spid="22" grpId="0" animBg="1"/>
      <p:bldP spid="23" grpId="0" animBg="1"/>
      <p:bldP spid="24" grpId="0" animBg="1"/>
      <p:bldP spid="25" grpId="0" animBg="1"/>
      <p:bldP spid="2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upo 15">
            <a:extLst>
              <a:ext uri="{FF2B5EF4-FFF2-40B4-BE49-F238E27FC236}">
                <a16:creationId xmlns:a16="http://schemas.microsoft.com/office/drawing/2014/main" id="{2EC5DE47-9C9F-F492-7126-61DE215915EE}"/>
              </a:ext>
            </a:extLst>
          </p:cNvPr>
          <p:cNvGrpSpPr/>
          <p:nvPr/>
        </p:nvGrpSpPr>
        <p:grpSpPr>
          <a:xfrm>
            <a:off x="3415554" y="-357809"/>
            <a:ext cx="2037230" cy="1431235"/>
            <a:chOff x="3415554" y="-357809"/>
            <a:chExt cx="2037230" cy="1431235"/>
          </a:xfrm>
        </p:grpSpPr>
        <p:sp>
          <p:nvSpPr>
            <p:cNvPr id="2" name="Rectángulo 1">
              <a:extLst>
                <a:ext uri="{FF2B5EF4-FFF2-40B4-BE49-F238E27FC236}">
                  <a16:creationId xmlns:a16="http://schemas.microsoft.com/office/drawing/2014/main" id="{BB638A09-119C-231D-2DB1-9D2B9E30743C}"/>
                </a:ext>
              </a:extLst>
            </p:cNvPr>
            <p:cNvSpPr/>
            <p:nvPr/>
          </p:nvSpPr>
          <p:spPr>
            <a:xfrm>
              <a:off x="3840344" y="-357809"/>
              <a:ext cx="331606" cy="1431235"/>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3" name="Rectángulo 2">
              <a:extLst>
                <a:ext uri="{FF2B5EF4-FFF2-40B4-BE49-F238E27FC236}">
                  <a16:creationId xmlns:a16="http://schemas.microsoft.com/office/drawing/2014/main" id="{99046E2D-CA20-7998-63D1-E3AB2C6ED64A}"/>
                </a:ext>
              </a:extLst>
            </p:cNvPr>
            <p:cNvSpPr/>
            <p:nvPr/>
          </p:nvSpPr>
          <p:spPr>
            <a:xfrm>
              <a:off x="4268366" y="-357809"/>
              <a:ext cx="331606" cy="1431235"/>
            </a:xfrm>
            <a:prstGeom prst="rect">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4" name="Rectángulo 3">
              <a:extLst>
                <a:ext uri="{FF2B5EF4-FFF2-40B4-BE49-F238E27FC236}">
                  <a16:creationId xmlns:a16="http://schemas.microsoft.com/office/drawing/2014/main" id="{47E4B871-3DB0-B6CE-819E-2F5846466730}"/>
                </a:ext>
              </a:extLst>
            </p:cNvPr>
            <p:cNvSpPr/>
            <p:nvPr/>
          </p:nvSpPr>
          <p:spPr>
            <a:xfrm>
              <a:off x="4694772" y="-357809"/>
              <a:ext cx="331606" cy="1431235"/>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5" name="Rectángulo 4">
              <a:extLst>
                <a:ext uri="{FF2B5EF4-FFF2-40B4-BE49-F238E27FC236}">
                  <a16:creationId xmlns:a16="http://schemas.microsoft.com/office/drawing/2014/main" id="{BE2E3ED8-CD66-269F-0AB1-FC524E2E5EEE}"/>
                </a:ext>
              </a:extLst>
            </p:cNvPr>
            <p:cNvSpPr/>
            <p:nvPr/>
          </p:nvSpPr>
          <p:spPr>
            <a:xfrm>
              <a:off x="5121178" y="-357809"/>
              <a:ext cx="331606" cy="1431235"/>
            </a:xfrm>
            <a:prstGeom prst="rect">
              <a:avLst/>
            </a:pr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sp>
          <p:nvSpPr>
            <p:cNvPr id="6" name="Rectángulo 5">
              <a:extLst>
                <a:ext uri="{FF2B5EF4-FFF2-40B4-BE49-F238E27FC236}">
                  <a16:creationId xmlns:a16="http://schemas.microsoft.com/office/drawing/2014/main" id="{BA60F0D5-D3E9-F78E-5AF3-6CAC57D64C0A}"/>
                </a:ext>
              </a:extLst>
            </p:cNvPr>
            <p:cNvSpPr/>
            <p:nvPr/>
          </p:nvSpPr>
          <p:spPr>
            <a:xfrm>
              <a:off x="3415554" y="-357809"/>
              <a:ext cx="331606" cy="1431235"/>
            </a:xfrm>
            <a:prstGeom prst="rect">
              <a:avLst/>
            </a:pr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kern="0">
                <a:sym typeface="Arial"/>
              </a:endParaRPr>
            </a:p>
          </p:txBody>
        </p:sp>
      </p:grpSp>
      <p:pic>
        <p:nvPicPr>
          <p:cNvPr id="7" name="Imagen 3" descr="Imagen en blanco y negro&#10;&#10;Descripción generada automáticamente con confianza media">
            <a:extLst>
              <a:ext uri="{FF2B5EF4-FFF2-40B4-BE49-F238E27FC236}">
                <a16:creationId xmlns:a16="http://schemas.microsoft.com/office/drawing/2014/main" id="{7A8C9C3E-4A44-4810-B8E3-2DCEF75E4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6368" y="1168389"/>
            <a:ext cx="3133725"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Google Shape;172;p11">
            <a:extLst>
              <a:ext uri="{FF2B5EF4-FFF2-40B4-BE49-F238E27FC236}">
                <a16:creationId xmlns:a16="http://schemas.microsoft.com/office/drawing/2014/main" id="{8DFB37E3-E523-7419-EF4C-8D528DD12F00}"/>
              </a:ext>
            </a:extLst>
          </p:cNvPr>
          <p:cNvSpPr txBox="1">
            <a:spLocks noChangeArrowheads="1"/>
          </p:cNvSpPr>
          <p:nvPr/>
        </p:nvSpPr>
        <p:spPr bwMode="auto">
          <a:xfrm>
            <a:off x="1871662" y="3196689"/>
            <a:ext cx="5400675"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r>
              <a:rPr lang="es-ES" altLang="en-US" sz="2800" b="1" dirty="0">
                <a:solidFill>
                  <a:srgbClr val="974806"/>
                </a:solidFill>
              </a:rPr>
              <a:t>¡GRACIAS!</a:t>
            </a:r>
            <a:endParaRPr lang="en-US" altLang="en-US" sz="2800" b="1" dirty="0">
              <a:solidFill>
                <a:srgbClr val="974806"/>
              </a:solidFill>
            </a:endParaRPr>
          </a:p>
        </p:txBody>
      </p:sp>
      <p:sp>
        <p:nvSpPr>
          <p:cNvPr id="9" name="Google Shape;173;p11">
            <a:extLst>
              <a:ext uri="{FF2B5EF4-FFF2-40B4-BE49-F238E27FC236}">
                <a16:creationId xmlns:a16="http://schemas.microsoft.com/office/drawing/2014/main" id="{C16935A6-829A-6582-924F-A24A2CD02025}"/>
              </a:ext>
            </a:extLst>
          </p:cNvPr>
          <p:cNvSpPr txBox="1"/>
          <p:nvPr/>
        </p:nvSpPr>
        <p:spPr>
          <a:xfrm>
            <a:off x="2311400" y="3625314"/>
            <a:ext cx="4346575" cy="646290"/>
          </a:xfrm>
          <a:prstGeom prst="rect">
            <a:avLst/>
          </a:prstGeom>
          <a:noFill/>
          <a:ln>
            <a:noFill/>
          </a:ln>
        </p:spPr>
        <p:txBody>
          <a:bodyPr spcFirstLastPara="1" lIns="91425" tIns="45700" rIns="91425" bIns="45700">
            <a:spAutoFit/>
          </a:bodyPr>
          <a:lstStyle/>
          <a:p>
            <a:pPr algn="ctr" eaLnBrk="1" fontAlgn="auto" hangingPunct="1">
              <a:spcBef>
                <a:spcPts val="0"/>
              </a:spcBef>
              <a:spcAft>
                <a:spcPts val="0"/>
              </a:spcAft>
              <a:buClr>
                <a:srgbClr val="000000"/>
              </a:buClr>
              <a:buFont typeface="Arial"/>
              <a:buNone/>
              <a:defRPr/>
            </a:pPr>
            <a:r>
              <a:rPr lang="es-ES" sz="1800" kern="0" dirty="0">
                <a:solidFill>
                  <a:srgbClr val="9B4D0A"/>
                </a:solidFill>
                <a:latin typeface="+mn-lt"/>
                <a:ea typeface="Calibri"/>
                <a:sym typeface="Calibri"/>
              </a:rPr>
              <a:t>www.mag.gov.py</a:t>
            </a:r>
          </a:p>
          <a:p>
            <a:pPr algn="ctr" eaLnBrk="1" fontAlgn="auto" hangingPunct="1">
              <a:spcBef>
                <a:spcPts val="0"/>
              </a:spcBef>
              <a:spcAft>
                <a:spcPts val="0"/>
              </a:spcAft>
              <a:buClr>
                <a:srgbClr val="000000"/>
              </a:buClr>
              <a:buFont typeface="Arial"/>
              <a:buNone/>
              <a:defRPr/>
            </a:pPr>
            <a:r>
              <a:rPr lang="es-ES" sz="1800" kern="0" dirty="0">
                <a:solidFill>
                  <a:srgbClr val="9B4D0A"/>
                </a:solidFill>
                <a:latin typeface="+mn-lt"/>
                <a:ea typeface="Calibri"/>
                <a:sym typeface="Calibri"/>
              </a:rPr>
              <a:t>censo@mag.gov.py </a:t>
            </a:r>
            <a:endParaRPr sz="1800" kern="0" dirty="0">
              <a:solidFill>
                <a:srgbClr val="9B4D0A"/>
              </a:solidFill>
              <a:latin typeface="+mn-lt"/>
              <a:ea typeface="Calibri"/>
              <a:sym typeface="Calibri"/>
            </a:endParaRPr>
          </a:p>
        </p:txBody>
      </p:sp>
      <p:grpSp>
        <p:nvGrpSpPr>
          <p:cNvPr id="15" name="Grupo 14">
            <a:extLst>
              <a:ext uri="{FF2B5EF4-FFF2-40B4-BE49-F238E27FC236}">
                <a16:creationId xmlns:a16="http://schemas.microsoft.com/office/drawing/2014/main" id="{286818D2-43C8-F133-4C58-2645E480F005}"/>
              </a:ext>
            </a:extLst>
          </p:cNvPr>
          <p:cNvGrpSpPr/>
          <p:nvPr/>
        </p:nvGrpSpPr>
        <p:grpSpPr>
          <a:xfrm>
            <a:off x="3415555" y="1065475"/>
            <a:ext cx="2037230" cy="378393"/>
            <a:chOff x="930068" y="1283430"/>
            <a:chExt cx="7008197" cy="1112456"/>
          </a:xfrm>
        </p:grpSpPr>
        <p:sp>
          <p:nvSpPr>
            <p:cNvPr id="10" name="Forma libre: forma 9">
              <a:extLst>
                <a:ext uri="{FF2B5EF4-FFF2-40B4-BE49-F238E27FC236}">
                  <a16:creationId xmlns:a16="http://schemas.microsoft.com/office/drawing/2014/main" id="{16135C3F-1139-B3D0-F439-B149AD5C4D07}"/>
                </a:ext>
              </a:extLst>
            </p:cNvPr>
            <p:cNvSpPr/>
            <p:nvPr/>
          </p:nvSpPr>
          <p:spPr>
            <a:xfrm flipV="1">
              <a:off x="930068" y="1283433"/>
              <a:ext cx="2817092" cy="1111353"/>
            </a:xfrm>
            <a:custGeom>
              <a:avLst/>
              <a:gdLst>
                <a:gd name="connsiteX0" fmla="*/ 0 w 2819400"/>
                <a:gd name="connsiteY0" fmla="*/ 1095375 h 1101725"/>
                <a:gd name="connsiteX1" fmla="*/ 2498725 w 2819400"/>
                <a:gd name="connsiteY1" fmla="*/ 0 h 1101725"/>
                <a:gd name="connsiteX2" fmla="*/ 2819400 w 2819400"/>
                <a:gd name="connsiteY2" fmla="*/ 0 h 1101725"/>
                <a:gd name="connsiteX3" fmla="*/ 1143000 w 2819400"/>
                <a:gd name="connsiteY3" fmla="*/ 1101725 h 1101725"/>
                <a:gd name="connsiteX4" fmla="*/ 0 w 2819400"/>
                <a:gd name="connsiteY4" fmla="*/ 1095375 h 110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00" h="1101725">
                  <a:moveTo>
                    <a:pt x="0" y="1095375"/>
                  </a:moveTo>
                  <a:lnTo>
                    <a:pt x="2498725" y="0"/>
                  </a:lnTo>
                  <a:lnTo>
                    <a:pt x="2819400" y="0"/>
                  </a:lnTo>
                  <a:lnTo>
                    <a:pt x="1143000" y="1101725"/>
                  </a:lnTo>
                  <a:lnTo>
                    <a:pt x="0" y="1095375"/>
                  </a:lnTo>
                  <a:close/>
                </a:path>
              </a:pathLst>
            </a:cu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rma libre: forma 10">
              <a:extLst>
                <a:ext uri="{FF2B5EF4-FFF2-40B4-BE49-F238E27FC236}">
                  <a16:creationId xmlns:a16="http://schemas.microsoft.com/office/drawing/2014/main" id="{B6B61B8D-A422-E19A-C0AE-65095931C130}"/>
                </a:ext>
              </a:extLst>
            </p:cNvPr>
            <p:cNvSpPr/>
            <p:nvPr/>
          </p:nvSpPr>
          <p:spPr>
            <a:xfrm flipH="1" flipV="1">
              <a:off x="5121172" y="1283430"/>
              <a:ext cx="2817093" cy="1111357"/>
            </a:xfrm>
            <a:custGeom>
              <a:avLst/>
              <a:gdLst>
                <a:gd name="connsiteX0" fmla="*/ 0 w 2819400"/>
                <a:gd name="connsiteY0" fmla="*/ 1095375 h 1101725"/>
                <a:gd name="connsiteX1" fmla="*/ 2498725 w 2819400"/>
                <a:gd name="connsiteY1" fmla="*/ 0 h 1101725"/>
                <a:gd name="connsiteX2" fmla="*/ 2819400 w 2819400"/>
                <a:gd name="connsiteY2" fmla="*/ 0 h 1101725"/>
                <a:gd name="connsiteX3" fmla="*/ 1143000 w 2819400"/>
                <a:gd name="connsiteY3" fmla="*/ 1101725 h 1101725"/>
                <a:gd name="connsiteX4" fmla="*/ 0 w 2819400"/>
                <a:gd name="connsiteY4" fmla="*/ 1095375 h 110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00" h="1101725">
                  <a:moveTo>
                    <a:pt x="0" y="1095375"/>
                  </a:moveTo>
                  <a:lnTo>
                    <a:pt x="2498725" y="0"/>
                  </a:lnTo>
                  <a:lnTo>
                    <a:pt x="2819400" y="0"/>
                  </a:lnTo>
                  <a:lnTo>
                    <a:pt x="1143000" y="1101725"/>
                  </a:lnTo>
                  <a:lnTo>
                    <a:pt x="0" y="1095375"/>
                  </a:lnTo>
                  <a:close/>
                </a:path>
              </a:pathLst>
            </a:cu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rma libre: forma 11">
              <a:extLst>
                <a:ext uri="{FF2B5EF4-FFF2-40B4-BE49-F238E27FC236}">
                  <a16:creationId xmlns:a16="http://schemas.microsoft.com/office/drawing/2014/main" id="{FABF097C-303B-EEB8-5379-C26D8F87ABFF}"/>
                </a:ext>
              </a:extLst>
            </p:cNvPr>
            <p:cNvSpPr/>
            <p:nvPr/>
          </p:nvSpPr>
          <p:spPr>
            <a:xfrm flipV="1">
              <a:off x="2393755" y="1284535"/>
              <a:ext cx="1778196" cy="1111351"/>
            </a:xfrm>
            <a:custGeom>
              <a:avLst/>
              <a:gdLst>
                <a:gd name="connsiteX0" fmla="*/ 1136650 w 1778000"/>
                <a:gd name="connsiteY0" fmla="*/ 1092200 h 1092200"/>
                <a:gd name="connsiteX1" fmla="*/ 0 w 1778000"/>
                <a:gd name="connsiteY1" fmla="*/ 1092200 h 1092200"/>
                <a:gd name="connsiteX2" fmla="*/ 1447800 w 1778000"/>
                <a:gd name="connsiteY2" fmla="*/ 0 h 1092200"/>
                <a:gd name="connsiteX3" fmla="*/ 1778000 w 1778000"/>
                <a:gd name="connsiteY3" fmla="*/ 0 h 1092200"/>
                <a:gd name="connsiteX4" fmla="*/ 1136650 w 1778000"/>
                <a:gd name="connsiteY4" fmla="*/ 10922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1092200">
                  <a:moveTo>
                    <a:pt x="1136650" y="1092200"/>
                  </a:moveTo>
                  <a:lnTo>
                    <a:pt x="0" y="1092200"/>
                  </a:lnTo>
                  <a:lnTo>
                    <a:pt x="1447800" y="0"/>
                  </a:lnTo>
                  <a:lnTo>
                    <a:pt x="1778000" y="0"/>
                  </a:lnTo>
                  <a:lnTo>
                    <a:pt x="1136650" y="1092200"/>
                  </a:lnTo>
                  <a:close/>
                </a:path>
              </a:pathLst>
            </a:custGeom>
            <a:solidFill>
              <a:srgbClr val="C187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rma libre: forma 12">
              <a:extLst>
                <a:ext uri="{FF2B5EF4-FFF2-40B4-BE49-F238E27FC236}">
                  <a16:creationId xmlns:a16="http://schemas.microsoft.com/office/drawing/2014/main" id="{198AB640-D357-E986-B171-E93B8FFB972A}"/>
                </a:ext>
              </a:extLst>
            </p:cNvPr>
            <p:cNvSpPr/>
            <p:nvPr/>
          </p:nvSpPr>
          <p:spPr>
            <a:xfrm flipH="1" flipV="1">
              <a:off x="4696385" y="1283434"/>
              <a:ext cx="1778196" cy="1111351"/>
            </a:xfrm>
            <a:custGeom>
              <a:avLst/>
              <a:gdLst>
                <a:gd name="connsiteX0" fmla="*/ 1136650 w 1778000"/>
                <a:gd name="connsiteY0" fmla="*/ 1092200 h 1092200"/>
                <a:gd name="connsiteX1" fmla="*/ 0 w 1778000"/>
                <a:gd name="connsiteY1" fmla="*/ 1092200 h 1092200"/>
                <a:gd name="connsiteX2" fmla="*/ 1447800 w 1778000"/>
                <a:gd name="connsiteY2" fmla="*/ 0 h 1092200"/>
                <a:gd name="connsiteX3" fmla="*/ 1778000 w 1778000"/>
                <a:gd name="connsiteY3" fmla="*/ 0 h 1092200"/>
                <a:gd name="connsiteX4" fmla="*/ 1136650 w 1778000"/>
                <a:gd name="connsiteY4" fmla="*/ 10922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1092200">
                  <a:moveTo>
                    <a:pt x="1136650" y="1092200"/>
                  </a:moveTo>
                  <a:lnTo>
                    <a:pt x="0" y="1092200"/>
                  </a:lnTo>
                  <a:lnTo>
                    <a:pt x="1447800" y="0"/>
                  </a:lnTo>
                  <a:lnTo>
                    <a:pt x="1778000" y="0"/>
                  </a:lnTo>
                  <a:lnTo>
                    <a:pt x="1136650" y="1092200"/>
                  </a:lnTo>
                  <a:close/>
                </a:path>
              </a:pathLst>
            </a:custGeom>
            <a:solidFill>
              <a:srgbClr val="9B4D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apecio 13">
              <a:extLst>
                <a:ext uri="{FF2B5EF4-FFF2-40B4-BE49-F238E27FC236}">
                  <a16:creationId xmlns:a16="http://schemas.microsoft.com/office/drawing/2014/main" id="{4408F0E7-3511-BBE8-8A01-B495695B1385}"/>
                </a:ext>
              </a:extLst>
            </p:cNvPr>
            <p:cNvSpPr/>
            <p:nvPr/>
          </p:nvSpPr>
          <p:spPr>
            <a:xfrm flipV="1">
              <a:off x="3863793" y="1289469"/>
              <a:ext cx="1140749" cy="1105321"/>
            </a:xfrm>
            <a:prstGeom prst="trapezoid">
              <a:avLst>
                <a:gd name="adj" fmla="val 36377"/>
              </a:avLst>
            </a:prstGeom>
            <a:solidFill>
              <a:srgbClr val="4861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654496"/>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TIMING" val="|1.2|1.2"/>
</p:tagLst>
</file>

<file path=ppt/tags/tag2.xml><?xml version="1.0" encoding="utf-8"?>
<p:tagLst xmlns:a="http://schemas.openxmlformats.org/drawingml/2006/main" xmlns:r="http://schemas.openxmlformats.org/officeDocument/2006/relationships" xmlns:p="http://schemas.openxmlformats.org/presentationml/2006/main">
  <p:tag name="TIMING" val="|3|1.7"/>
</p:tagLst>
</file>

<file path=ppt/tags/tag3.xml><?xml version="1.0" encoding="utf-8"?>
<p:tagLst xmlns:a="http://schemas.openxmlformats.org/drawingml/2006/main" xmlns:r="http://schemas.openxmlformats.org/officeDocument/2006/relationships" xmlns:p="http://schemas.openxmlformats.org/presentationml/2006/main">
  <p:tag name="TIMING" val="|1.4|1.3"/>
</p:tagLst>
</file>

<file path=ppt/tags/tag4.xml><?xml version="1.0" encoding="utf-8"?>
<p:tagLst xmlns:a="http://schemas.openxmlformats.org/drawingml/2006/main" xmlns:r="http://schemas.openxmlformats.org/officeDocument/2006/relationships" xmlns:p="http://schemas.openxmlformats.org/presentationml/2006/main">
  <p:tag name="TIMING" val="|1|0.9|0.7|0.9|2.1|1.1"/>
</p:tagLst>
</file>

<file path=ppt/tags/tag5.xml><?xml version="1.0" encoding="utf-8"?>
<p:tagLst xmlns:a="http://schemas.openxmlformats.org/drawingml/2006/main" xmlns:r="http://schemas.openxmlformats.org/officeDocument/2006/relationships" xmlns:p="http://schemas.openxmlformats.org/presentationml/2006/main">
  <p:tag name="TIMING" val="|0.3"/>
</p:tagLst>
</file>

<file path=ppt/tags/tag6.xml><?xml version="1.0" encoding="utf-8"?>
<p:tagLst xmlns:a="http://schemas.openxmlformats.org/drawingml/2006/main" xmlns:r="http://schemas.openxmlformats.org/officeDocument/2006/relationships" xmlns:p="http://schemas.openxmlformats.org/presentationml/2006/main">
  <p:tag name="TIMING" val="|1.9"/>
</p:tagLst>
</file>

<file path=ppt/tags/tag7.xml><?xml version="1.0" encoding="utf-8"?>
<p:tagLst xmlns:a="http://schemas.openxmlformats.org/drawingml/2006/main" xmlns:r="http://schemas.openxmlformats.org/officeDocument/2006/relationships" xmlns:p="http://schemas.openxmlformats.org/presentationml/2006/main">
  <p:tag name="TIMING" val="|0.5"/>
</p:tagLst>
</file>

<file path=ppt/tags/tag8.xml><?xml version="1.0" encoding="utf-8"?>
<p:tagLst xmlns:a="http://schemas.openxmlformats.org/drawingml/2006/main" xmlns:r="http://schemas.openxmlformats.org/officeDocument/2006/relationships" xmlns:p="http://schemas.openxmlformats.org/presentationml/2006/main">
  <p:tag name="TIMING" val="|0.7"/>
</p:tagLst>
</file>

<file path=ppt/tags/tag9.xml><?xml version="1.0" encoding="utf-8"?>
<p:tagLst xmlns:a="http://schemas.openxmlformats.org/drawingml/2006/main" xmlns:r="http://schemas.openxmlformats.org/officeDocument/2006/relationships" xmlns:p="http://schemas.openxmlformats.org/presentationml/2006/main">
  <p:tag name="TIMING" val="|0.2"/>
</p:tagLst>
</file>

<file path=ppt/tags/tag10.xml><?xml version="1.0" encoding="utf-8"?>
<p:tagLst xmlns:a="http://schemas.openxmlformats.org/drawingml/2006/main" xmlns:r="http://schemas.openxmlformats.org/officeDocument/2006/relationships" xmlns:p="http://schemas.openxmlformats.org/presentationml/2006/main">
  <p:tag name="TIMING" val="|0.3|1.1|1.2|0.9"/>
</p:tagLst>
</file>

<file path=ppt/tags/tag11.xml><?xml version="1.0" encoding="utf-8"?>
<p:tagLst xmlns:a="http://schemas.openxmlformats.org/drawingml/2006/main" xmlns:r="http://schemas.openxmlformats.org/officeDocument/2006/relationships" xmlns:p="http://schemas.openxmlformats.org/presentationml/2006/main">
  <p:tag name="TIMING" val="|0.6|1.2|0.9|1"/>
</p:tagLst>
</file>

<file path=ppt/tags/tag12.xml><?xml version="1.0" encoding="utf-8"?>
<p:tagLst xmlns:a="http://schemas.openxmlformats.org/drawingml/2006/main" xmlns:r="http://schemas.openxmlformats.org/officeDocument/2006/relationships" xmlns:p="http://schemas.openxmlformats.org/presentationml/2006/main">
  <p:tag name="TIMING" val="|0.9|1|0.9|1"/>
</p:tagLst>
</file>

<file path=ppt/tags/tag13.xml><?xml version="1.0" encoding="utf-8"?>
<p:tagLst xmlns:a="http://schemas.openxmlformats.org/drawingml/2006/main" xmlns:r="http://schemas.openxmlformats.org/officeDocument/2006/relationships" xmlns:p="http://schemas.openxmlformats.org/presentationml/2006/main">
  <p:tag name="TIMING" val="|0.9|1.2|1|0.9|1"/>
</p:tagLst>
</file>

<file path=ppt/tags/tag14.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ffce741-a445-447d-9963-b18a1aa3093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3F0EA7719B31C42B3F4C363CB71A3F6" ma:contentTypeVersion="5" ma:contentTypeDescription="Crear nuevo documento." ma:contentTypeScope="" ma:versionID="d6596409c6daf69d36c735622c784b4e">
  <xsd:schema xmlns:xsd="http://www.w3.org/2001/XMLSchema" xmlns:xs="http://www.w3.org/2001/XMLSchema" xmlns:p="http://schemas.microsoft.com/office/2006/metadata/properties" xmlns:ns3="4ffce741-a445-447d-9963-b18a1aa3093a" targetNamespace="http://schemas.microsoft.com/office/2006/metadata/properties" ma:root="true" ma:fieldsID="c012300a932e17452466d4a3622f5996" ns3:_="">
    <xsd:import namespace="4ffce741-a445-447d-9963-b18a1aa3093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fce741-a445-447d-9963-b18a1aa309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E3A982-C29E-4180-8040-FF354CEECF02}">
  <ds:schemaRefs>
    <ds:schemaRef ds:uri="http://schemas.microsoft.com/office/2006/metadata/properties"/>
    <ds:schemaRef ds:uri="http://purl.org/dc/dcmitype/"/>
    <ds:schemaRef ds:uri="http://purl.org/dc/term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4ffce741-a445-447d-9963-b18a1aa3093a"/>
    <ds:schemaRef ds:uri="http://purl.org/dc/elements/1.1/"/>
  </ds:schemaRefs>
</ds:datastoreItem>
</file>

<file path=customXml/itemProps2.xml><?xml version="1.0" encoding="utf-8"?>
<ds:datastoreItem xmlns:ds="http://schemas.openxmlformats.org/officeDocument/2006/customXml" ds:itemID="{52A18FA5-659B-469F-B2AE-81841A5D2B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fce741-a445-447d-9963-b18a1aa309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A6C3EC-12B9-4DC8-9725-8F9719CCE9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1588</TotalTime>
  <Words>2377</Words>
  <Application>Microsoft Office PowerPoint</Application>
  <PresentationFormat>Presentación en pantalla (16:9)</PresentationFormat>
  <Paragraphs>425</Paragraphs>
  <Slides>32</Slides>
  <Notes>26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32</vt:i4>
      </vt:variant>
    </vt:vector>
  </HeadingPairs>
  <TitlesOfParts>
    <vt:vector size="37" baseType="lpstr">
      <vt:lpstr>Arial</vt:lpstr>
      <vt:lpstr>Noto Sans Symbols</vt:lpstr>
      <vt:lpstr>Calibri</vt:lpstr>
      <vt:lpstr>Arial Black</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VARIACIÓN DE CANTIDAD DE FINCAS, SEGÚN TAMAÑO: CENSOS 2022 VS. 2008 </vt:lpstr>
      <vt:lpstr>VARIACIÓN DE SUPERFICIE DE FINCA, SEGÚN TAMAÑO: CENSOS 2022 VS. 2008 </vt:lpstr>
      <vt:lpstr>Presentación de PowerPoint</vt:lpstr>
      <vt:lpstr>Presentación de PowerPoint</vt:lpstr>
      <vt:lpstr>Presentación de PowerPoint</vt:lpstr>
      <vt:lpstr>Presentación de PowerPoint</vt:lpstr>
      <vt:lpstr>VARIACIÓN DE SUPERFICIE DE FINCA, SEGÚN USO DE LA TIERRA: CENSOS 2022 VS. 2008</vt:lpstr>
      <vt:lpstr>VARIACIÓN DE SUPERFICIE SEMBRADA (HA), SEGÚN CULTIVOS: CENSOS 2022 VS. 2008</vt:lpstr>
      <vt:lpstr>VARIACIÓN DE SUPERFICIE SEMBRADA (HA), SEGÚN CULTIVOS: CENSOS 2022 VS. 2008</vt:lpstr>
      <vt:lpstr>VARIACIÓN DE SUPERFICIE SEMBRADA (ha), SEGÚN CULTIVOS DE HORTALIZAS: CENSOS 2022 VS. 2008</vt:lpstr>
      <vt:lpstr>VARIACIÓN DE SUPERFICIE PLANTADA (HA), SEGÚN CULTIVOS PERMANENTES: CENSOS 2022 VS. 2008</vt:lpstr>
      <vt:lpstr>VARIACIÓN DE LA CANTIDAD DE CABEZAS, SEGÚN ESPECIES DE GANADOS: CENSOS 2022 VS. 2008</vt:lpstr>
      <vt:lpstr>VARIACIÓN DE CANTIDAD DE CABEZAS, SEGÚN CATEGORIA DE AVES: CENSOS 2022 VS. 2008</vt:lpstr>
      <vt:lpstr>VARIACIÓN DE CANTIDAD DE FINCAS, SEGÚN ACCESO A ASISTENCIAS TÉCNICAS, CRÉDITOS Y ASOCIACIONES: CENSOS 2022 VS. 2008</vt:lpstr>
      <vt:lpstr>VARIACIÓN DE CANTIDAD DE FINCAS CON IMPLEMENTOS MANUALES PROPIOS: CENSOS 2022 VS. 2008</vt:lpstr>
      <vt:lpstr>VARIACIÓN DE CANTIDAD DE FINCAS CON MAQUINARIAS E IMPLEMENTOS PROPIOS: CENSOS 2022 VS. 2008</vt:lpstr>
      <vt:lpstr>VARIACIÓN DE CANTIDAD DE MAQUINARIAS E IMPLEMENTOS PROPIOS: CENSOS 2022 VS. 2008</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ECOM</dc:creator>
  <cp:lastModifiedBy>Usuario</cp:lastModifiedBy>
  <cp:revision>92</cp:revision>
  <dcterms:modified xsi:type="dcterms:W3CDTF">2023-06-27T18:58:02Z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0x01010023F0EA7719B31C42B3F4C363CB71A3F6</vt:lpwstr>
  </property>
</Properties>
</file>